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4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7" r:id="rId12"/>
    <p:sldId id="283" r:id="rId13"/>
    <p:sldId id="267" r:id="rId14"/>
    <p:sldId id="279" r:id="rId15"/>
    <p:sldId id="282" r:id="rId16"/>
    <p:sldId id="285" r:id="rId17"/>
    <p:sldId id="271" r:id="rId18"/>
    <p:sldId id="272" r:id="rId19"/>
    <p:sldId id="286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759F7-8281-4303-863A-322F1831FDC0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925CE7-F0DD-4321-91F2-C3FA3BECEE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052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925CE7-F0DD-4321-91F2-C3FA3BECEE7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971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47223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257800"/>
            <a:ext cx="12188952" cy="1600200"/>
          </a:xfrm>
          <a:prstGeom prst="rect">
            <a:avLst/>
          </a:prstGeom>
          <a:solidFill>
            <a:srgbClr val="0B6E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63093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latin typeface="Rockwell" panose="02060603020205020403" pitchFamily="18" charset="0"/>
              </a:rPr>
              <a:t>Introduction to Zephyr RTOS with STM32 Microcontrollers</a:t>
            </a:r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Than an RTOS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700" dirty="0">
                <a:latin typeface="Rockwell" panose="02060603020205020403" pitchFamily="18" charset="0"/>
                <a:ea typeface="Calibri" pitchFamily="34" charset="-122"/>
                <a:cs typeface="Calibri" pitchFamily="34" charset="-120"/>
              </a:rPr>
              <a:t>A complete, modular embedded software platform — kernel, drivers, protocol</a:t>
            </a:r>
            <a:endParaRPr lang="en-US" sz="1700" dirty="0">
              <a:latin typeface="Rockwell" panose="02060603020205020403" pitchFamily="18" charset="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700" dirty="0">
                <a:latin typeface="Rockwell" panose="02060603020205020403" pitchFamily="18" charset="0"/>
                <a:ea typeface="Calibri" pitchFamily="34" charset="-122"/>
                <a:cs typeface="Calibri" pitchFamily="34" charset="-120"/>
              </a:rPr>
              <a:t>stacks and libraries — illustrated with the STM32N6 microcontroller</a:t>
            </a:r>
            <a:endParaRPr lang="en-US" sz="1700" dirty="0">
              <a:latin typeface="Rockwell" panose="02060603020205020403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549640" y="5138928"/>
            <a:ext cx="2834640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12233A"/>
            </a:solidFill>
            <a:prstDash val="solid"/>
          </a:ln>
        </p:spPr>
        <p:txBody>
          <a:bodyPr/>
          <a:lstStyle/>
          <a:p>
            <a:endParaRPr lang="en-US">
              <a:latin typeface="Rockwell" panose="02060603020205020403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549640" y="51389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Rockwell" panose="02060603020205020403" pitchFamily="18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000" dirty="0">
              <a:latin typeface="Rockwell" panose="02060603020205020403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549640" y="5550408"/>
            <a:ext cx="2834640" cy="365760"/>
          </a:xfrm>
          <a:prstGeom prst="rect">
            <a:avLst/>
          </a:prstGeom>
          <a:solidFill>
            <a:srgbClr val="0B6E8C"/>
          </a:solidFill>
          <a:ln w="12700">
            <a:solidFill>
              <a:srgbClr val="12233A"/>
            </a:solidFill>
            <a:prstDash val="solid"/>
          </a:ln>
        </p:spPr>
        <p:txBody>
          <a:bodyPr/>
          <a:lstStyle/>
          <a:p>
            <a:endParaRPr lang="en-US">
              <a:latin typeface="Rockwell" panose="02060603020205020403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549640" y="55504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Rockwell" panose="02060603020205020403" pitchFamily="18" charset="0"/>
                <a:ea typeface="Calibri" pitchFamily="34" charset="-122"/>
                <a:cs typeface="Calibri" pitchFamily="34" charset="-120"/>
              </a:rPr>
              <a:t>OS Services / Middleware</a:t>
            </a:r>
            <a:endParaRPr lang="en-US" sz="1000" dirty="0">
              <a:latin typeface="Rockwell" panose="02060603020205020403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549640" y="5961888"/>
            <a:ext cx="2834640" cy="365760"/>
          </a:xfrm>
          <a:prstGeom prst="rect">
            <a:avLst/>
          </a:prstGeom>
          <a:solidFill>
            <a:srgbClr val="0A4A61"/>
          </a:solidFill>
          <a:ln w="12700">
            <a:solidFill>
              <a:srgbClr val="12233A"/>
            </a:solidFill>
            <a:prstDash val="solid"/>
          </a:ln>
        </p:spPr>
        <p:txBody>
          <a:bodyPr/>
          <a:lstStyle/>
          <a:p>
            <a:endParaRPr lang="en-US">
              <a:latin typeface="Rockwell" panose="02060603020205020403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549640" y="596188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Rockwell" panose="02060603020205020403" pitchFamily="18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1000" dirty="0">
              <a:latin typeface="Rockwell" panose="02060603020205020403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549640" y="6373368"/>
            <a:ext cx="2834640" cy="365760"/>
          </a:xfrm>
          <a:prstGeom prst="rect">
            <a:avLst/>
          </a:prstGeom>
          <a:solidFill>
            <a:srgbClr val="083548"/>
          </a:solidFill>
          <a:ln w="12700">
            <a:solidFill>
              <a:srgbClr val="12233A"/>
            </a:solidFill>
            <a:prstDash val="solid"/>
          </a:ln>
        </p:spPr>
        <p:txBody>
          <a:bodyPr/>
          <a:lstStyle/>
          <a:p>
            <a:endParaRPr lang="en-US" dirty="0">
              <a:latin typeface="Rockwell" panose="02060603020205020403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549640" y="63733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Rockwell" panose="02060603020205020403" pitchFamily="18" charset="0"/>
                <a:ea typeface="Calibri" pitchFamily="34" charset="-122"/>
                <a:cs typeface="Calibri" pitchFamily="34" charset="-120"/>
              </a:rPr>
              <a:t>HAL &amp; Drivers · STM32HN6</a:t>
            </a:r>
            <a:endParaRPr lang="en-US" sz="1000" dirty="0">
              <a:latin typeface="Rockwell" panose="02060603020205020403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301752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Agenda</a:t>
            </a:r>
            <a:r>
              <a:rPr lang="en-GB"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: What we will cover</a:t>
            </a:r>
            <a:endParaRPr sz="3200" b="1" dirty="0">
              <a:solidFill>
                <a:srgbClr val="0F172A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73152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54480"/>
            <a:ext cx="4602479" cy="77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What is Zephyr?</a:t>
            </a:r>
          </a:p>
          <a:p>
            <a:pPr algn="l">
              <a:spcAft>
                <a:spcPts val="300"/>
              </a:spcAft>
            </a:pPr>
            <a:r>
              <a:rPr lang="en-GB"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A quick introduction to Zephyr and why it is more than just RTOS</a:t>
            </a:r>
            <a:endParaRPr sz="1600" b="0" dirty="0">
              <a:solidFill>
                <a:srgbClr val="475569"/>
              </a:solidFill>
              <a:latin typeface="Rockwell" panose="02060603020205020403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73152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51760"/>
            <a:ext cx="4602479" cy="77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Architecture &amp; Build Tooling</a:t>
            </a:r>
            <a:endParaRPr lang="en-GB" sz="1600" b="1" dirty="0">
              <a:solidFill>
                <a:srgbClr val="0F172A"/>
              </a:solidFill>
              <a:latin typeface="Rockwell" panose="02060603020205020403" pitchFamily="18" charset="0"/>
            </a:endParaRPr>
          </a:p>
          <a:p>
            <a:pPr>
              <a:spcAft>
                <a:spcPts val="300"/>
              </a:spcAft>
            </a:pPr>
            <a:r>
              <a:rPr lang="en-US" sz="1600" dirty="0">
                <a:solidFill>
                  <a:srgbClr val="475569"/>
                </a:solidFill>
                <a:latin typeface="Rockwell" panose="02060603020205020403" pitchFamily="18" charset="0"/>
              </a:rPr>
              <a:t>The architecture, </a:t>
            </a:r>
            <a:r>
              <a:rPr lang="en-US" sz="1600" dirty="0" err="1">
                <a:solidFill>
                  <a:srgbClr val="475569"/>
                </a:solidFill>
                <a:latin typeface="Rockwell" panose="02060603020205020403" pitchFamily="18" charset="0"/>
              </a:rPr>
              <a:t>Kconfig</a:t>
            </a:r>
            <a:r>
              <a:rPr lang="en-US" sz="1600" dirty="0">
                <a:solidFill>
                  <a:srgbClr val="475569"/>
                </a:solidFill>
                <a:latin typeface="Rockwell" panose="02060603020205020403" pitchFamily="18" charset="0"/>
              </a:rPr>
              <a:t>, </a:t>
            </a:r>
            <a:r>
              <a:rPr lang="en-US" sz="1600" dirty="0" err="1">
                <a:solidFill>
                  <a:srgbClr val="475569"/>
                </a:solidFill>
                <a:latin typeface="Rockwell" panose="02060603020205020403" pitchFamily="18" charset="0"/>
              </a:rPr>
              <a:t>Devicetree</a:t>
            </a:r>
            <a:r>
              <a:rPr lang="en-US" sz="1600" dirty="0">
                <a:solidFill>
                  <a:srgbClr val="475569"/>
                </a:solidFill>
                <a:latin typeface="Rockwell" panose="02060603020205020403" pitchFamily="18" charset="0"/>
              </a:rPr>
              <a:t> and build system</a:t>
            </a:r>
            <a:endParaRPr sz="1600" dirty="0">
              <a:solidFill>
                <a:srgbClr val="475569"/>
              </a:solidFill>
              <a:latin typeface="Rockwell" panose="02060603020205020403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73152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49040"/>
            <a:ext cx="4602479" cy="77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What is West?</a:t>
            </a:r>
          </a:p>
          <a:p>
            <a:pPr algn="l">
              <a:spcAft>
                <a:spcPts val="300"/>
              </a:spcAft>
            </a:pPr>
            <a:r>
              <a:rPr lang="en-GB" sz="1600" dirty="0">
                <a:solidFill>
                  <a:srgbClr val="475569"/>
                </a:solidFill>
                <a:latin typeface="Rockwell" panose="02060603020205020403" pitchFamily="18" charset="0"/>
              </a:rPr>
              <a:t>How west </a:t>
            </a:r>
            <a:r>
              <a:rPr lang="en-GB" sz="1600" dirty="0" err="1">
                <a:solidFill>
                  <a:srgbClr val="475569"/>
                </a:solidFill>
                <a:latin typeface="Rockwell" panose="02060603020205020403" pitchFamily="18" charset="0"/>
              </a:rPr>
              <a:t>manges</a:t>
            </a:r>
            <a:r>
              <a:rPr lang="en-GB" sz="1600" dirty="0">
                <a:solidFill>
                  <a:srgbClr val="475569"/>
                </a:solidFill>
                <a:latin typeface="Rockwell" panose="02060603020205020403" pitchFamily="18" charset="0"/>
              </a:rPr>
              <a:t> the Zephyr workspace and its repositories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73152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Segoe UI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846320"/>
            <a:ext cx="4602479" cy="77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Zephyr's Folder Structure</a:t>
            </a:r>
          </a:p>
          <a:p>
            <a:pPr algn="l">
              <a:spcAft>
                <a:spcPts val="300"/>
              </a:spcAft>
            </a:pPr>
            <a:r>
              <a:rPr lang="en-GB"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Where the kernel, drivers, boards, subsystems lives</a:t>
            </a:r>
            <a:endParaRPr sz="1600" b="0" dirty="0">
              <a:solidFill>
                <a:srgbClr val="475569"/>
              </a:solidFill>
              <a:latin typeface="Rockwell" panose="02060603020205020403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17919" y="1508760"/>
            <a:ext cx="73152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Segoe UI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39" y="1554480"/>
            <a:ext cx="4602479" cy="77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What is a Module?</a:t>
            </a:r>
          </a:p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How </a:t>
            </a:r>
            <a:r>
              <a:rPr lang="en-GB"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external code such as HALs and sensor drivers are integrated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19" y="2606040"/>
            <a:ext cx="73152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Segoe UI"/>
              </a:rPr>
              <a:t>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39" y="2651760"/>
            <a:ext cx="4602479" cy="77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Our Workspace</a:t>
            </a:r>
          </a:p>
          <a:p>
            <a:pPr algn="l">
              <a:spcAft>
                <a:spcPts val="300"/>
              </a:spcAft>
            </a:pPr>
            <a:r>
              <a:rPr lang="en-GB"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How </a:t>
            </a:r>
            <a:r>
              <a:rPr sz="1600" b="0" dirty="0" err="1">
                <a:solidFill>
                  <a:srgbClr val="475569"/>
                </a:solidFill>
                <a:latin typeface="Rockwell" panose="02060603020205020403" pitchFamily="18" charset="0"/>
              </a:rPr>
              <a:t>zephyr_app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, zephyr/, modules/, bootloader/ </a:t>
            </a:r>
            <a:r>
              <a:rPr lang="en-GB" sz="1600" dirty="0">
                <a:solidFill>
                  <a:srgbClr val="475569"/>
                </a:solidFill>
                <a:latin typeface="Rockwell" panose="02060603020205020403" pitchFamily="18" charset="0"/>
              </a:rPr>
              <a:t>fit together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19" y="3703320"/>
            <a:ext cx="73152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Segoe UI"/>
              </a:rPr>
              <a:t>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39" y="3749040"/>
            <a:ext cx="4602479" cy="77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VL53L8CX Driver Status</a:t>
            </a:r>
          </a:p>
          <a:p>
            <a:pPr algn="l">
              <a:spcAft>
                <a:spcPts val="300"/>
              </a:spcAft>
            </a:pPr>
            <a:r>
              <a:rPr lang="en-GB"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Why we need the driver and how we integrate with zephyr</a:t>
            </a:r>
            <a:endParaRPr sz="1600" b="0" dirty="0">
              <a:solidFill>
                <a:srgbClr val="475569"/>
              </a:solidFill>
              <a:latin typeface="Rockwell" panose="02060603020205020403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17919" y="4800600"/>
            <a:ext cx="73152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Segoe UI"/>
              </a:rPr>
              <a:t>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39" y="4846320"/>
            <a:ext cx="4602479" cy="77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lang="en-GB"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Performance &amp; Next Steps</a:t>
            </a:r>
            <a:endParaRPr sz="1600" b="1" dirty="0">
              <a:solidFill>
                <a:srgbClr val="0F172A"/>
              </a:solidFill>
              <a:latin typeface="Rockwell" panose="02060603020205020403" pitchFamily="18" charset="0"/>
            </a:endParaRPr>
          </a:p>
          <a:p>
            <a:pPr>
              <a:spcAft>
                <a:spcPts val="300"/>
              </a:spcAft>
            </a:pPr>
            <a:r>
              <a:rPr lang="en-US" sz="1600" dirty="0">
                <a:solidFill>
                  <a:srgbClr val="475569"/>
                </a:solidFill>
                <a:latin typeface="Rockwell" panose="02060603020205020403" pitchFamily="18" charset="0"/>
              </a:rPr>
              <a:t>Performance considerations, current status, and the path forward.</a:t>
            </a:r>
            <a:endParaRPr sz="1600" dirty="0">
              <a:solidFill>
                <a:srgbClr val="475569"/>
              </a:solidFill>
              <a:latin typeface="Rockwell" panose="02060603020205020403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548640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 dirty="0">
                <a:solidFill>
                  <a:srgbClr val="0F172A"/>
                </a:solidFill>
                <a:latin typeface="Rockwell" panose="02060603020205020403" pitchFamily="18" charset="0"/>
              </a:rPr>
              <a:t>What</a:t>
            </a:r>
            <a:r>
              <a:rPr sz="2700" b="1" dirty="0">
                <a:solidFill>
                  <a:srgbClr val="0F172A"/>
                </a:solidFill>
                <a:latin typeface="Segoe UI"/>
              </a:rPr>
              <a:t> is </a:t>
            </a:r>
            <a:r>
              <a:rPr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Zephyr</a:t>
            </a:r>
            <a:r>
              <a:rPr sz="2700" b="1" dirty="0">
                <a:solidFill>
                  <a:srgbClr val="0F172A"/>
                </a:solidFill>
                <a:latin typeface="Segoe UI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Zephyr on STM32 → the VL53L8CX Driver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6675120" cy="4709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6217920" cy="4124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Linux Foundation governed: </a:t>
            </a:r>
            <a:endParaRPr lang="en-GB" sz="1600" b="1" dirty="0">
              <a:solidFill>
                <a:srgbClr val="0F172A"/>
              </a:solidFill>
              <a:latin typeface="Rockwell" panose="02060603020205020403" pitchFamily="18" charset="0"/>
            </a:endParaRPr>
          </a:p>
          <a:p>
            <a:pPr>
              <a:spcAft>
                <a:spcPts val="1400"/>
              </a:spcAft>
            </a:pPr>
            <a:r>
              <a:rPr lang="en-US" sz="1600" dirty="0">
                <a:latin typeface="Rockwell" panose="02060603020205020403" pitchFamily="18" charset="0"/>
              </a:rPr>
              <a:t>Zephyr is an open-source RTOS hosted by the Linux Foundation, designed to give embedded developers a common software platform</a:t>
            </a:r>
          </a:p>
          <a:p>
            <a:pPr>
              <a:spcAft>
                <a:spcPts val="1400"/>
              </a:spcAft>
            </a:pPr>
            <a:r>
              <a:rPr lang="en-US" sz="1600"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lang="en-US"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Built for small devices: </a:t>
            </a:r>
          </a:p>
          <a:p>
            <a:pPr>
              <a:spcAft>
                <a:spcPts val="1400"/>
              </a:spcAft>
            </a:pPr>
            <a:r>
              <a:rPr lang="en-US" sz="1600" dirty="0">
                <a:latin typeface="Rockwell" panose="02060603020205020403" pitchFamily="18" charset="0"/>
              </a:rPr>
              <a:t>It can run on tiny, resource-constrained MCUs as well as much more capable processors.</a:t>
            </a:r>
            <a:endParaRPr lang="en-US" sz="1600" b="1" dirty="0">
              <a:solidFill>
                <a:srgbClr val="0F172A"/>
              </a:solidFill>
              <a:latin typeface="Rockwell" panose="02060603020205020403" pitchFamily="18" charset="0"/>
            </a:endParaRPr>
          </a:p>
          <a:p>
            <a:pPr>
              <a:spcAft>
                <a:spcPts val="1400"/>
              </a:spcAft>
            </a:pPr>
            <a:r>
              <a:rPr sz="1600"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Configuration-driven: </a:t>
            </a:r>
            <a:endParaRPr lang="en-GB" sz="1600" b="1" dirty="0">
              <a:solidFill>
                <a:srgbClr val="0F172A"/>
              </a:solidFill>
              <a:latin typeface="Rockwell" panose="02060603020205020403" pitchFamily="18" charset="0"/>
            </a:endParaRPr>
          </a:p>
          <a:p>
            <a:pPr>
              <a:spcAft>
                <a:spcPts val="1400"/>
              </a:spcAft>
            </a:pPr>
            <a:r>
              <a:rPr lang="en-US" sz="1600" dirty="0">
                <a:latin typeface="Rockwell" panose="02060603020205020403" pitchFamily="18" charset="0"/>
              </a:rPr>
              <a:t>Zephyr uses </a:t>
            </a:r>
            <a:r>
              <a:rPr lang="en-US" sz="1600" b="1" dirty="0" err="1">
                <a:latin typeface="Rockwell" panose="02060603020205020403" pitchFamily="18" charset="0"/>
              </a:rPr>
              <a:t>Kconfig</a:t>
            </a:r>
            <a:r>
              <a:rPr lang="en-US" sz="1600" dirty="0">
                <a:latin typeface="Rockwell" panose="02060603020205020403" pitchFamily="18" charset="0"/>
              </a:rPr>
              <a:t> and </a:t>
            </a:r>
            <a:r>
              <a:rPr lang="en-US" sz="1600" b="1" dirty="0" err="1">
                <a:latin typeface="Rockwell" panose="02060603020205020403" pitchFamily="18" charset="0"/>
              </a:rPr>
              <a:t>Devicetree</a:t>
            </a:r>
            <a:r>
              <a:rPr lang="en-US" sz="1600" dirty="0">
                <a:latin typeface="Rockwell" panose="02060603020205020403" pitchFamily="18" charset="0"/>
              </a:rPr>
              <a:t> to select hardware and software features at build time, keeping the final firmware lean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.</a:t>
            </a:r>
          </a:p>
          <a:p>
            <a:pPr>
              <a:spcAft>
                <a:spcPts val="1400"/>
              </a:spcAft>
            </a:pPr>
            <a:r>
              <a:rPr sz="1600"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Broad architecture support: 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Arm (Cortex-M/A/R), RISC-V, x86, Xtensa and ARC across 800+ evaluated boards.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508760"/>
            <a:ext cx="4005072" cy="470916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18120" y="1823085"/>
            <a:ext cx="345643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6B6D4"/>
                </a:solidFill>
                <a:latin typeface="Segoe UI"/>
              </a:rPr>
              <a:t>800+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43125"/>
            <a:ext cx="34564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BD5E1"/>
                </a:solidFill>
                <a:latin typeface="Segoe UI"/>
              </a:rPr>
              <a:t>SUPPORTED BOARDS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000375"/>
            <a:ext cx="345643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6B6D4"/>
                </a:solidFill>
                <a:latin typeface="Segoe UI"/>
              </a:rPr>
              <a:t>20+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320415"/>
            <a:ext cx="34564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BD5E1"/>
                </a:solidFill>
                <a:latin typeface="Segoe UI"/>
              </a:rPr>
              <a:t>CPU ARCHITECTURES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177665"/>
            <a:ext cx="345643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6B6D4"/>
                </a:solidFill>
                <a:latin typeface="Segoe UI"/>
              </a:rPr>
              <a:t>70+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4497705"/>
            <a:ext cx="34564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BD5E1"/>
                </a:solidFill>
                <a:latin typeface="Segoe UI"/>
              </a:rPr>
              <a:t>MEMBER COMPANIES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5354955"/>
            <a:ext cx="345643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06B6D4"/>
                </a:solidFill>
                <a:latin typeface="Segoe UI"/>
              </a:rPr>
              <a:t>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674995"/>
            <a:ext cx="34564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BD5E1"/>
                </a:solidFill>
                <a:latin typeface="Segoe UI"/>
              </a:rPr>
              <a:t>LINUX FOUNDATION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356616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3200" b="1" dirty="0">
                <a:latin typeface="Rockwell" panose="02060603020205020403" pitchFamily="18" charset="0"/>
              </a:rPr>
              <a:t>Understanding the Zephyr Architecture</a:t>
            </a:r>
            <a:endParaRPr sz="3200" b="1" dirty="0">
              <a:solidFill>
                <a:srgbClr val="0F172A"/>
              </a:solidFill>
              <a:latin typeface="Rockwell" panose="02060603020205020403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601200" y="6446520"/>
            <a:ext cx="194767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Rockwell" panose="02060603020205020403" pitchFamily="18" charset="0"/>
              </a:rPr>
              <a:t>04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6510528" cy="20116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608003"/>
            <a:ext cx="6098469" cy="487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dirty="0">
                <a:solidFill>
                  <a:srgbClr val="FFFFFF"/>
                </a:solidFill>
                <a:latin typeface="Rockwell" panose="02060603020205020403" pitchFamily="18" charset="0"/>
              </a:rPr>
              <a:t>Application</a:t>
            </a:r>
          </a:p>
          <a:p>
            <a:pPr algn="l">
              <a:spcAft>
                <a:spcPts val="200"/>
              </a:spcAft>
            </a:pPr>
            <a:r>
              <a:rPr lang="en-GB"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User’s application </a:t>
            </a:r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code (STM32 board apps under </a:t>
            </a:r>
            <a:r>
              <a:rPr sz="1400" b="0" dirty="0" err="1">
                <a:solidFill>
                  <a:srgbClr val="CBD5E1"/>
                </a:solidFill>
                <a:latin typeface="Rockwell" panose="02060603020205020403" pitchFamily="18" charset="0"/>
              </a:rPr>
              <a:t>zephyr_app</a:t>
            </a:r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/stm32/)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76856"/>
            <a:ext cx="6510528" cy="2011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2339523"/>
            <a:ext cx="6098469" cy="487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dirty="0">
                <a:solidFill>
                  <a:srgbClr val="FFFFFF"/>
                </a:solidFill>
                <a:latin typeface="Rockwell" panose="02060603020205020403" pitchFamily="18" charset="0"/>
              </a:rPr>
              <a:t>OS Services &amp; Middleware</a:t>
            </a:r>
          </a:p>
          <a:p>
            <a:pPr algn="l">
              <a:spcAft>
                <a:spcPts val="200"/>
              </a:spcAft>
            </a:pPr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Networking · USB · BLE · File systems · Modbus · Logging 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27248"/>
            <a:ext cx="6510528" cy="2011680"/>
          </a:xfrm>
          <a:prstGeom prst="roundRect">
            <a:avLst>
              <a:gd name="adj" fmla="val 12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8680" y="3116763"/>
            <a:ext cx="6098469" cy="487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dirty="0">
                <a:solidFill>
                  <a:srgbClr val="FFFFFF"/>
                </a:solidFill>
                <a:latin typeface="Rockwell" panose="02060603020205020403" pitchFamily="18" charset="0"/>
              </a:rPr>
              <a:t>Kernel</a:t>
            </a:r>
          </a:p>
          <a:p>
            <a:pPr algn="l">
              <a:spcAft>
                <a:spcPts val="200"/>
              </a:spcAft>
            </a:pPr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Scheduler · Threads/IPC · Memory &amp; power management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58768"/>
            <a:ext cx="6510528" cy="2011680"/>
          </a:xfrm>
          <a:prstGeom prst="roundRect">
            <a:avLst>
              <a:gd name="adj" fmla="val 12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8680" y="3848283"/>
            <a:ext cx="6098469" cy="48731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dirty="0">
                <a:solidFill>
                  <a:srgbClr val="FFFFFF"/>
                </a:solidFill>
                <a:latin typeface="Rockwell" panose="02060603020205020403" pitchFamily="18" charset="0"/>
              </a:rPr>
              <a:t>HAL &amp; Device Drivers</a:t>
            </a:r>
          </a:p>
          <a:p>
            <a:pPr algn="l">
              <a:spcAft>
                <a:spcPts val="200"/>
              </a:spcAft>
            </a:pPr>
            <a:r>
              <a:rPr sz="1400" b="0" dirty="0" err="1">
                <a:solidFill>
                  <a:srgbClr val="CBD5E1"/>
                </a:solidFill>
                <a:latin typeface="Rockwell" panose="02060603020205020403" pitchFamily="18" charset="0"/>
              </a:rPr>
              <a:t>Devicetree</a:t>
            </a:r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-described peripheral drivers (incl. st_vl53l8cx)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99432"/>
            <a:ext cx="6510528" cy="128016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68680" y="4695777"/>
            <a:ext cx="6098469" cy="4565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dirty="0">
                <a:solidFill>
                  <a:srgbClr val="FFFFFF"/>
                </a:solidFill>
                <a:latin typeface="Rockwell" panose="02060603020205020403" pitchFamily="18" charset="0"/>
              </a:rPr>
              <a:t>Board Support Package</a:t>
            </a:r>
          </a:p>
          <a:p>
            <a:pPr algn="l">
              <a:spcAft>
                <a:spcPts val="200"/>
              </a:spcAft>
            </a:pPr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Clocks · Memory map · </a:t>
            </a:r>
            <a:r>
              <a:rPr sz="1400" b="0" dirty="0" err="1">
                <a:solidFill>
                  <a:srgbClr val="CBD5E1"/>
                </a:solidFill>
                <a:latin typeface="Rockwell" panose="02060603020205020403" pitchFamily="18" charset="0"/>
              </a:rPr>
              <a:t>Pinmux</a:t>
            </a:r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 · Boot — per </a:t>
            </a:r>
            <a:r>
              <a:rPr sz="1400" b="0" dirty="0" err="1">
                <a:solidFill>
                  <a:srgbClr val="CBD5E1"/>
                </a:solidFill>
                <a:latin typeface="Rockwell" panose="02060603020205020403" pitchFamily="18" charset="0"/>
              </a:rPr>
              <a:t>Nucleo</a:t>
            </a:r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 board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95749" y="1508760"/>
            <a:ext cx="4828611" cy="523036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366760" y="1691640"/>
            <a:ext cx="2862160" cy="320040"/>
          </a:xfrm>
          <a:prstGeom prst="roundRect">
            <a:avLst>
              <a:gd name="adj" fmla="val 50000"/>
            </a:avLst>
          </a:prstGeom>
          <a:solidFill>
            <a:srgbClr val="1E2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66760" y="1774716"/>
            <a:ext cx="286216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6B6D4"/>
                </a:solidFill>
                <a:latin typeface="Rockwell" panose="02060603020205020403" pitchFamily="18" charset="0"/>
              </a:rPr>
              <a:t>WHY IT MATTERS 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075688"/>
            <a:ext cx="286216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FFFFFF"/>
                </a:solidFill>
                <a:latin typeface="Rockwell" panose="02060603020205020403" pitchFamily="18" charset="0"/>
              </a:rPr>
              <a:t>Every layer is optional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8" y="2651760"/>
            <a:ext cx="4617720" cy="41065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i="1" dirty="0">
                <a:solidFill>
                  <a:srgbClr val="CBD5E1"/>
                </a:solidFill>
                <a:latin typeface="Rockwell" panose="02060603020205020403" pitchFamily="18" charset="0"/>
              </a:rPr>
              <a:t>Build only what your application needs</a:t>
            </a:r>
          </a:p>
          <a:p>
            <a:pPr>
              <a:spcAft>
                <a:spcPts val="600"/>
              </a:spcAft>
            </a:pPr>
            <a:endParaRPr lang="en-GB" sz="1400" b="1" i="1" dirty="0">
              <a:solidFill>
                <a:srgbClr val="CBD5E1"/>
              </a:solidFill>
              <a:latin typeface="Rockwell" panose="02060603020205020403" pitchFamily="18" charset="0"/>
            </a:endParaRPr>
          </a:p>
          <a:p>
            <a:pPr algn="l"/>
            <a:r>
              <a:rPr sz="1400" b="1" dirty="0">
                <a:solidFill>
                  <a:srgbClr val="CBD5E1"/>
                </a:solidFill>
                <a:latin typeface="Rockwell" panose="02060603020205020403" pitchFamily="18" charset="0"/>
              </a:rPr>
              <a:t>Every OS-service block </a:t>
            </a:r>
            <a:r>
              <a:rPr lang="en-GB" sz="1400" dirty="0">
                <a:solidFill>
                  <a:srgbClr val="CBD5E1"/>
                </a:solidFill>
                <a:latin typeface="Rockwell" panose="02060603020205020403" pitchFamily="18" charset="0"/>
              </a:rPr>
              <a:t>:</a:t>
            </a:r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 networking, filesystems,</a:t>
            </a:r>
          </a:p>
          <a:p>
            <a:pPr algn="l"/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Modbus, crypto — is enabled per project via </a:t>
            </a:r>
            <a:r>
              <a:rPr sz="1400" b="0" dirty="0" err="1">
                <a:solidFill>
                  <a:srgbClr val="CBD5E1"/>
                </a:solidFill>
                <a:latin typeface="Rockwell" panose="02060603020205020403" pitchFamily="18" charset="0"/>
              </a:rPr>
              <a:t>Kconfig</a:t>
            </a:r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,</a:t>
            </a:r>
          </a:p>
          <a:p>
            <a:pPr algn="l"/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so flash and RAM are spent only on what an app</a:t>
            </a:r>
          </a:p>
          <a:p>
            <a:pPr algn="l"/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actually uses.</a:t>
            </a:r>
            <a:endParaRPr lang="en-GB" sz="1400" b="0" dirty="0">
              <a:solidFill>
                <a:srgbClr val="CBD5E1"/>
              </a:solidFill>
              <a:latin typeface="Rockwell" panose="02060603020205020403" pitchFamily="18" charset="0"/>
            </a:endParaRPr>
          </a:p>
          <a:p>
            <a:pPr algn="l"/>
            <a:endParaRPr lang="en-GB" sz="1400" dirty="0">
              <a:solidFill>
                <a:srgbClr val="CBD5E1"/>
              </a:solidFill>
              <a:latin typeface="Rockwell" panose="02060603020205020403" pitchFamily="18" charset="0"/>
            </a:endParaRPr>
          </a:p>
          <a:p>
            <a:pPr algn="l"/>
            <a:r>
              <a:rPr lang="en-GB" sz="1400" b="1" dirty="0">
                <a:solidFill>
                  <a:srgbClr val="CBD5E1"/>
                </a:solidFill>
                <a:latin typeface="Rockwell" panose="02060603020205020403" pitchFamily="18" charset="0"/>
              </a:rPr>
              <a:t>Kernel:  </a:t>
            </a:r>
            <a:r>
              <a:rPr lang="en-GB"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Turn off the scheduler if user do not need multithreading.</a:t>
            </a:r>
            <a:endParaRPr sz="1400" b="0" dirty="0">
              <a:solidFill>
                <a:srgbClr val="CBD5E1"/>
              </a:solidFill>
              <a:latin typeface="Rockwell" panose="02060603020205020403" pitchFamily="18" charset="0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endParaRPr lang="en-GB" sz="1400" b="0" dirty="0">
              <a:solidFill>
                <a:srgbClr val="CBD5E1"/>
              </a:solidFill>
              <a:latin typeface="Rockwell" panose="02060603020205020403" pitchFamily="18" charset="0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GB" sz="1400" b="1" dirty="0">
                <a:solidFill>
                  <a:srgbClr val="CBD5E1"/>
                </a:solidFill>
                <a:latin typeface="Rockwell" panose="02060603020205020403" pitchFamily="18" charset="0"/>
              </a:rPr>
              <a:t>HAL &amp; Device Driver: </a:t>
            </a:r>
            <a:r>
              <a:rPr lang="en-GB" sz="1400" dirty="0">
                <a:solidFill>
                  <a:srgbClr val="CBD5E1"/>
                </a:solidFill>
                <a:latin typeface="Rockwell" panose="02060603020205020403" pitchFamily="18" charset="0"/>
              </a:rPr>
              <a:t>Use only the driver your hardware needs. Device tree describes the peripherals and hardware configurations.</a:t>
            </a:r>
            <a:endParaRPr sz="1400" b="0" dirty="0">
              <a:solidFill>
                <a:srgbClr val="CBD5E1"/>
              </a:solidFill>
              <a:latin typeface="Rockwell" panose="02060603020205020403" pitchFamily="18" charset="0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GB" sz="1400" b="1" dirty="0">
                <a:solidFill>
                  <a:srgbClr val="CBD5E1"/>
                </a:solidFill>
                <a:latin typeface="Rockwell" panose="02060603020205020403" pitchFamily="18" charset="0"/>
              </a:rPr>
              <a:t>Board Support Package: </a:t>
            </a:r>
            <a:r>
              <a:rPr lang="en-GB"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Keep the board-specific details like clock, </a:t>
            </a:r>
            <a:r>
              <a:rPr lang="en-GB" sz="1400" b="0" dirty="0" err="1">
                <a:solidFill>
                  <a:srgbClr val="CBD5E1"/>
                </a:solidFill>
                <a:latin typeface="Rockwell" panose="02060603020205020403" pitchFamily="18" charset="0"/>
              </a:rPr>
              <a:t>pinmux</a:t>
            </a:r>
            <a:r>
              <a:rPr lang="en-GB"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, memory map, boot … separate from user’s application</a:t>
            </a:r>
            <a:r>
              <a:rPr sz="1400" b="0" dirty="0">
                <a:solidFill>
                  <a:srgbClr val="CBD5E1"/>
                </a:solidFill>
                <a:latin typeface="Rockwell" panose="02060603020205020403" pitchFamily="18" charset="0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621792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Build System &amp;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911535" cy="6080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dirty="0">
                <a:latin typeface="Rockwell" panose="02060603020205020403" pitchFamily="18" charset="0"/>
              </a:rPr>
              <a:t>Zephyr borrows the Linux kernel's proven configuration model: Device</a:t>
            </a:r>
            <a:r>
              <a:rPr lang="en-GB" sz="1600" dirty="0">
                <a:latin typeface="Rockwell" panose="02060603020205020403" pitchFamily="18" charset="0"/>
              </a:rPr>
              <a:t>-</a:t>
            </a:r>
            <a:r>
              <a:rPr sz="1600" b="0" dirty="0">
                <a:latin typeface="Rockwell" panose="02060603020205020403" pitchFamily="18" charset="0"/>
              </a:rPr>
              <a:t>tree describes the hardware, </a:t>
            </a:r>
            <a:r>
              <a:rPr sz="1600" b="0" dirty="0" err="1">
                <a:latin typeface="Rockwell" panose="02060603020205020403" pitchFamily="18" charset="0"/>
              </a:rPr>
              <a:t>Kconfig</a:t>
            </a:r>
            <a:r>
              <a:rPr sz="1600" b="0" dirty="0">
                <a:latin typeface="Rockwell" panose="02060603020205020403" pitchFamily="18" charset="0"/>
              </a:rPr>
              <a:t> selects the features to build, and west ties sources, SDK and board definitions into one reproducible build.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77440"/>
            <a:ext cx="35204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2531547"/>
            <a:ext cx="3154680" cy="6976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 err="1">
                <a:latin typeface="Rockwell" panose="02060603020205020403" pitchFamily="18" charset="0"/>
              </a:rPr>
              <a:t>Devicetree</a:t>
            </a:r>
            <a:r>
              <a:rPr sz="1400" b="1" dirty="0">
                <a:latin typeface="Rockwell" panose="02060603020205020403" pitchFamily="18" charset="0"/>
              </a:rPr>
              <a:t> (.</a:t>
            </a:r>
            <a:r>
              <a:rPr sz="1400" b="1" dirty="0" err="1">
                <a:latin typeface="Rockwell" panose="02060603020205020403" pitchFamily="18" charset="0"/>
              </a:rPr>
              <a:t>dts</a:t>
            </a:r>
            <a:r>
              <a:rPr sz="1400" b="1" dirty="0">
                <a:latin typeface="Rockwell" panose="02060603020205020403" pitchFamily="18" charset="0"/>
              </a:rPr>
              <a:t>)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latin typeface="Rockwell" panose="02060603020205020403" pitchFamily="18" charset="0"/>
              </a:rPr>
              <a:t>Describes board pins, clocks &amp; peripherals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757249"/>
            <a:ext cx="9144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Rockwell" panose="02060603020205020403" pitchFamily="18" charset="0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2377440"/>
            <a:ext cx="35204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34840" y="2531547"/>
            <a:ext cx="3154680" cy="6976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 err="1">
                <a:latin typeface="Rockwell" panose="02060603020205020403" pitchFamily="18" charset="0"/>
              </a:rPr>
              <a:t>Kconfig</a:t>
            </a:r>
            <a:endParaRPr sz="1400" b="1" dirty="0">
              <a:latin typeface="Rockwell" panose="02060603020205020403" pitchFamily="18" charset="0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latin typeface="Rockwell" panose="02060603020205020403" pitchFamily="18" charset="0"/>
              </a:rPr>
              <a:t>Enables kernel features &amp; libraries (e.g. Modbus, ST_VL53L8CX)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757249"/>
            <a:ext cx="9144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64748B"/>
                </a:solidFill>
                <a:latin typeface="Rockwell" panose="02060603020205020403" pitchFamily="18" charset="0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2377440"/>
            <a:ext cx="35204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046720" y="2531547"/>
            <a:ext cx="3154680" cy="6976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dirty="0">
                <a:latin typeface="Rockwell" panose="02060603020205020403" pitchFamily="18" charset="0"/>
              </a:rPr>
              <a:t>App source + </a:t>
            </a:r>
            <a:r>
              <a:rPr sz="1400" b="1" dirty="0" err="1">
                <a:latin typeface="Rockwell" panose="02060603020205020403" pitchFamily="18" charset="0"/>
              </a:rPr>
              <a:t>CMake</a:t>
            </a:r>
            <a:endParaRPr sz="1400" b="1" dirty="0">
              <a:latin typeface="Rockwell" panose="02060603020205020403" pitchFamily="18" charset="0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latin typeface="Rockwell" panose="02060603020205020403" pitchFamily="18" charset="0"/>
              </a:rPr>
              <a:t>Application logic and build description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40480"/>
            <a:ext cx="10911535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60120" y="4106041"/>
            <a:ext cx="10271455" cy="102335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Rockwell" panose="02060603020205020403" pitchFamily="18" charset="0"/>
              </a:rPr>
              <a:t>CMake + Ninja  →  zephyr.elf  →  west flash / west debug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6B6D4"/>
                </a:solidFill>
                <a:latin typeface="Rockwell" panose="02060603020205020403" pitchFamily="18" charset="0"/>
              </a:rPr>
              <a:t>$ west build -b nucleo_h723zg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6B6D4"/>
                </a:solidFill>
                <a:latin typeface="Rockwell" panose="02060603020205020403" pitchFamily="18" charset="0"/>
              </a:rPr>
              <a:t>$ west flash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6B6D4"/>
                </a:solidFill>
                <a:latin typeface="Rockwell" panose="02060603020205020403" pitchFamily="18" charset="0"/>
              </a:rPr>
              <a:t>$ west debug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1091153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dirty="0">
                <a:latin typeface="Rockwell" panose="02060603020205020403" pitchFamily="18" charset="0"/>
              </a:rPr>
              <a:t>One command line, any supported board in the workspace — no vendor IDE required.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384048"/>
            <a:ext cx="10058400" cy="9848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What is West</a:t>
            </a:r>
            <a:r>
              <a:rPr lang="en-GB"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: </a:t>
            </a:r>
            <a:r>
              <a:rPr lang="en-US" sz="3200" b="1" dirty="0">
                <a:latin typeface="Rockwell" panose="02060603020205020403" pitchFamily="18" charset="0"/>
              </a:rPr>
              <a:t>One Command to Manage the Whole Workspace</a:t>
            </a:r>
            <a:endParaRPr sz="3200" b="1" dirty="0">
              <a:solidFill>
                <a:srgbClr val="0F172A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6675120" cy="4709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6217920" cy="4190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lang="en-US" b="1" dirty="0">
                <a:latin typeface="Rockwell" panose="02060603020205020403" pitchFamily="18" charset="0"/>
              </a:rPr>
              <a:t>West manages all the repositories needed by your Zephyr project.</a:t>
            </a:r>
            <a:endParaRPr lang="en-US" dirty="0">
              <a:latin typeface="Rockwell" panose="02060603020205020403" pitchFamily="18" charset="0"/>
            </a:endParaRPr>
          </a:p>
          <a:p>
            <a:pPr>
              <a:spcAft>
                <a:spcPts val="1400"/>
              </a:spcAft>
            </a:pPr>
            <a:endParaRPr lang="en-GB" sz="1600" dirty="0">
              <a:latin typeface="Rockwell" panose="02060603020205020403" pitchFamily="18" charset="0"/>
            </a:endParaRPr>
          </a:p>
          <a:p>
            <a:pPr>
              <a:spcAft>
                <a:spcPts val="1400"/>
              </a:spcAft>
            </a:pPr>
            <a:r>
              <a:rPr sz="1600" dirty="0">
                <a:latin typeface="Rockwell" panose="02060603020205020403" pitchFamily="18" charset="0"/>
              </a:rPr>
              <a:t>■  </a:t>
            </a:r>
            <a:r>
              <a:rPr lang="en-GB" sz="1600" b="1" dirty="0">
                <a:latin typeface="Rockwell" panose="02060603020205020403" pitchFamily="18" charset="0"/>
              </a:rPr>
              <a:t>One project, many repositories</a:t>
            </a:r>
            <a:r>
              <a:rPr sz="1600" b="1" dirty="0">
                <a:latin typeface="Rockwell" panose="02060603020205020403" pitchFamily="18" charset="0"/>
              </a:rPr>
              <a:t>: </a:t>
            </a:r>
            <a:r>
              <a:rPr lang="en-US" sz="1400" b="0" dirty="0">
                <a:latin typeface="Rockwell" panose="02060603020205020403" pitchFamily="18" charset="0"/>
              </a:rPr>
              <a:t>Zephyr</a:t>
            </a:r>
            <a:r>
              <a:rPr lang="en-GB" sz="1400" b="0" dirty="0">
                <a:latin typeface="Rockwell" panose="02060603020205020403" pitchFamily="18" charset="0"/>
              </a:rPr>
              <a:t> is made up of many repositories, kernel, HALs, libraries, drivers, user’s customized repos etc… West manages them all for th</a:t>
            </a:r>
            <a:r>
              <a:rPr lang="en-GB" sz="1400" dirty="0">
                <a:latin typeface="Rockwell" panose="02060603020205020403" pitchFamily="18" charset="0"/>
              </a:rPr>
              <a:t>e users/developers.</a:t>
            </a:r>
            <a:endParaRPr sz="1400" b="0" dirty="0">
              <a:latin typeface="Rockwell" panose="02060603020205020403" pitchFamily="18" charset="0"/>
            </a:endParaRPr>
          </a:p>
          <a:p>
            <a:pPr>
              <a:spcAft>
                <a:spcPts val="1400"/>
              </a:spcAft>
            </a:pPr>
            <a:r>
              <a:rPr sz="1600" dirty="0">
                <a:latin typeface="Rockwell" panose="02060603020205020403" pitchFamily="18" charset="0"/>
              </a:rPr>
              <a:t>■  </a:t>
            </a:r>
            <a:r>
              <a:rPr lang="en-GB" sz="1600" b="1" dirty="0" err="1">
                <a:latin typeface="Rockwell" panose="02060603020205020403" pitchFamily="18" charset="0"/>
              </a:rPr>
              <a:t>west.yaml</a:t>
            </a:r>
            <a:r>
              <a:rPr sz="1600" b="1" dirty="0">
                <a:latin typeface="Rockwell" panose="02060603020205020403" pitchFamily="18" charset="0"/>
              </a:rPr>
              <a:t>: </a:t>
            </a:r>
            <a:r>
              <a:rPr lang="en-GB" sz="1600" dirty="0">
                <a:latin typeface="Rockwell" panose="02060603020205020403" pitchFamily="18" charset="0"/>
              </a:rPr>
              <a:t>tells west what to get, it lists the repositories and the exact version/commits required by the project</a:t>
            </a:r>
            <a:r>
              <a:rPr sz="1600" b="0" dirty="0">
                <a:latin typeface="Rockwell" panose="02060603020205020403" pitchFamily="18" charset="0"/>
              </a:rPr>
              <a:t>.</a:t>
            </a:r>
          </a:p>
          <a:p>
            <a:pPr>
              <a:spcAft>
                <a:spcPts val="1400"/>
              </a:spcAft>
            </a:pPr>
            <a:r>
              <a:rPr sz="1600" dirty="0">
                <a:latin typeface="Rockwell" panose="02060603020205020403" pitchFamily="18" charset="0"/>
              </a:rPr>
              <a:t>■  </a:t>
            </a:r>
            <a:r>
              <a:rPr lang="en-GB" sz="1600" b="1" dirty="0">
                <a:latin typeface="Rockwell" panose="02060603020205020403" pitchFamily="18" charset="0"/>
              </a:rPr>
              <a:t>Clone once, get the whole workspace</a:t>
            </a:r>
            <a:r>
              <a:rPr sz="1600" b="1" dirty="0">
                <a:latin typeface="Rockwell" panose="02060603020205020403" pitchFamily="18" charset="0"/>
              </a:rPr>
              <a:t>: </a:t>
            </a:r>
            <a:r>
              <a:rPr lang="en-GB" sz="1600" dirty="0">
                <a:latin typeface="Rockwell" panose="02060603020205020403" pitchFamily="18" charset="0"/>
              </a:rPr>
              <a:t>When user clone the application repo, and west uses </a:t>
            </a:r>
            <a:r>
              <a:rPr lang="en-GB" sz="1600" dirty="0" err="1">
                <a:latin typeface="Rockwell" panose="02060603020205020403" pitchFamily="18" charset="0"/>
              </a:rPr>
              <a:t>west.yml</a:t>
            </a:r>
            <a:r>
              <a:rPr lang="en-GB" sz="1600" dirty="0">
                <a:latin typeface="Rockwell" panose="02060603020205020403" pitchFamily="18" charset="0"/>
              </a:rPr>
              <a:t> to fetch the rest of the required repositories.</a:t>
            </a:r>
            <a:endParaRPr sz="1600" b="0" dirty="0">
              <a:latin typeface="Rockwell" panose="02060603020205020403" pitchFamily="18" charset="0"/>
            </a:endParaRPr>
          </a:p>
          <a:p>
            <a:pPr>
              <a:spcAft>
                <a:spcPts val="1400"/>
              </a:spcAft>
            </a:pPr>
            <a:r>
              <a:rPr sz="1600" dirty="0">
                <a:latin typeface="Rockwell" panose="02060603020205020403" pitchFamily="18" charset="0"/>
              </a:rPr>
              <a:t>■  </a:t>
            </a:r>
            <a:r>
              <a:rPr sz="1600" b="1" dirty="0">
                <a:latin typeface="Rockwell" panose="02060603020205020403" pitchFamily="18" charset="0"/>
              </a:rPr>
              <a:t>Unified commands: </a:t>
            </a:r>
            <a:r>
              <a:rPr sz="1600" b="1" i="1" dirty="0">
                <a:latin typeface="Rockwell" panose="02060603020205020403" pitchFamily="18" charset="0"/>
              </a:rPr>
              <a:t>west </a:t>
            </a:r>
            <a:r>
              <a:rPr sz="1600" b="1" i="1" dirty="0" err="1">
                <a:latin typeface="Rockwell" panose="02060603020205020403" pitchFamily="18" charset="0"/>
              </a:rPr>
              <a:t>init</a:t>
            </a:r>
            <a:r>
              <a:rPr sz="1600" b="0" dirty="0">
                <a:latin typeface="Rockwell" panose="02060603020205020403" pitchFamily="18" charset="0"/>
              </a:rPr>
              <a:t>, </a:t>
            </a:r>
            <a:r>
              <a:rPr sz="1600" b="1" i="1" dirty="0">
                <a:latin typeface="Rockwell" panose="02060603020205020403" pitchFamily="18" charset="0"/>
              </a:rPr>
              <a:t>west update</a:t>
            </a:r>
            <a:r>
              <a:rPr sz="1600" b="0" dirty="0">
                <a:latin typeface="Rockwell" panose="02060603020205020403" pitchFamily="18" charset="0"/>
              </a:rPr>
              <a:t>, </a:t>
            </a:r>
            <a:r>
              <a:rPr sz="1600" b="1" i="1" dirty="0">
                <a:latin typeface="Rockwell" panose="02060603020205020403" pitchFamily="18" charset="0"/>
              </a:rPr>
              <a:t>west build</a:t>
            </a:r>
            <a:r>
              <a:rPr sz="1600" b="0" dirty="0">
                <a:latin typeface="Rockwell" panose="02060603020205020403" pitchFamily="18" charset="0"/>
              </a:rPr>
              <a:t>, </a:t>
            </a:r>
            <a:r>
              <a:rPr sz="1600" b="1" i="1" dirty="0">
                <a:latin typeface="Rockwell" panose="02060603020205020403" pitchFamily="18" charset="0"/>
              </a:rPr>
              <a:t>west flash, west debug</a:t>
            </a:r>
            <a:r>
              <a:rPr lang="en-GB" sz="1600" b="1" i="1" dirty="0">
                <a:latin typeface="Rockwell" panose="02060603020205020403" pitchFamily="18" charset="0"/>
              </a:rPr>
              <a:t> , </a:t>
            </a:r>
            <a:r>
              <a:rPr sz="1600" b="0" dirty="0">
                <a:latin typeface="Rockwell" panose="02060603020205020403" pitchFamily="18" charset="0"/>
              </a:rPr>
              <a:t>same on every 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508760"/>
            <a:ext cx="4005072" cy="470916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863840" y="1691640"/>
            <a:ext cx="3364992" cy="320040"/>
          </a:xfrm>
          <a:prstGeom prst="roundRect">
            <a:avLst>
              <a:gd name="adj" fmla="val 50000"/>
            </a:avLst>
          </a:prstGeom>
          <a:solidFill>
            <a:srgbClr val="1E2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63840" y="1728550"/>
            <a:ext cx="3364992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1600" b="1" dirty="0">
                <a:solidFill>
                  <a:schemeClr val="bg1"/>
                </a:solidFill>
                <a:latin typeface="Rockwell" panose="02060603020205020403" pitchFamily="18" charset="0"/>
              </a:rPr>
              <a:t>OUR PROJECT STRUCTURE</a:t>
            </a:r>
            <a:endParaRPr sz="1600" b="1" dirty="0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364992" cy="34778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Rockwell" panose="02060603020205020403" pitchFamily="18" charset="0"/>
              </a:rPr>
              <a:t>zephyr_app</a:t>
            </a:r>
            <a: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  <a:t> is our main repository</a:t>
            </a:r>
          </a:p>
          <a:p>
            <a: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  <a:t>It contains</a:t>
            </a:r>
          </a:p>
          <a:p>
            <a:r>
              <a:rPr lang="en-US" sz="1600" dirty="0" err="1">
                <a:solidFill>
                  <a:schemeClr val="bg1"/>
                </a:solidFill>
                <a:latin typeface="Rockwell" panose="02060603020205020403" pitchFamily="18" charset="0"/>
              </a:rPr>
              <a:t>west.yml</a:t>
            </a:r>
            <a:endParaRPr lang="en-US" sz="1600" dirty="0">
              <a:solidFill>
                <a:schemeClr val="bg1"/>
              </a:solidFill>
              <a:latin typeface="Rockwell" panose="02060603020205020403" pitchFamily="18" charset="0"/>
            </a:endParaRPr>
          </a:p>
          <a:p>
            <a:endParaRPr lang="en-US" sz="1600" dirty="0">
              <a:solidFill>
                <a:schemeClr val="bg1"/>
              </a:solidFill>
              <a:latin typeface="Rockwell" panose="02060603020205020403" pitchFamily="18" charset="0"/>
            </a:endParaRPr>
          </a:p>
          <a:p>
            <a: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  <a:t>Which tell west to fetch:</a:t>
            </a:r>
          </a:p>
          <a:p>
            <a:endParaRPr lang="en-US" sz="1600" dirty="0">
              <a:solidFill>
                <a:schemeClr val="bg1"/>
              </a:solidFill>
              <a:latin typeface="Rockwell" panose="02060603020205020403" pitchFamily="18" charset="0"/>
            </a:endParaRPr>
          </a:p>
          <a:p>
            <a: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  <a:t>zephyr/</a:t>
            </a:r>
          </a:p>
          <a:p>
            <a: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  <a:t>modules/</a:t>
            </a:r>
          </a:p>
          <a:p>
            <a:r>
              <a:rPr lang="en-GB" sz="1600" dirty="0">
                <a:solidFill>
                  <a:schemeClr val="bg1"/>
                </a:solidFill>
                <a:latin typeface="Rockwell" panose="02060603020205020403" pitchFamily="18" charset="0"/>
              </a:rPr>
              <a:t>bootloader/</a:t>
            </a:r>
            <a:r>
              <a:rPr lang="en-GB" sz="1600" dirty="0" err="1">
                <a:solidFill>
                  <a:schemeClr val="bg1"/>
                </a:solidFill>
                <a:latin typeface="Rockwell" panose="02060603020205020403" pitchFamily="18" charset="0"/>
              </a:rPr>
              <a:t>mcuboot</a:t>
            </a:r>
            <a:endParaRPr lang="en-GB" sz="1600" dirty="0">
              <a:solidFill>
                <a:schemeClr val="bg1"/>
              </a:solidFill>
              <a:latin typeface="Rockwell" panose="02060603020205020403" pitchFamily="18" charset="0"/>
            </a:endParaRPr>
          </a:p>
          <a:p>
            <a:r>
              <a:rPr lang="en-GB" sz="1600" dirty="0">
                <a:solidFill>
                  <a:schemeClr val="bg1"/>
                </a:solidFill>
                <a:latin typeface="Rockwell" panose="02060603020205020403" pitchFamily="18" charset="0"/>
              </a:rPr>
              <a:t>….</a:t>
            </a:r>
          </a:p>
          <a:p>
            <a:endParaRPr lang="en-GB" sz="1600" dirty="0">
              <a:solidFill>
                <a:schemeClr val="bg1"/>
              </a:solidFill>
              <a:latin typeface="Rockwell" panose="02060603020205020403" pitchFamily="18" charset="0"/>
            </a:endParaRPr>
          </a:p>
          <a:p>
            <a:r>
              <a:rPr lang="en-GB" sz="1600" dirty="0">
                <a:solidFill>
                  <a:schemeClr val="bg1"/>
                </a:solidFill>
                <a:latin typeface="Rockwell" panose="02060603020205020403" pitchFamily="18" charset="0"/>
              </a:rPr>
              <a:t>Just clone </a:t>
            </a:r>
            <a:r>
              <a:rPr lang="en-GB" sz="1600" dirty="0" err="1">
                <a:solidFill>
                  <a:schemeClr val="bg1"/>
                </a:solidFill>
                <a:latin typeface="Rockwell" panose="02060603020205020403" pitchFamily="18" charset="0"/>
              </a:rPr>
              <a:t>zephyr_app</a:t>
            </a:r>
            <a:r>
              <a:rPr lang="en-GB" sz="1600" dirty="0">
                <a:solidFill>
                  <a:schemeClr val="bg1"/>
                </a:solidFill>
                <a:latin typeface="Rockwell" panose="02060603020205020403" pitchFamily="18" charset="0"/>
              </a:rPr>
              <a:t> </a:t>
            </a:r>
            <a:r>
              <a:rPr lang="en-GB" sz="1600" dirty="0">
                <a:solidFill>
                  <a:schemeClr val="bg1"/>
                </a:solidFill>
                <a:latin typeface="Rockwell" panose="02060603020205020403" pitchFamily="18" charset="0"/>
                <a:sym typeface="Wingdings" panose="05000000000000000000" pitchFamily="2" charset="2"/>
              </a:rPr>
              <a:t> run west update  get the complete workspace</a:t>
            </a:r>
            <a:endParaRPr sz="1600" dirty="0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246888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Inside the zephyr/ Core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352044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Rockwell" panose="02060603020205020403" pitchFamily="18" charset="0"/>
              </a:rPr>
              <a:t>CORE &amp;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4197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Rockwell" panose="02060603020205020403" pitchFamily="18" charset="0"/>
              </a:rPr>
              <a:t>kernel/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3154680" cy="494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Preemptive scheduler, threads, memory slabs, mutexes, IPC.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Rockwell" panose="02060603020205020403" pitchFamily="18" charset="0"/>
              </a:rPr>
              <a:t>arch/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3154680" cy="494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CPU ports: ARM Cortex-M/A/R, RISC-V, x86, Xtensa, ARC.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14800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Rockwell" panose="02060603020205020403" pitchFamily="18" charset="0"/>
              </a:rPr>
              <a:t>Kconfig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34840"/>
            <a:ext cx="3154680" cy="494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Root build-time feature tree (symbols, dependencies, menus.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1508760"/>
            <a:ext cx="352044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Rockwell" panose="02060603020205020403" pitchFamily="18" charset="0"/>
              </a:rPr>
              <a:t>HARDWARE &amp; DRIVERS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920240"/>
            <a:ext cx="3520440" cy="4197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434840" y="2103120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Rockwell" panose="02060603020205020403" pitchFamily="18" charset="0"/>
              </a:rPr>
              <a:t>drivers/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423160"/>
            <a:ext cx="3154680" cy="494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Peripheral &amp; sensor drivers, indexed by class and vendor.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108960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Rockwell" panose="02060603020205020403" pitchFamily="18" charset="0"/>
              </a:rPr>
              <a:t>boards/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429000"/>
            <a:ext cx="3154680" cy="494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Board defs, default configs, devicetree overlays, pinmux.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114800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Rockwell" panose="02060603020205020403" pitchFamily="18" charset="0"/>
              </a:rPr>
              <a:t>dts/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434840"/>
            <a:ext cx="3154680" cy="494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Devicetree bindings (.yaml) and base SoC .dtsi includes.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1508760"/>
            <a:ext cx="352044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Rockwell" panose="02060603020205020403" pitchFamily="18" charset="0"/>
              </a:rPr>
              <a:t>SUBSYSTEMS &amp; TESTING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1920240"/>
            <a:ext cx="3520440" cy="4197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46720" y="2103120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Rockwell" panose="02060603020205020403" pitchFamily="18" charset="0"/>
              </a:rPr>
              <a:t>subsys/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2423160"/>
            <a:ext cx="3154680" cy="494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BLE host/controller, IP networking, USB, filesystems, logging.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108960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Rockwell" panose="02060603020205020403" pitchFamily="18" charset="0"/>
              </a:rPr>
              <a:t>samples/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3429000"/>
            <a:ext cx="3154680" cy="2358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Ready-to-build example applications.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114800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latin typeface="Rockwell" panose="02060603020205020403" pitchFamily="18" charset="0"/>
              </a:rPr>
              <a:t>tests/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4434840"/>
            <a:ext cx="3154680" cy="494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Automated Twister test suite across architectures.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384048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What is a Zephyr Module?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Zephyr on STM32 → the VL53L8CX Driver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967931"/>
            <a:ext cx="6675120" cy="38326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6217920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External source integration: 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modules let vendor HALs, 3rd-party stacks, crypto libs and sensor SDKs plug into Zephyr's </a:t>
            </a:r>
            <a:r>
              <a:rPr sz="1600" b="0" dirty="0" err="1">
                <a:solidFill>
                  <a:srgbClr val="475569"/>
                </a:solidFill>
                <a:latin typeface="Rockwell" panose="02060603020205020403" pitchFamily="18" charset="0"/>
              </a:rPr>
              <a:t>CMake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 &amp; </a:t>
            </a:r>
            <a:r>
              <a:rPr sz="1600" b="0" dirty="0" err="1">
                <a:solidFill>
                  <a:srgbClr val="475569"/>
                </a:solidFill>
                <a:latin typeface="Rockwell" panose="02060603020205020403" pitchFamily="18" charset="0"/>
              </a:rPr>
              <a:t>Kconfig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.</a:t>
            </a:r>
          </a:p>
          <a:p>
            <a:pPr>
              <a:spcAft>
                <a:spcPts val="1400"/>
              </a:spcAft>
            </a:pPr>
            <a:r>
              <a:rPr sz="1600"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Declared via zephyr/</a:t>
            </a:r>
            <a:r>
              <a:rPr sz="1600" b="1" dirty="0" err="1">
                <a:solidFill>
                  <a:srgbClr val="0F172A"/>
                </a:solidFill>
                <a:latin typeface="Rockwell" panose="02060603020205020403" pitchFamily="18" charset="0"/>
              </a:rPr>
              <a:t>module.yml</a:t>
            </a: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: 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each module names itself and its </a:t>
            </a:r>
            <a:r>
              <a:rPr sz="1600" b="0" dirty="0" err="1">
                <a:solidFill>
                  <a:srgbClr val="475569"/>
                </a:solidFill>
                <a:latin typeface="Rockwell" panose="02060603020205020403" pitchFamily="18" charset="0"/>
              </a:rPr>
              <a:t>CMake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/</a:t>
            </a:r>
            <a:r>
              <a:rPr sz="1600" b="0" dirty="0" err="1">
                <a:solidFill>
                  <a:srgbClr val="475569"/>
                </a:solidFill>
                <a:latin typeface="Rockwell" panose="02060603020205020403" pitchFamily="18" charset="0"/>
              </a:rPr>
              <a:t>Kconfig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 build hooks.</a:t>
            </a:r>
          </a:p>
          <a:p>
            <a:pPr>
              <a:spcAft>
                <a:spcPts val="1400"/>
              </a:spcAft>
            </a:pPr>
            <a:r>
              <a:rPr sz="1600"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West-managed: 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most modules are listed in </a:t>
            </a:r>
            <a:r>
              <a:rPr sz="1600" b="0" dirty="0" err="1">
                <a:solidFill>
                  <a:srgbClr val="475569"/>
                </a:solidFill>
                <a:latin typeface="Rockwell" panose="02060603020205020403" pitchFamily="18" charset="0"/>
              </a:rPr>
              <a:t>west.yml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 and cloned/pinned automatically on west update.</a:t>
            </a:r>
          </a:p>
          <a:p>
            <a:pPr>
              <a:spcAft>
                <a:spcPts val="1400"/>
              </a:spcAft>
            </a:pPr>
            <a:r>
              <a:rPr sz="1600"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Our st_vl53l8cx module: 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listed directly in the root </a:t>
            </a:r>
            <a:r>
              <a:rPr sz="1600" b="0" dirty="0" err="1">
                <a:solidFill>
                  <a:srgbClr val="475569"/>
                </a:solidFill>
                <a:latin typeface="Rockwell" panose="02060603020205020403" pitchFamily="18" charset="0"/>
              </a:rPr>
              <a:t>west.yml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 (remote: </a:t>
            </a:r>
            <a:r>
              <a:rPr sz="1600" b="0" dirty="0" err="1">
                <a:solidFill>
                  <a:srgbClr val="475569"/>
                </a:solidFill>
                <a:latin typeface="Rockwell" panose="02060603020205020403" pitchFamily="18" charset="0"/>
              </a:rPr>
              <a:t>github</a:t>
            </a:r>
            <a:r>
              <a:rPr sz="1600" b="0" dirty="0">
                <a:solidFill>
                  <a:srgbClr val="475569"/>
                </a:solidFill>
                <a:latin typeface="Rockwell" panose="02060603020205020403" pitchFamily="18" charset="0"/>
              </a:rPr>
              <a:t>, revision: main) — fully west-managed.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37760"/>
            <a:ext cx="6675120" cy="12801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62179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06B6D4"/>
                </a:solidFill>
                <a:latin typeface="Segoe UI"/>
              </a:rPr>
              <a:t>OUR modules/sensor/st_vl53l8cx/zephyr/</a:t>
            </a:r>
            <a:r>
              <a:rPr sz="1000" b="1" dirty="0" err="1">
                <a:solidFill>
                  <a:srgbClr val="06B6D4"/>
                </a:solidFill>
                <a:latin typeface="Segoe UI"/>
              </a:rPr>
              <a:t>module.yml</a:t>
            </a:r>
            <a:endParaRPr sz="1000" b="1" dirty="0">
              <a:solidFill>
                <a:srgbClr val="06B6D4"/>
              </a:solidFill>
              <a:latin typeface="Segoe UI"/>
            </a:endParaRPr>
          </a:p>
          <a:p>
            <a:pPr algn="l">
              <a:spcAft>
                <a:spcPts val="300"/>
              </a:spcAft>
            </a:pPr>
            <a:r>
              <a:rPr sz="1050" b="0" dirty="0">
                <a:solidFill>
                  <a:srgbClr val="CBD5E1"/>
                </a:solidFill>
                <a:latin typeface="Consolas"/>
              </a:rPr>
              <a:t>name: st_vl53l8cx</a:t>
            </a:r>
          </a:p>
          <a:p>
            <a:pPr algn="l">
              <a:spcAft>
                <a:spcPts val="300"/>
              </a:spcAft>
            </a:pPr>
            <a:r>
              <a:rPr sz="1050" b="0" dirty="0">
                <a:solidFill>
                  <a:srgbClr val="CBD5E1"/>
                </a:solidFill>
                <a:latin typeface="Consolas"/>
              </a:rPr>
              <a:t>build:  </a:t>
            </a:r>
            <a:r>
              <a:rPr sz="1050" b="0" dirty="0" err="1">
                <a:solidFill>
                  <a:srgbClr val="CBD5E1"/>
                </a:solidFill>
                <a:latin typeface="Consolas"/>
              </a:rPr>
              <a:t>cmake</a:t>
            </a:r>
            <a:r>
              <a:rPr sz="1050" b="0" dirty="0">
                <a:solidFill>
                  <a:srgbClr val="CBD5E1"/>
                </a:solidFill>
                <a:latin typeface="Consolas"/>
              </a:rPr>
              <a:t>: .  </a:t>
            </a:r>
            <a:r>
              <a:rPr sz="1050" b="0" dirty="0" err="1">
                <a:solidFill>
                  <a:srgbClr val="CBD5E1"/>
                </a:solidFill>
                <a:latin typeface="Consolas"/>
              </a:rPr>
              <a:t>kconfig</a:t>
            </a:r>
            <a:r>
              <a:rPr sz="1050" b="0" dirty="0">
                <a:solidFill>
                  <a:srgbClr val="CBD5E1"/>
                </a:solidFill>
                <a:latin typeface="Consolas"/>
              </a:rPr>
              <a:t>: </a:t>
            </a:r>
            <a:r>
              <a:rPr sz="1050" b="0" dirty="0" err="1">
                <a:solidFill>
                  <a:srgbClr val="CBD5E1"/>
                </a:solidFill>
                <a:latin typeface="Consolas"/>
              </a:rPr>
              <a:t>Kconfig</a:t>
            </a:r>
            <a:r>
              <a:rPr sz="1050" b="0" dirty="0">
                <a:solidFill>
                  <a:srgbClr val="CBD5E1"/>
                </a:solidFill>
                <a:latin typeface="Consolas"/>
              </a:rPr>
              <a:t>  settings: {</a:t>
            </a:r>
            <a:r>
              <a:rPr sz="1050" b="0" dirty="0" err="1">
                <a:solidFill>
                  <a:srgbClr val="CBD5E1"/>
                </a:solidFill>
                <a:latin typeface="Consolas"/>
              </a:rPr>
              <a:t>dts_root</a:t>
            </a:r>
            <a:r>
              <a:rPr sz="1050" b="0" dirty="0">
                <a:solidFill>
                  <a:srgbClr val="CBD5E1"/>
                </a:solidFill>
                <a:latin typeface="Consolas"/>
              </a:rPr>
              <a:t>: .}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960120"/>
            <a:ext cx="4005072" cy="52578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364992" cy="320040"/>
          </a:xfrm>
          <a:prstGeom prst="roundRect">
            <a:avLst>
              <a:gd name="adj" fmla="val 50000"/>
            </a:avLst>
          </a:prstGeom>
          <a:solidFill>
            <a:srgbClr val="1E2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0" y="1691640"/>
            <a:ext cx="336499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dirty="0">
                <a:solidFill>
                  <a:srgbClr val="06B6D4"/>
                </a:solidFill>
                <a:latin typeface="Segoe UI"/>
              </a:rPr>
              <a:t>MODULE CATEGORIES IN OUR TREE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336499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FFFFFF"/>
                </a:solidFill>
                <a:latin typeface="Segoe UI"/>
              </a:rPr>
              <a:t>modules/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651760"/>
            <a:ext cx="3364992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dirty="0" err="1">
                <a:solidFill>
                  <a:srgbClr val="CBD5E1"/>
                </a:solidFill>
                <a:latin typeface="Segoe UI"/>
              </a:rPr>
              <a:t>hal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/  —  st, stm32,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cmsis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, cmsis_6,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libmetal</a:t>
            </a:r>
            <a:endParaRPr sz="1150" b="0" dirty="0">
              <a:solidFill>
                <a:srgbClr val="CBD5E1"/>
              </a:solidFill>
              <a:latin typeface="Segoe UI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dirty="0">
                <a:solidFill>
                  <a:srgbClr val="CBD5E1"/>
                </a:solidFill>
                <a:latin typeface="Segoe UI"/>
              </a:rPr>
              <a:t>lib/  — 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zcbor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littlefs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nanopb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openthread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,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dirty="0">
                <a:solidFill>
                  <a:srgbClr val="CBD5E1"/>
                </a:solidFill>
                <a:latin typeface="Segoe UI"/>
              </a:rPr>
              <a:t>     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lvgl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hostap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picolibc</a:t>
            </a:r>
            <a:endParaRPr sz="1150" b="0" dirty="0">
              <a:solidFill>
                <a:srgbClr val="CBD5E1"/>
              </a:solidFill>
              <a:latin typeface="Segoe UI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dirty="0">
                <a:solidFill>
                  <a:srgbClr val="CBD5E1"/>
                </a:solidFill>
                <a:latin typeface="Segoe UI"/>
              </a:rPr>
              <a:t>crypto/  — 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mbedtls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, mbedtls-3.6,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dirty="0">
                <a:solidFill>
                  <a:srgbClr val="CBD5E1"/>
                </a:solidFill>
                <a:latin typeface="Segoe UI"/>
              </a:rPr>
              <a:t>      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tf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-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psa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-crypto,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mldsa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-native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dirty="0">
                <a:solidFill>
                  <a:srgbClr val="CBD5E1"/>
                </a:solidFill>
                <a:latin typeface="Segoe UI"/>
              </a:rPr>
              <a:t>fs/  — 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fatfs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littlefs</a:t>
            </a:r>
            <a:endParaRPr sz="1150" b="0" dirty="0">
              <a:solidFill>
                <a:srgbClr val="CBD5E1"/>
              </a:solidFill>
              <a:latin typeface="Segoe UI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dirty="0">
                <a:solidFill>
                  <a:srgbClr val="CBD5E1"/>
                </a:solidFill>
                <a:latin typeface="Segoe UI"/>
              </a:rPr>
              <a:t>debug/  — 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segger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percepio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mipi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-sys-t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dirty="0">
                <a:solidFill>
                  <a:srgbClr val="CBD5E1"/>
                </a:solidFill>
                <a:latin typeface="Segoe UI"/>
              </a:rPr>
              <a:t>tee/  — 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tf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-a, </a:t>
            </a:r>
            <a:r>
              <a:rPr sz="1150" b="0" dirty="0" err="1">
                <a:solidFill>
                  <a:srgbClr val="CBD5E1"/>
                </a:solidFill>
                <a:latin typeface="Segoe UI"/>
              </a:rPr>
              <a:t>tf</a:t>
            </a:r>
            <a:r>
              <a:rPr sz="1150" b="0" dirty="0">
                <a:solidFill>
                  <a:srgbClr val="CBD5E1"/>
                </a:solidFill>
                <a:latin typeface="Segoe UI"/>
              </a:rPr>
              <a:t>-m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dirty="0">
                <a:solidFill>
                  <a:srgbClr val="CBD5E1"/>
                </a:solidFill>
                <a:latin typeface="Segoe UI"/>
              </a:rPr>
              <a:t>sensor/st_vl53l8cx  —  our custom driver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301752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dirty="0">
                <a:latin typeface="Rockwell" panose="02060603020205020403" pitchFamily="18" charset="0"/>
              </a:rPr>
              <a:t>Top-Level Layout: </a:t>
            </a:r>
            <a:r>
              <a:rPr sz="3200" b="1" dirty="0" err="1">
                <a:latin typeface="Rockwell" panose="02060603020205020403" pitchFamily="18" charset="0"/>
              </a:rPr>
              <a:t>zephyr_dev</a:t>
            </a:r>
            <a:r>
              <a:rPr sz="3200" b="1" dirty="0">
                <a:latin typeface="Rockwell" panose="02060603020205020403" pitchFamily="18" charset="0"/>
              </a:rPr>
              <a:t>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10911535" cy="9083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91440" cy="908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1839801"/>
            <a:ext cx="283464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Rockwell" panose="02060603020205020403" pitchFamily="18" charset="0"/>
              </a:rPr>
              <a:t>zephyr_app/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716691"/>
            <a:ext cx="155448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Rockwell" panose="02060603020205020403" pitchFamily="18" charset="0"/>
              </a:rPr>
              <a:t>MANIFEST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1549625"/>
            <a:ext cx="5836615" cy="8265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Rockwell" panose="02060603020205020403" pitchFamily="18" charset="0"/>
              </a:rPr>
              <a:t>Owns west.yml. STM32 app code per board: nucleo_f401re, nucleo_g474re, nucleo_h723zg, nucleo_l432kc, nucleo_n657x0_q, mp2_m33.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71928"/>
            <a:ext cx="10911535" cy="9083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2471928"/>
            <a:ext cx="91440" cy="908304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" y="2802969"/>
            <a:ext cx="283464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Rockwell" panose="02060603020205020403" pitchFamily="18" charset="0"/>
              </a:rPr>
              <a:t>zephyr/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679859"/>
            <a:ext cx="155448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6366F1"/>
                </a:solidFill>
                <a:latin typeface="Rockwell" panose="02060603020205020403" pitchFamily="18" charset="0"/>
              </a:rPr>
              <a:t>UPSTREAM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654371"/>
            <a:ext cx="5836615" cy="543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Rockwell" panose="02060603020205020403" pitchFamily="18" charset="0"/>
              </a:rPr>
              <a:t>Pulled by west update from zephyrproject-rtos/zephyr, pinned to an exact commit.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35096"/>
            <a:ext cx="10911535" cy="9083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0080" y="3435096"/>
            <a:ext cx="91440" cy="9083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3766137"/>
            <a:ext cx="283464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Rockwell" panose="02060603020205020403" pitchFamily="18" charset="0"/>
              </a:rPr>
              <a:t>modules/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643027"/>
            <a:ext cx="155448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6B6D4"/>
                </a:solidFill>
                <a:latin typeface="Rockwell" panose="02060603020205020403" pitchFamily="18" charset="0"/>
              </a:rPr>
              <a:t>VENDOR HAL &amp; LIBS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617539"/>
            <a:ext cx="5836615" cy="543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Rockwell" panose="02060603020205020403" pitchFamily="18" charset="0"/>
              </a:rPr>
              <a:t>hal/, lib/, crypto/, fs/, debug/, tee/, sensor/st_vl53l8cx — each an independent git repo.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98264"/>
            <a:ext cx="10911535" cy="9083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40080" y="4398264"/>
            <a:ext cx="91440" cy="9083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14400" y="4729305"/>
            <a:ext cx="283464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Rockwell" panose="02060603020205020403" pitchFamily="18" charset="0"/>
              </a:rPr>
              <a:t>bootloader/mcuboot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4729306"/>
            <a:ext cx="155448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B981"/>
                </a:solidFill>
                <a:latin typeface="Rockwell" panose="02060603020205020403" pitchFamily="18" charset="0"/>
              </a:rPr>
              <a:t>SECURE BOOT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580707"/>
            <a:ext cx="5836615" cy="543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Rockwell" panose="02060603020205020403" pitchFamily="18" charset="0"/>
              </a:rPr>
              <a:t>Pulled by west update, gated by the workspace's bootloader group-filter.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361432"/>
            <a:ext cx="10911535" cy="9083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40080" y="5361432"/>
            <a:ext cx="91440" cy="908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14400" y="5692473"/>
            <a:ext cx="283464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Rockwell" panose="02060603020205020403" pitchFamily="18" charset="0"/>
              </a:rPr>
              <a:t>pc_application/, pc_tools/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5569363"/>
            <a:ext cx="155448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Rockwell" panose="02060603020205020403" pitchFamily="18" charset="0"/>
              </a:rPr>
              <a:t>HOST COMPANIONS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5543875"/>
            <a:ext cx="5836615" cy="543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475569"/>
                </a:solidFill>
                <a:latin typeface="Rockwell" panose="02060603020205020403" pitchFamily="18" charset="0"/>
              </a:rPr>
              <a:t>A C ranging server and a Qt-based vl53l8_viewer app for the ToF sensor.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365760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modules/ Is a Folder</a:t>
            </a:r>
            <a:r>
              <a:rPr lang="en-GB"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 of</a:t>
            </a:r>
            <a:r>
              <a:rPr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 </a:t>
            </a:r>
            <a:r>
              <a:rPr lang="en-GB"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R</a:t>
            </a:r>
            <a:r>
              <a:rPr sz="3200" b="1" dirty="0" err="1">
                <a:solidFill>
                  <a:srgbClr val="0F172A"/>
                </a:solidFill>
                <a:latin typeface="Rockwell" panose="02060603020205020403" pitchFamily="18" charset="0"/>
              </a:rPr>
              <a:t>epositor</a:t>
            </a:r>
            <a:r>
              <a:rPr lang="en-GB" sz="3200" b="1" dirty="0" err="1">
                <a:solidFill>
                  <a:srgbClr val="0F172A"/>
                </a:solidFill>
                <a:latin typeface="Rockwell" panose="02060603020205020403" pitchFamily="18" charset="0"/>
              </a:rPr>
              <a:t>ies</a:t>
            </a:r>
            <a:endParaRPr sz="3200" b="1" dirty="0">
              <a:solidFill>
                <a:srgbClr val="0F172A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667512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6217920" cy="294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lang="en-US" sz="1600" b="1" dirty="0">
                <a:latin typeface="Rockwell" panose="02060603020205020403" pitchFamily="18" charset="0"/>
              </a:rPr>
              <a:t>It is simply a folder containing many independent repositories</a:t>
            </a:r>
            <a:r>
              <a:rPr lang="en-US" sz="1600" dirty="0">
                <a:latin typeface="Rockwell" panose="02060603020205020403" pitchFamily="18" charset="0"/>
              </a:rPr>
              <a:t>:</a:t>
            </a:r>
            <a:endParaRPr lang="en-GB" sz="1600" dirty="0">
              <a:solidFill>
                <a:srgbClr val="2563EB"/>
              </a:solidFill>
              <a:latin typeface="Rockwell" panose="02060603020205020403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>
                <a:latin typeface="Rockwell" panose="02060603020205020403" pitchFamily="18" charset="0"/>
              </a:rPr>
              <a:t>modules/</a:t>
            </a:r>
            <a:r>
              <a:rPr lang="en-US" sz="1400" i="1" dirty="0" err="1">
                <a:latin typeface="Rockwell" panose="02060603020205020403" pitchFamily="18" charset="0"/>
              </a:rPr>
              <a:t>hal</a:t>
            </a:r>
            <a:r>
              <a:rPr lang="en-US" sz="1400" i="1" dirty="0">
                <a:latin typeface="Rockwell" panose="02060603020205020403" pitchFamily="18" charset="0"/>
              </a:rPr>
              <a:t>/stm32/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>
                <a:latin typeface="Rockwell" panose="02060603020205020403" pitchFamily="18" charset="0"/>
              </a:rPr>
              <a:t>modules/</a:t>
            </a:r>
            <a:r>
              <a:rPr lang="en-US" sz="1400" i="1" dirty="0" err="1">
                <a:latin typeface="Rockwell" panose="02060603020205020403" pitchFamily="18" charset="0"/>
              </a:rPr>
              <a:t>hal</a:t>
            </a:r>
            <a:r>
              <a:rPr lang="en-US" sz="1400" i="1" dirty="0">
                <a:latin typeface="Rockwell" panose="02060603020205020403" pitchFamily="18" charset="0"/>
              </a:rPr>
              <a:t>/</a:t>
            </a:r>
            <a:r>
              <a:rPr lang="en-US" sz="1400" i="1" dirty="0" err="1">
                <a:latin typeface="Rockwell" panose="02060603020205020403" pitchFamily="18" charset="0"/>
              </a:rPr>
              <a:t>cmsis</a:t>
            </a:r>
            <a:r>
              <a:rPr lang="en-US" sz="1400" i="1" dirty="0">
                <a:latin typeface="Rockwell" panose="02060603020205020403" pitchFamily="18" charset="0"/>
              </a:rPr>
              <a:t>/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>
                <a:latin typeface="Rockwell" panose="02060603020205020403" pitchFamily="18" charset="0"/>
              </a:rPr>
              <a:t>modules/lib/</a:t>
            </a:r>
            <a:r>
              <a:rPr lang="en-US" sz="1400" i="1" dirty="0" err="1">
                <a:latin typeface="Rockwell" panose="02060603020205020403" pitchFamily="18" charset="0"/>
              </a:rPr>
              <a:t>openthread</a:t>
            </a:r>
            <a:r>
              <a:rPr lang="en-US" sz="1400" i="1" dirty="0">
                <a:latin typeface="Rockwell" panose="02060603020205020403" pitchFamily="18" charset="0"/>
              </a:rPr>
              <a:t>/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>
                <a:latin typeface="Rockwell" panose="02060603020205020403" pitchFamily="18" charset="0"/>
              </a:rPr>
              <a:t>modules/crypto/</a:t>
            </a:r>
            <a:r>
              <a:rPr lang="en-US" sz="1400" i="1" dirty="0" err="1">
                <a:latin typeface="Rockwell" panose="02060603020205020403" pitchFamily="18" charset="0"/>
              </a:rPr>
              <a:t>mbedtls</a:t>
            </a:r>
            <a:r>
              <a:rPr lang="en-US" sz="1400" i="1" dirty="0">
                <a:latin typeface="Rockwell" panose="02060603020205020403" pitchFamily="18" charset="0"/>
              </a:rPr>
              <a:t>/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i="1" dirty="0">
                <a:latin typeface="Rockwell" panose="02060603020205020403" pitchFamily="18" charset="0"/>
              </a:rPr>
              <a:t>modules/sensor/st_vl53l8cx/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1400" i="1" dirty="0">
              <a:latin typeface="Rockwell" panose="02060603020205020403" pitchFamily="18" charset="0"/>
            </a:endParaRPr>
          </a:p>
          <a:p>
            <a:pPr lvl="0"/>
            <a:r>
              <a:rPr lang="en-US" sz="1400" i="1" dirty="0">
                <a:latin typeface="Rockwell" panose="02060603020205020403" pitchFamily="18" charset="0"/>
              </a:rPr>
              <a:t>West manages these repositories</a:t>
            </a:r>
          </a:p>
          <a:p>
            <a:pPr lvl="0"/>
            <a:endParaRPr lang="en-US" sz="1400" i="1" dirty="0">
              <a:latin typeface="Rockwell" panose="02060603020205020403" pitchFamily="18" charset="0"/>
            </a:endParaRPr>
          </a:p>
          <a:p>
            <a:pPr lvl="0"/>
            <a:r>
              <a:rPr lang="en-US" sz="1400" i="1" dirty="0">
                <a:latin typeface="Rockwell" panose="02060603020205020403" pitchFamily="18" charset="0"/>
              </a:rPr>
              <a:t>clones </a:t>
            </a:r>
            <a:r>
              <a:rPr lang="en-US" sz="1400" i="1" dirty="0">
                <a:latin typeface="Rockwell" panose="02060603020205020403" pitchFamily="18" charset="0"/>
                <a:sym typeface="Wingdings" panose="05000000000000000000" pitchFamily="2" charset="2"/>
              </a:rPr>
              <a:t> updates  </a:t>
            </a:r>
            <a:r>
              <a:rPr lang="en-US" sz="1400" i="1" dirty="0" err="1">
                <a:latin typeface="Rockwell" panose="02060603020205020403" pitchFamily="18" charset="0"/>
                <a:sym typeface="Wingdings" panose="05000000000000000000" pitchFamily="2" charset="2"/>
              </a:rPr>
              <a:t>checksout</a:t>
            </a:r>
            <a:r>
              <a:rPr lang="en-US" sz="1400" i="1" dirty="0">
                <a:latin typeface="Rockwell" panose="02060603020205020403" pitchFamily="18" charset="0"/>
                <a:sym typeface="Wingdings" panose="05000000000000000000" pitchFamily="2" charset="2"/>
              </a:rPr>
              <a:t> the required version for each module</a:t>
            </a:r>
            <a:endParaRPr lang="en-US" sz="1400" i="1" dirty="0">
              <a:latin typeface="Rockwell" panose="02060603020205020403" pitchFamily="18" charset="0"/>
            </a:endParaRPr>
          </a:p>
          <a:p>
            <a:pPr>
              <a:spcAft>
                <a:spcPts val="1400"/>
              </a:spcAft>
            </a:pPr>
            <a:endParaRPr lang="en-GB" sz="1600" dirty="0">
              <a:solidFill>
                <a:srgbClr val="2563EB"/>
              </a:solidFill>
              <a:latin typeface="Rockwell" panose="02060603020205020403" pitchFamily="18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0080" y="4937760"/>
            <a:ext cx="6675120" cy="1280160"/>
          </a:xfrm>
          <a:prstGeom prst="roundRect">
            <a:avLst>
              <a:gd name="adj" fmla="val 8000"/>
            </a:avLst>
          </a:prstGeom>
          <a:solidFill>
            <a:srgbClr val="F4F8F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6217920" cy="815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Rockwell" panose="02060603020205020403" pitchFamily="18" charset="0"/>
              </a:rPr>
              <a:t>WORKSPACE AUDIT SNAPSHOT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Rockwell" panose="02060603020205020403" pitchFamily="18" charset="0"/>
              </a:rPr>
              <a:t>hal/st ✓   hal/stm32 ✓   hal/cmsis ✓   lib/openthread ✓   crypto/mbedtls ✓   sensor/st_vl53l8cx 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1508760"/>
            <a:ext cx="4005072" cy="470916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364992" cy="320040"/>
          </a:xfrm>
          <a:prstGeom prst="roundRect">
            <a:avLst>
              <a:gd name="adj" fmla="val 50000"/>
            </a:avLst>
          </a:prstGeom>
          <a:solidFill>
            <a:srgbClr val="1E2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863840" y="1728550"/>
            <a:ext cx="3364992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1600" b="1" dirty="0">
                <a:solidFill>
                  <a:schemeClr val="bg1"/>
                </a:solidFill>
                <a:latin typeface="Rockwell" panose="02060603020205020403" pitchFamily="18" charset="0"/>
              </a:rPr>
              <a:t>A REAL EXAMPLE: VL53L8CX</a:t>
            </a:r>
            <a:endParaRPr sz="1600" b="1" dirty="0">
              <a:solidFill>
                <a:schemeClr val="bg1"/>
              </a:solidFill>
              <a:latin typeface="Rockwell" panose="02060603020205020403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336499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Rockwell" panose="02060603020205020403" pitchFamily="18" charset="0"/>
              </a:rPr>
              <a:t>st_vl53l8cx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651760"/>
            <a:ext cx="3364992" cy="34009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GB" sz="1600" b="0" dirty="0">
                <a:solidFill>
                  <a:schemeClr val="bg1"/>
                </a:solidFill>
                <a:latin typeface="Rockwell" panose="02060603020205020403" pitchFamily="18" charset="0"/>
              </a:rPr>
              <a:t>Before</a:t>
            </a:r>
            <a:r>
              <a:rPr sz="1600" b="0" dirty="0">
                <a:solidFill>
                  <a:schemeClr val="bg1"/>
                </a:solidFill>
                <a:latin typeface="Rockwell" panose="02060603020205020403" pitchFamily="18" charset="0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en-US" dirty="0">
                <a:solidFill>
                  <a:schemeClr val="bg1"/>
                </a:solidFill>
                <a:latin typeface="Rockwell" panose="02060603020205020403" pitchFamily="18" charset="0"/>
              </a:rPr>
              <a:t>st_vl53l8cx</a:t>
            </a:r>
            <a: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  <a:t> was manually placed in the workspace</a:t>
            </a:r>
          </a:p>
          <a:p>
            <a:pPr>
              <a:spcAft>
                <a:spcPts val="600"/>
              </a:spcAft>
            </a:pPr>
            <a:endParaRPr sz="1600" b="0" dirty="0">
              <a:solidFill>
                <a:schemeClr val="bg1"/>
              </a:solidFill>
              <a:latin typeface="Rockwell" panose="02060603020205020403" pitchFamily="18" charset="0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lang="en-GB" sz="1600" b="0" dirty="0">
                <a:solidFill>
                  <a:schemeClr val="bg1"/>
                </a:solidFill>
                <a:latin typeface="Rockwell" panose="02060603020205020403" pitchFamily="18" charset="0"/>
              </a:rPr>
              <a:t>NOW</a:t>
            </a:r>
            <a:r>
              <a:rPr sz="1600" b="0" dirty="0">
                <a:solidFill>
                  <a:schemeClr val="bg1"/>
                </a:solidFill>
                <a:latin typeface="Rockwell" panose="02060603020205020403" pitchFamily="18" charset="0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  <a:t>modules/sensor/st_vl53l8cx/</a:t>
            </a:r>
          </a:p>
          <a:p>
            <a:pPr>
              <a:spcAft>
                <a:spcPts val="600"/>
              </a:spcAft>
            </a:pPr>
            <a: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  <a:t>✅ Independent Git repository</a:t>
            </a:r>
            <a:b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  <a:t>✅ Listed in </a:t>
            </a:r>
            <a:r>
              <a:rPr lang="en-US" dirty="0" err="1">
                <a:solidFill>
                  <a:schemeClr val="bg1"/>
                </a:solidFill>
                <a:latin typeface="Rockwell" panose="02060603020205020403" pitchFamily="18" charset="0"/>
              </a:rPr>
              <a:t>west.yml</a:t>
            </a:r>
            <a:b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  <a:t>✅ West clones and manages it</a:t>
            </a:r>
            <a:b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Rockwell" panose="02060603020205020403" pitchFamily="18" charset="0"/>
              </a:rPr>
              <a:t>✅ Version/commit is controlled by the manifest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09600" y="621792"/>
            <a:ext cx="10909300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 dirty="0">
                <a:solidFill>
                  <a:srgbClr val="0F172A"/>
                </a:solidFill>
                <a:latin typeface="Rockwell" panose="02060603020205020403" pitchFamily="18" charset="0"/>
              </a:rPr>
              <a:t>Zephyr vs. a Classic RTOS Approach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43100"/>
            <a:ext cx="10909300" cy="5969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2000" y="1943100"/>
            <a:ext cx="2006600" cy="5969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Rockwell" panose="02060603020205020403" pitchFamily="18" charset="0"/>
              </a:rPr>
              <a:t>Capability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70200" y="1943100"/>
            <a:ext cx="2692400" cy="5969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Rockwell" panose="02060603020205020403" pitchFamily="18" charset="0"/>
              </a:rPr>
              <a:t>Bare-metal + Vendor HAL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1943100"/>
            <a:ext cx="2819400" cy="5969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Rockwell" panose="02060603020205020403" pitchFamily="18" charset="0"/>
              </a:rPr>
              <a:t>Classic RTOS (FreeRTOS)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943100"/>
            <a:ext cx="2832100" cy="5969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b="1" dirty="0">
                <a:solidFill>
                  <a:srgbClr val="F59E0B"/>
                </a:solidFill>
                <a:latin typeface="Rockwell" panose="02060603020205020403" pitchFamily="18" charset="0"/>
              </a:rPr>
              <a:t>Zephyr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2540000"/>
            <a:ext cx="20066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Scheduler &amp; IPC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0200" y="2540000"/>
            <a:ext cx="26924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0F172A"/>
                </a:solidFill>
                <a:latin typeface="Rockwell" panose="02060603020205020403" pitchFamily="18" charset="0"/>
              </a:rPr>
              <a:t>Manual (user has to do)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540000"/>
            <a:ext cx="28194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0F172A"/>
                </a:solidFill>
                <a:latin typeface="Rockwell" panose="02060603020205020403" pitchFamily="18" charset="0"/>
              </a:rPr>
              <a:t>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540000"/>
            <a:ext cx="28321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Rockwell" panose="02060603020205020403" pitchFamily="18" charset="0"/>
              </a:rPr>
              <a:t>Yes + memory protection, power mgmt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3276600"/>
            <a:ext cx="10909300" cy="7366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62000" y="3276600"/>
            <a:ext cx="20066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Driver model / BSP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70200" y="3276600"/>
            <a:ext cx="26924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Rockwell" panose="02060603020205020403" pitchFamily="18" charset="0"/>
              </a:rPr>
              <a:t>Vendor HAL, per-MCU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276600"/>
            <a:ext cx="28194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0F172A"/>
                </a:solidFill>
                <a:latin typeface="Rockwell" panose="02060603020205020403" pitchFamily="18" charset="0"/>
              </a:rPr>
              <a:t>Often different for each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0F172A"/>
                </a:solidFill>
                <a:latin typeface="Rockwell" panose="02060603020205020403" pitchFamily="18" charset="0"/>
              </a:rPr>
              <a:t>MCU</a:t>
            </a:r>
            <a:endParaRPr sz="1600" b="0" dirty="0">
              <a:solidFill>
                <a:srgbClr val="0F172A"/>
              </a:solidFill>
              <a:latin typeface="Rockwell" panose="02060603020205020403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0" y="3276600"/>
            <a:ext cx="28321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lang="en-GB" sz="1600" b="1" dirty="0">
                <a:solidFill>
                  <a:srgbClr val="2563EB"/>
                </a:solidFill>
                <a:latin typeface="Rockwell" panose="02060603020205020403" pitchFamily="18" charset="0"/>
              </a:rPr>
              <a:t>Common Driver Model</a:t>
            </a:r>
            <a:endParaRPr sz="1600" b="1" dirty="0">
              <a:solidFill>
                <a:srgbClr val="2563EB"/>
              </a:solidFill>
              <a:latin typeface="Rockwell" panose="02060603020205020403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62000" y="4013200"/>
            <a:ext cx="20066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Networking / BLE / USB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70200" y="4013200"/>
            <a:ext cx="26924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lang="en-GB" sz="1600" b="0" dirty="0">
                <a:solidFill>
                  <a:srgbClr val="0F172A"/>
                </a:solidFill>
                <a:latin typeface="Rockwell" panose="02060603020205020403" pitchFamily="18" charset="0"/>
              </a:rPr>
              <a:t>User has to add and </a:t>
            </a:r>
          </a:p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0F172A"/>
                </a:solidFill>
                <a:latin typeface="Rockwell" panose="02060603020205020403" pitchFamily="18" charset="0"/>
              </a:rPr>
              <a:t>Integrate separately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4013200"/>
            <a:ext cx="28194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1600" dirty="0">
                <a:solidFill>
                  <a:srgbClr val="0F172A"/>
                </a:solidFill>
                <a:latin typeface="Rockwell" panose="02060603020205020403" pitchFamily="18" charset="0"/>
              </a:rPr>
              <a:t>User has to add and </a:t>
            </a:r>
          </a:p>
          <a:p>
            <a:r>
              <a:rPr lang="en-US" sz="1600" dirty="0">
                <a:solidFill>
                  <a:srgbClr val="0F172A"/>
                </a:solidFill>
                <a:latin typeface="Rockwell" panose="02060603020205020403" pitchFamily="18" charset="0"/>
              </a:rPr>
              <a:t>Integrate separately</a:t>
            </a:r>
            <a:endParaRPr sz="1600" b="0" dirty="0">
              <a:solidFill>
                <a:srgbClr val="0F172A"/>
              </a:solidFill>
              <a:latin typeface="Rockwell" panose="02060603020205020403" pitchFamily="18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86800" y="4013200"/>
            <a:ext cx="28321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2563EB"/>
                </a:solidFill>
                <a:latin typeface="Rockwell" panose="02060603020205020403" pitchFamily="18" charset="0"/>
              </a:rPr>
              <a:t>Native, in-tree, tested together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749800"/>
            <a:ext cx="10909300" cy="736600"/>
          </a:xfrm>
          <a:prstGeom prst="rect">
            <a:avLst/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62000" y="4749800"/>
            <a:ext cx="20066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Fieldbus (Modbus, CAN)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70200" y="4749800"/>
            <a:ext cx="26924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1600" dirty="0">
                <a:solidFill>
                  <a:srgbClr val="0F172A"/>
                </a:solidFill>
                <a:latin typeface="Rockwell" panose="02060603020205020403" pitchFamily="18" charset="0"/>
              </a:rPr>
              <a:t>Manually add a library (third party)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749800"/>
            <a:ext cx="28321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Rockwell" panose="02060603020205020403" pitchFamily="18" charset="0"/>
              </a:rPr>
              <a:t>In-tree Modbus &amp; CAN subsystems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5486400"/>
            <a:ext cx="20066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Config &amp; build system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70200" y="5486400"/>
            <a:ext cx="26924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0F172A"/>
                </a:solidFill>
                <a:latin typeface="Rockwell" panose="02060603020205020403" pitchFamily="18" charset="0"/>
              </a:rPr>
              <a:t>Vendor IDE / </a:t>
            </a:r>
            <a:r>
              <a:rPr lang="en-GB" sz="1600" dirty="0">
                <a:solidFill>
                  <a:srgbClr val="0F172A"/>
                </a:solidFill>
                <a:latin typeface="Rockwell" panose="02060603020205020403" pitchFamily="18" charset="0"/>
              </a:rPr>
              <a:t>tools</a:t>
            </a:r>
            <a:endParaRPr sz="1600" b="0" dirty="0">
              <a:solidFill>
                <a:srgbClr val="0F172A"/>
              </a:solidFill>
              <a:latin typeface="Rockwell" panose="02060603020205020403" pitchFamily="18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715000" y="5486400"/>
            <a:ext cx="28194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1600" dirty="0">
                <a:solidFill>
                  <a:srgbClr val="0F172A"/>
                </a:solidFill>
                <a:latin typeface="Rockwell" panose="02060603020205020403" pitchFamily="18" charset="0"/>
              </a:rPr>
              <a:t>Vendor IDE / tools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486400"/>
            <a:ext cx="28321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dirty="0" err="1">
                <a:solidFill>
                  <a:srgbClr val="2563EB"/>
                </a:solidFill>
                <a:latin typeface="Rockwell" panose="02060603020205020403" pitchFamily="18" charset="0"/>
              </a:rPr>
              <a:t>Kconfig</a:t>
            </a:r>
            <a:r>
              <a:rPr sz="1600" b="1" dirty="0">
                <a:solidFill>
                  <a:srgbClr val="2563EB"/>
                </a:solidFill>
                <a:latin typeface="Rockwell" panose="02060603020205020403" pitchFamily="18" charset="0"/>
              </a:rPr>
              <a:t> + </a:t>
            </a:r>
            <a:r>
              <a:rPr sz="1600" b="1" dirty="0" err="1">
                <a:solidFill>
                  <a:srgbClr val="2563EB"/>
                </a:solidFill>
                <a:latin typeface="Rockwell" panose="02060603020205020403" pitchFamily="18" charset="0"/>
              </a:rPr>
              <a:t>Devicetree</a:t>
            </a:r>
            <a:r>
              <a:rPr sz="1600" b="1" dirty="0">
                <a:solidFill>
                  <a:srgbClr val="2563EB"/>
                </a:solidFill>
                <a:latin typeface="Rockwell" panose="02060603020205020403" pitchFamily="18" charset="0"/>
              </a:rPr>
              <a:t> + west/</a:t>
            </a:r>
            <a:r>
              <a:rPr sz="1600" b="1" dirty="0" err="1">
                <a:solidFill>
                  <a:srgbClr val="2563EB"/>
                </a:solidFill>
                <a:latin typeface="Rockwell" panose="02060603020205020403" pitchFamily="18" charset="0"/>
              </a:rPr>
              <a:t>CMake</a:t>
            </a:r>
            <a:endParaRPr sz="1600" b="1" dirty="0">
              <a:solidFill>
                <a:srgbClr val="2563EB"/>
              </a:solidFill>
              <a:latin typeface="Rockwell" panose="02060603020205020403" pitchFamily="18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90437B2-2AD1-52FB-550C-0EBEC48579D3}"/>
              </a:ext>
            </a:extLst>
          </p:cNvPr>
          <p:cNvSpPr txBox="1"/>
          <p:nvPr/>
        </p:nvSpPr>
        <p:spPr>
          <a:xfrm>
            <a:off x="609600" y="1291421"/>
            <a:ext cx="109093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Rockwell" panose="02060603020205020403" pitchFamily="18" charset="0"/>
              </a:rPr>
              <a:t>Zephyr brings the RTOS, drivers, middleware and build system together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B61F195-F407-C3BA-FFBA-E5D63BC935D8}"/>
              </a:ext>
            </a:extLst>
          </p:cNvPr>
          <p:cNvSpPr txBox="1"/>
          <p:nvPr/>
        </p:nvSpPr>
        <p:spPr>
          <a:xfrm>
            <a:off x="5715000" y="4749800"/>
            <a:ext cx="2819400" cy="7366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1600" dirty="0">
                <a:latin typeface="Rockwell" panose="02060603020205020403" pitchFamily="18" charset="0"/>
              </a:rPr>
              <a:t>Manually add a library (third party)</a:t>
            </a:r>
            <a:endParaRPr sz="1600" b="0" dirty="0">
              <a:solidFill>
                <a:srgbClr val="0F172A"/>
              </a:solidFill>
              <a:latin typeface="Rockwell" panose="02060603020205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2714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B9CA36-1225-4639-8353-8D6455CEC91E}"/>
              </a:ext>
            </a:extLst>
          </p:cNvPr>
          <p:cNvSpPr txBox="1"/>
          <p:nvPr/>
        </p:nvSpPr>
        <p:spPr>
          <a:xfrm>
            <a:off x="635000" y="221381"/>
            <a:ext cx="10922000" cy="896219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 dirty="0">
                <a:solidFill>
                  <a:srgbClr val="0F172A"/>
                </a:solidFill>
                <a:latin typeface="Rockwell"/>
              </a:rPr>
              <a:t>Performance: STM32Cube HAL vs. ST Low-Layer in Zephyr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14413-C2F6-4E40-A8B9-E7BD3F244976}"/>
              </a:ext>
            </a:extLst>
          </p:cNvPr>
          <p:cNvSpPr txBox="1"/>
          <p:nvPr/>
        </p:nvSpPr>
        <p:spPr>
          <a:xfrm>
            <a:off x="635000" y="1193800"/>
            <a:ext cx="1092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latin typeface="Rockwell"/>
              </a:rPr>
              <a:t>Cost of the same I²C operation in each driver layer — cycles are CPU work, not bus time (NUCLEO-F401RE @ 84 MHz)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F411985-5B57-45AE-A2A8-DA561E59A9E0}"/>
              </a:ext>
            </a:extLst>
          </p:cNvPr>
          <p:cNvSpPr/>
          <p:nvPr/>
        </p:nvSpPr>
        <p:spPr>
          <a:xfrm>
            <a:off x="635000" y="5118500"/>
            <a:ext cx="10922000" cy="711200"/>
          </a:xfrm>
          <a:prstGeom prst="roundRect">
            <a:avLst/>
          </a:prstGeom>
          <a:solidFill>
            <a:srgbClr val="0F172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BE8561-CB39-45CA-943C-8906A48D9C77}"/>
              </a:ext>
            </a:extLst>
          </p:cNvPr>
          <p:cNvSpPr txBox="1"/>
          <p:nvPr/>
        </p:nvSpPr>
        <p:spPr>
          <a:xfrm>
            <a:off x="863600" y="5080000"/>
            <a:ext cx="10464800" cy="711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400" dirty="0">
                <a:solidFill>
                  <a:srgbClr val="E2E8F0"/>
                </a:solidFill>
                <a:latin typeface="Rockwell"/>
              </a:rPr>
              <a:t>LL_I2C_TransmitData8() is one opcode:  MODIFY_REG(I2Cx-&gt;DR, I2C_DR_DR, Data);  →  </a:t>
            </a:r>
            <a:r>
              <a:rPr lang="en-US" sz="1400" dirty="0" err="1">
                <a:solidFill>
                  <a:srgbClr val="E2E8F0"/>
                </a:solidFill>
                <a:latin typeface="Rockwell"/>
              </a:rPr>
              <a:t>strb</a:t>
            </a:r>
            <a:r>
              <a:rPr lang="en-US" sz="1400" dirty="0">
                <a:solidFill>
                  <a:srgbClr val="E2E8F0"/>
                </a:solidFill>
                <a:latin typeface="Rockwell"/>
              </a:rPr>
              <a:t> r1, [r0, #16]
Footprint per peripheral: 2.5–4.0 KB Flash and 48–64 B stack per HAL call, vs 400–800 B and zero stack for </a:t>
            </a:r>
            <a:r>
              <a:rPr lang="en-US" sz="1400" dirty="0" err="1">
                <a:solidFill>
                  <a:srgbClr val="E2E8F0"/>
                </a:solidFill>
                <a:latin typeface="Rockwell"/>
              </a:rPr>
              <a:t>inlined</a:t>
            </a:r>
            <a:r>
              <a:rPr lang="en-US" sz="1400" dirty="0">
                <a:solidFill>
                  <a:srgbClr val="E2E8F0"/>
                </a:solidFill>
                <a:latin typeface="Rockwell"/>
              </a:rPr>
              <a:t> LL macros.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453579-7B00-4F8E-BBC1-F7E7D6BF994C}"/>
              </a:ext>
            </a:extLst>
          </p:cNvPr>
          <p:cNvSpPr txBox="1"/>
          <p:nvPr/>
        </p:nvSpPr>
        <p:spPr>
          <a:xfrm>
            <a:off x="635000" y="6103752"/>
            <a:ext cx="10922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64748B"/>
                </a:solidFill>
                <a:latin typeface="Rockwell"/>
              </a:rPr>
              <a:t>Sources: ST UM1785 / UM1850; Zephyr i2c_stm32.c; NUCLEO-F401RE + X-NUCLEO-53L8A1 shield.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FCEAA06-6D13-4C85-A3B1-BD081E4F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05551"/>
              </p:ext>
            </p:extLst>
          </p:nvPr>
        </p:nvGraphicFramePr>
        <p:xfrm>
          <a:off x="635000" y="1600200"/>
          <a:ext cx="109220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500">
                  <a:extLst>
                    <a:ext uri="{9D8B030D-6E8A-4147-A177-3AD203B41FA5}">
                      <a16:colId xmlns:a16="http://schemas.microsoft.com/office/drawing/2014/main" val="4046611586"/>
                    </a:ext>
                  </a:extLst>
                </a:gridCol>
                <a:gridCol w="3683000">
                  <a:extLst>
                    <a:ext uri="{9D8B030D-6E8A-4147-A177-3AD203B41FA5}">
                      <a16:colId xmlns:a16="http://schemas.microsoft.com/office/drawing/2014/main" val="3633099818"/>
                    </a:ext>
                  </a:extLst>
                </a:gridCol>
                <a:gridCol w="3492500">
                  <a:extLst>
                    <a:ext uri="{9D8B030D-6E8A-4147-A177-3AD203B41FA5}">
                      <a16:colId xmlns:a16="http://schemas.microsoft.com/office/drawing/2014/main" val="82139999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293621410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  <a:latin typeface="Rockwell"/>
                        </a:rPr>
                        <a:t>Operation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  <a:latin typeface="Rockwell"/>
                        </a:rPr>
                        <a:t>STM32Cube HAL call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  <a:latin typeface="Rockwell"/>
                        </a:rPr>
                        <a:t>Zephyr + ST LL call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FFFFFF"/>
                          </a:solidFill>
                          <a:latin typeface="Rockwell"/>
                        </a:rPr>
                        <a:t>Gain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76804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0F172A"/>
                          </a:solidFill>
                          <a:latin typeface="Rockwell"/>
                        </a:rPr>
                        <a:t>Write one byte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0F172A"/>
                          </a:solidFill>
                          <a:latin typeface="Rockwell"/>
                        </a:rPr>
                        <a:t>HAL_I2C_Master_Transmit() — 120–250 CPU cycles of driver overhead per byte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0F172A"/>
                          </a:solidFill>
                          <a:latin typeface="Rockwell"/>
                        </a:rPr>
                        <a:t>LL_I2C_TransmitData8() — compiles to 1 opcode (12–24 ns)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563EB"/>
                          </a:solidFill>
                          <a:latin typeface="Rockwell"/>
                        </a:rPr>
                        <a:t>~150x less CPU 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584655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0F172A"/>
                          </a:solidFill>
                          <a:latin typeface="Rockwell"/>
                        </a:rPr>
                        <a:t>Check a status flag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0F172A"/>
                          </a:solidFill>
                          <a:latin typeface="Rockwell"/>
                        </a:rPr>
                        <a:t>I2C_WaitOnFlagUntilTimeout() + HAL_GetTick() on every byte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0F172A"/>
                          </a:solidFill>
                          <a:latin typeface="Rockwell"/>
                        </a:rPr>
                        <a:t>LL_I2C_IsActiveFlag_TXE() — one register read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563EB"/>
                          </a:solidFill>
                          <a:latin typeface="Rockwell"/>
                        </a:rPr>
                        <a:t>No polling loop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251335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0F172A"/>
                          </a:solidFill>
                          <a:latin typeface="Rockwell"/>
                        </a:rPr>
                        <a:t>Handle the interrupt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0F172A"/>
                          </a:solidFill>
                          <a:latin typeface="Rockwell"/>
                        </a:rPr>
                        <a:t>HAL_I2C_EV_IRQHandler() — branchy, 80–150 cycles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0F172A"/>
                          </a:solidFill>
                          <a:latin typeface="Rockwell"/>
                        </a:rPr>
                        <a:t>i2c_stm32_isr() — fixed 5–10 cycles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563EB"/>
                          </a:solidFill>
                          <a:latin typeface="Rockwell"/>
                        </a:rPr>
                        <a:t>&gt; 15x faster, jitter-free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511978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0F172A"/>
                          </a:solidFill>
                          <a:latin typeface="Rockwell"/>
                        </a:rPr>
                        <a:t>Wait for completion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0F172A"/>
                          </a:solidFill>
                          <a:latin typeface="Rockwell"/>
                        </a:rPr>
                        <a:t>Blocking timeout loop — CPU pinned at ~98%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>
                          <a:solidFill>
                            <a:srgbClr val="0F172A"/>
                          </a:solidFill>
                          <a:latin typeface="Rockwell"/>
                        </a:rPr>
                        <a:t>k_sem_take() — thread sleeps, CPU &lt; 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563EB"/>
                          </a:solidFill>
                          <a:latin typeface="Rockwell"/>
                        </a:rPr>
                        <a:t>&gt; 95% CPU freed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32181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0F172A"/>
                          </a:solidFill>
                          <a:latin typeface="Rockwell"/>
                        </a:rPr>
                        <a:t>Send the 32 KB firmware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solidFill>
                            <a:srgbClr val="0F172A"/>
                          </a:solidFill>
                          <a:latin typeface="Rockwell"/>
                        </a:rPr>
                        <a:t>HAL_I2C_Mem_Write() — ~740 </a:t>
                      </a:r>
                      <a:r>
                        <a:rPr lang="en-US" sz="1400" b="0" dirty="0" err="1">
                          <a:solidFill>
                            <a:srgbClr val="0F172A"/>
                          </a:solidFill>
                          <a:latin typeface="Rockwell"/>
                        </a:rPr>
                        <a:t>ms</a:t>
                      </a:r>
                      <a:r>
                        <a:rPr lang="en-US" sz="1400" b="0" dirty="0">
                          <a:solidFill>
                            <a:srgbClr val="0F172A"/>
                          </a:solidFill>
                          <a:latin typeface="Rockwell"/>
                        </a:rPr>
                        <a:t> of busy-wait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solidFill>
                            <a:srgbClr val="0F172A"/>
                          </a:solidFill>
                          <a:latin typeface="Rockwell"/>
                        </a:rPr>
                        <a:t>i2c_write_dt() — same 740 </a:t>
                      </a:r>
                      <a:r>
                        <a:rPr lang="en-US" sz="1400" b="0" dirty="0" err="1">
                          <a:solidFill>
                            <a:srgbClr val="0F172A"/>
                          </a:solidFill>
                          <a:latin typeface="Rockwell"/>
                        </a:rPr>
                        <a:t>ms</a:t>
                      </a:r>
                      <a:r>
                        <a:rPr lang="en-US" sz="1400" b="0" dirty="0">
                          <a:solidFill>
                            <a:srgbClr val="0F172A"/>
                          </a:solidFill>
                          <a:latin typeface="Rockwell"/>
                        </a:rPr>
                        <a:t> on the bus, &lt; 0.6 </a:t>
                      </a:r>
                      <a:r>
                        <a:rPr lang="en-US" sz="1400" b="0" dirty="0" err="1">
                          <a:solidFill>
                            <a:srgbClr val="0F172A"/>
                          </a:solidFill>
                          <a:latin typeface="Rockwell"/>
                        </a:rPr>
                        <a:t>ms</a:t>
                      </a:r>
                      <a:r>
                        <a:rPr lang="en-US" sz="1400" b="0" dirty="0">
                          <a:solidFill>
                            <a:srgbClr val="0F172A"/>
                          </a:solidFill>
                          <a:latin typeface="Rockwell"/>
                        </a:rPr>
                        <a:t> of CPU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563EB"/>
                          </a:solidFill>
                          <a:latin typeface="Rockwell"/>
                        </a:rPr>
                        <a:t>Bus-bound, not CPU-bound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5717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7736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40080" y="2606040"/>
            <a:ext cx="10911535" cy="1737360"/>
          </a:xfrm>
          <a:prstGeom prst="roundRect">
            <a:avLst>
              <a:gd name="adj" fmla="val 6000"/>
            </a:avLst>
          </a:prstGeom>
          <a:solidFill>
            <a:srgbClr val="ECF2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757638"/>
            <a:ext cx="96012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VL53L8CX</a:t>
            </a:r>
            <a:r>
              <a:rPr sz="3000" b="1" dirty="0">
                <a:solidFill>
                  <a:srgbClr val="0F172A"/>
                </a:solidFill>
                <a:latin typeface="Rockwell" panose="02060603020205020403" pitchFamily="18" charset="0"/>
              </a:rPr>
              <a:t> Driver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2787"/>
            <a:ext cx="9601200" cy="6080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dirty="0">
                <a:latin typeface="Rockwell" panose="02060603020205020403" pitchFamily="18" charset="0"/>
              </a:rPr>
              <a:t>A clean, production-grade Zephyr sensor driver for STMicroelectronics' 8x8 multizone direct Time-of-Flight (</a:t>
            </a:r>
            <a:r>
              <a:rPr sz="1600" b="0" dirty="0" err="1">
                <a:latin typeface="Rockwell" panose="02060603020205020403" pitchFamily="18" charset="0"/>
              </a:rPr>
              <a:t>dToF</a:t>
            </a:r>
            <a:r>
              <a:rPr sz="1600" b="0" dirty="0">
                <a:latin typeface="Rockwell" panose="02060603020205020403" pitchFamily="18" charset="0"/>
              </a:rPr>
              <a:t>) ranging sensor.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1947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Segoe UI"/>
              </a:rPr>
              <a:t>12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7315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dirty="0">
                <a:solidFill>
                  <a:srgbClr val="2563EB"/>
                </a:solidFill>
                <a:latin typeface="Rockwell" panose="02060603020205020403" pitchFamily="18" charset="0"/>
              </a:rPr>
              <a:t>VL53L8CX 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058400" cy="9848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3200" b="1" dirty="0">
                <a:latin typeface="Rockwell" panose="02060603020205020403" pitchFamily="18" charset="0"/>
              </a:rPr>
              <a:t>VL53L8CX : Adding Multizone ToF Support to Zephyr</a:t>
            </a:r>
            <a:endParaRPr sz="3200" b="1" dirty="0">
              <a:solidFill>
                <a:srgbClr val="0F172A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0080" y="1678042"/>
            <a:ext cx="6675120" cy="453987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6217920" cy="4134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lang="en-US" b="1" i="1" dirty="0">
                <a:latin typeface="Rockwell" panose="02060603020205020403" pitchFamily="18" charset="0"/>
              </a:rPr>
              <a:t>A sensor family that currently has no native Zephyr driver</a:t>
            </a:r>
            <a:endParaRPr lang="en-GB" b="1" i="1" dirty="0">
              <a:solidFill>
                <a:srgbClr val="2563EB"/>
              </a:solidFill>
              <a:latin typeface="Rockwell" panose="02060603020205020403" pitchFamily="18" charset="0"/>
            </a:endParaRPr>
          </a:p>
          <a:p>
            <a:pPr>
              <a:spcAft>
                <a:spcPts val="1400"/>
              </a:spcAft>
            </a:pPr>
            <a:r>
              <a:rPr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b="1" dirty="0">
                <a:solidFill>
                  <a:srgbClr val="0F172A"/>
                </a:solidFill>
                <a:latin typeface="Rockwell" panose="02060603020205020403" pitchFamily="18" charset="0"/>
              </a:rPr>
              <a:t>ST VL53L8CX 8x8 multizone ToF:</a:t>
            </a:r>
            <a:r>
              <a:rPr lang="en-GB" b="1" dirty="0">
                <a:solidFill>
                  <a:srgbClr val="0F172A"/>
                </a:solidFill>
                <a:latin typeface="Rockwell" panose="02060603020205020403" pitchFamily="18" charset="0"/>
              </a:rPr>
              <a:t> </a:t>
            </a:r>
            <a:r>
              <a:rPr lang="en-US" dirty="0">
                <a:latin typeface="Rockwell" panose="02060603020205020403" pitchFamily="18" charset="0"/>
              </a:rPr>
              <a:t>VL53L8CX provides </a:t>
            </a:r>
            <a:r>
              <a:rPr lang="en-US" b="1" dirty="0">
                <a:latin typeface="Rockwell" panose="02060603020205020403" pitchFamily="18" charset="0"/>
              </a:rPr>
              <a:t>64 ranging zones</a:t>
            </a:r>
            <a:r>
              <a:rPr lang="en-US" dirty="0">
                <a:latin typeface="Rockwell" panose="02060603020205020403" pitchFamily="18" charset="0"/>
              </a:rPr>
              <a:t>, giving us much more spatial information than a single-zone distance sensor</a:t>
            </a:r>
            <a:r>
              <a:rPr b="0" dirty="0">
                <a:solidFill>
                  <a:srgbClr val="475569"/>
                </a:solidFill>
                <a:latin typeface="Rockwell" panose="02060603020205020403" pitchFamily="18" charset="0"/>
              </a:rPr>
              <a:t>.</a:t>
            </a:r>
          </a:p>
          <a:p>
            <a:pPr>
              <a:spcAft>
                <a:spcPts val="1400"/>
              </a:spcAft>
            </a:pPr>
            <a:r>
              <a:rPr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b="1" dirty="0">
                <a:solidFill>
                  <a:srgbClr val="0F172A"/>
                </a:solidFill>
                <a:latin typeface="Rockwell" panose="02060603020205020403" pitchFamily="18" charset="0"/>
              </a:rPr>
              <a:t>Existing Zephyr single-zone drivers: </a:t>
            </a:r>
            <a:r>
              <a:rPr b="0" dirty="0">
                <a:latin typeface="Rockwell" panose="02060603020205020403" pitchFamily="18" charset="0"/>
              </a:rPr>
              <a:t>VL53L0X and VL53L1X only — both single-zone, older sensors.</a:t>
            </a:r>
          </a:p>
          <a:p>
            <a:pPr>
              <a:spcAft>
                <a:spcPts val="1400"/>
              </a:spcAft>
            </a:pPr>
            <a:r>
              <a:rPr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b="1" dirty="0">
                <a:solidFill>
                  <a:srgbClr val="0F172A"/>
                </a:solidFill>
                <a:latin typeface="Rockwell" panose="02060603020205020403" pitchFamily="18" charset="0"/>
              </a:rPr>
              <a:t>Zero multizone support in Zephyr: </a:t>
            </a:r>
            <a:r>
              <a:rPr lang="en-GB" b="1" dirty="0">
                <a:solidFill>
                  <a:srgbClr val="0F172A"/>
                </a:solidFill>
                <a:latin typeface="Rockwell" panose="02060603020205020403" pitchFamily="18" charset="0"/>
              </a:rPr>
              <a:t> </a:t>
            </a:r>
            <a:r>
              <a:rPr b="0" dirty="0">
                <a:latin typeface="Rockwell" panose="02060603020205020403" pitchFamily="18" charset="0"/>
              </a:rPr>
              <a:t>no driver anywhere in git history for VL53L5/7/8/9CX.</a:t>
            </a:r>
          </a:p>
          <a:p>
            <a:pPr>
              <a:spcAft>
                <a:spcPts val="1400"/>
              </a:spcAft>
            </a:pPr>
            <a:r>
              <a:rPr dirty="0">
                <a:solidFill>
                  <a:srgbClr val="2563EB"/>
                </a:solidFill>
                <a:latin typeface="Rockwell" panose="02060603020205020403" pitchFamily="18" charset="0"/>
              </a:rPr>
              <a:t>■  </a:t>
            </a:r>
            <a:r>
              <a:rPr lang="en-GB" b="1" dirty="0">
                <a:solidFill>
                  <a:srgbClr val="0F172A"/>
                </a:solidFill>
                <a:latin typeface="Rockwell" panose="02060603020205020403" pitchFamily="18" charset="0"/>
              </a:rPr>
              <a:t>So we built one</a:t>
            </a:r>
            <a:r>
              <a:rPr b="1" dirty="0">
                <a:solidFill>
                  <a:srgbClr val="0F172A"/>
                </a:solidFill>
                <a:latin typeface="Rockwell" panose="02060603020205020403" pitchFamily="18" charset="0"/>
              </a:rPr>
              <a:t>:</a:t>
            </a:r>
            <a:r>
              <a:rPr lang="en-GB" b="1" dirty="0">
                <a:solidFill>
                  <a:srgbClr val="0F172A"/>
                </a:solidFill>
                <a:latin typeface="Rockwell" panose="02060603020205020403" pitchFamily="18" charset="0"/>
              </a:rPr>
              <a:t> </a:t>
            </a:r>
            <a:r>
              <a:rPr lang="en-US" dirty="0">
                <a:latin typeface="Rockwell" panose="02060603020205020403" pitchFamily="18" charset="0"/>
              </a:rPr>
              <a:t>The goal is to bring the VL53L8CX into the Zephyr sensor framework and make it usable like other Zephyr sensors.</a:t>
            </a:r>
            <a:endParaRPr b="0" dirty="0">
              <a:solidFill>
                <a:srgbClr val="475569"/>
              </a:solidFill>
              <a:latin typeface="Rockwell" panose="02060603020205020403" pitchFamily="18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543800" y="1508760"/>
            <a:ext cx="4005072" cy="470916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863840" y="1691640"/>
            <a:ext cx="3364992" cy="320040"/>
          </a:xfrm>
          <a:prstGeom prst="roundRect">
            <a:avLst>
              <a:gd name="adj" fmla="val 50000"/>
            </a:avLst>
          </a:prstGeom>
          <a:solidFill>
            <a:srgbClr val="1E2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latin typeface="Rockwell" panose="02060603020205020403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63840" y="1728550"/>
            <a:ext cx="3364992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sz="1600" b="1" dirty="0">
                <a:solidFill>
                  <a:srgbClr val="06B6D4"/>
                </a:solidFill>
                <a:latin typeface="Rockwell" panose="02060603020205020403" pitchFamily="18" charset="0"/>
              </a:rPr>
              <a:t>Why it is useful</a:t>
            </a:r>
            <a:endParaRPr sz="1600" b="1" dirty="0">
              <a:solidFill>
                <a:srgbClr val="06B6D4"/>
              </a:solidFill>
              <a:latin typeface="Rockwell" panose="02060603020205020403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36499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Rockwell" panose="02060603020205020403" pitchFamily="18" charset="0"/>
              </a:rPr>
              <a:t>High upstream potential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1300" y="2616200"/>
            <a:ext cx="3365500" cy="34290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dirty="0">
                <a:solidFill>
                  <a:srgbClr val="E2E8F0"/>
                </a:solidFill>
                <a:latin typeface="Rockwell" panose="02060603020205020403" pitchFamily="18" charset="0"/>
              </a:rPr>
              <a:t>No VL53L5/7/8/9CX driver exists upstream, so this is not duplicated work.</a:t>
            </a:r>
          </a:p>
          <a:p>
            <a:pPr algn="l">
              <a:spcBef>
                <a:spcPts val="1400"/>
              </a:spcBef>
              <a:spcAft>
                <a:spcPts val="200"/>
              </a:spcAft>
            </a:pPr>
            <a:r>
              <a:rPr sz="1600" b="1" dirty="0">
                <a:solidFill>
                  <a:srgbClr val="FFFFFF"/>
                </a:solidFill>
                <a:latin typeface="Rockwell" panose="02060603020205020403" pitchFamily="18" charset="0"/>
              </a:rPr>
              <a:t>New multizone use cases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dirty="0">
                <a:solidFill>
                  <a:srgbClr val="E2E8F0"/>
                </a:solidFill>
                <a:latin typeface="Rockwell" panose="02060603020205020403" pitchFamily="18" charset="0"/>
              </a:rPr>
              <a:t>64 zones enable gesture, presence and obstacle mapping.</a:t>
            </a:r>
          </a:p>
          <a:p>
            <a:pPr algn="l">
              <a:spcBef>
                <a:spcPts val="1400"/>
              </a:spcBef>
              <a:spcAft>
                <a:spcPts val="200"/>
              </a:spcAft>
            </a:pPr>
            <a:r>
              <a:rPr sz="1600" b="1" dirty="0">
                <a:solidFill>
                  <a:srgbClr val="FFFFFF"/>
                </a:solidFill>
                <a:latin typeface="Rockwell" panose="02060603020205020403" pitchFamily="18" charset="0"/>
              </a:rPr>
              <a:t>Standard sensor API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dirty="0">
                <a:solidFill>
                  <a:srgbClr val="E2E8F0"/>
                </a:solidFill>
                <a:latin typeface="Rockwell" panose="02060603020205020403" pitchFamily="18" charset="0"/>
              </a:rPr>
              <a:t>Fetch/get calls behave like any other Zephyr sensor, configured from devicetree.</a:t>
            </a:r>
          </a:p>
        </p:txBody>
      </p:sp>
    </p:spTree>
    <p:extLst>
      <p:ext uri="{BB962C8B-B14F-4D97-AF65-F5344CB8AC3E}">
        <p14:creationId xmlns:p14="http://schemas.microsoft.com/office/powerpoint/2010/main" val="21136451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46408"/>
            <a:ext cx="10058400" cy="9848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3200" dirty="0">
                <a:latin typeface="Rockwell" panose="02060603020205020403" pitchFamily="18" charset="0"/>
              </a:rPr>
              <a:t>VL53L8CX Driver Architecture — Our Code vs. ST Code</a:t>
            </a:r>
            <a:endParaRPr sz="3200" b="1" dirty="0">
              <a:solidFill>
                <a:srgbClr val="0F172A"/>
              </a:solidFill>
              <a:latin typeface="Rockwell" panose="02060603020205020403" pitchFamily="18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35000" y="1511300"/>
            <a:ext cx="7226300" cy="11938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3600" y="1511300"/>
            <a:ext cx="6769100" cy="11938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600" b="1" dirty="0">
                <a:solidFill>
                  <a:srgbClr val="FFFFFF"/>
                </a:solidFill>
                <a:latin typeface="Rockwell" panose="02060603020205020403" pitchFamily="18" charset="0"/>
              </a:rPr>
              <a:t>1. Zephyr Application</a:t>
            </a:r>
          </a:p>
          <a:p>
            <a:pPr algn="l">
              <a:spcAft>
                <a:spcPts val="200"/>
              </a:spcAft>
            </a:pPr>
            <a:r>
              <a:rPr lang="en-US" sz="1600" b="0" dirty="0">
                <a:solidFill>
                  <a:srgbClr val="93C5FD"/>
                </a:solidFill>
                <a:latin typeface="Rockwell" panose="02060603020205020403" pitchFamily="18" charset="0"/>
              </a:rPr>
              <a:t>sensor_sample_fetch()  ·  sensor_channel_get()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CBD5E1"/>
                </a:solidFill>
                <a:latin typeface="Rockwell" panose="02060603020205020403" pitchFamily="18" charset="0"/>
              </a:rPr>
              <a:t>Uses the standard Zephyr sensor API instead of talking to the VL53L8CX directly — one common interface for every sensor driver.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000" y="2870200"/>
            <a:ext cx="7226300" cy="939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3600" y="2870200"/>
            <a:ext cx="6769100" cy="9398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600" b="1" dirty="0">
                <a:solidFill>
                  <a:srgbClr val="FFFFFF"/>
                </a:solidFill>
                <a:latin typeface="Rockwell" panose="02060603020205020403" pitchFamily="18" charset="0"/>
              </a:rPr>
              <a:t>2. Our Zephyr Driver</a:t>
            </a:r>
          </a:p>
          <a:p>
            <a:pPr algn="l">
              <a:spcAft>
                <a:spcPts val="200"/>
              </a:spcAft>
            </a:pPr>
            <a:r>
              <a:rPr lang="en-US" sz="1600" b="0" dirty="0">
                <a:solidFill>
                  <a:srgbClr val="FFFFFF"/>
                </a:solidFill>
                <a:latin typeface="Rockwell" panose="02060603020205020403" pitchFamily="18" charset="0"/>
              </a:rPr>
              <a:t>vl53l8cx.c  ·  platform.c  ·  Devicetree  ·  Kconfig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FFFFFF"/>
                </a:solidFill>
                <a:latin typeface="Rockwell" panose="02060603020205020403" pitchFamily="18" charset="0"/>
              </a:rPr>
              <a:t>Our code — translates Zephyr sensor API ↔ ST's VL53L8CX API.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000" y="3962400"/>
            <a:ext cx="7226300" cy="1193800"/>
          </a:xfrm>
          <a:prstGeom prst="roundRect">
            <a:avLst>
              <a:gd name="adj" fmla="val 12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3600" y="3962400"/>
            <a:ext cx="6769100" cy="11938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3. ST Vendor Code</a:t>
            </a:r>
          </a:p>
          <a:p>
            <a:pPr algn="l">
              <a:spcAft>
                <a:spcPts val="200"/>
              </a:spcAft>
            </a:pPr>
            <a:r>
              <a:rPr lang="en-US" sz="1600" b="0" dirty="0">
                <a:solidFill>
                  <a:srgbClr val="0F172A"/>
                </a:solidFill>
                <a:latin typeface="Rockwell" panose="02060603020205020403" pitchFamily="18" charset="0"/>
              </a:rPr>
              <a:t>vl53l8cx_api.c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0F172A"/>
                </a:solidFill>
                <a:latin typeface="Rockwell" panose="02060603020205020403" pitchFamily="18" charset="0"/>
              </a:rPr>
              <a:t>ST's ranging algorithms and device-specific implementation — we don't modify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000" y="5308600"/>
            <a:ext cx="7226300" cy="91440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63600" y="5308600"/>
            <a:ext cx="6769100" cy="91440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600" b="1" dirty="0">
                <a:solidFill>
                  <a:srgbClr val="0F172A"/>
                </a:solidFill>
                <a:latin typeface="Rockwell" panose="02060603020205020403" pitchFamily="18" charset="0"/>
              </a:rPr>
              <a:t>4. Hardware</a:t>
            </a:r>
          </a:p>
          <a:p>
            <a:pPr algn="l">
              <a:spcAft>
                <a:spcPts val="200"/>
              </a:spcAft>
            </a:pPr>
            <a:r>
              <a:rPr lang="en-US" sz="1600" b="0" dirty="0">
                <a:solidFill>
                  <a:srgbClr val="0F172A"/>
                </a:solidFill>
                <a:latin typeface="Rockwell" panose="02060603020205020403" pitchFamily="18" charset="0"/>
              </a:rPr>
              <a:t>VL53L8CX  ·  I²C  ·  LPn  ·  INT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0F172A"/>
                </a:solidFill>
                <a:latin typeface="Rockwell" panose="02060603020205020403" pitchFamily="18" charset="0"/>
              </a:rPr>
              <a:t>I²C for data, LPn for power control, INT for data-ready.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508760"/>
            <a:ext cx="3502240" cy="470916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366760" y="1691640"/>
            <a:ext cx="2862160" cy="320040"/>
          </a:xfrm>
          <a:prstGeom prst="roundRect">
            <a:avLst>
              <a:gd name="adj" fmla="val 50000"/>
            </a:avLst>
          </a:prstGeom>
          <a:solidFill>
            <a:srgbClr val="1E29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66760" y="1728550"/>
            <a:ext cx="286216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6B6D4"/>
                </a:solidFill>
                <a:latin typeface="Rockwell" panose="02060603020205020403" pitchFamily="18" charset="0"/>
              </a:rPr>
              <a:t>CORE PRINCIPLE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240280"/>
            <a:ext cx="286216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Rockwell" panose="02060603020205020403" pitchFamily="18" charset="0"/>
              </a:rPr>
              <a:t>Strict separation of concerns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300" y="2654300"/>
            <a:ext cx="2857500" cy="33655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lang="en-US" sz="1600" b="0" dirty="0">
                <a:solidFill>
                  <a:srgbClr val="E2E8F0"/>
                </a:solidFill>
                <a:latin typeface="Rockwell" panose="02060603020205020403" pitchFamily="18" charset="0"/>
              </a:rPr>
              <a:t>1. Glue layer (vl53l8cx.c &amp; platform.c) — ours to write and maintain, Apache-2.0.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1600" b="0" dirty="0">
                <a:solidFill>
                  <a:srgbClr val="E2E8F0"/>
                </a:solidFill>
                <a:latin typeface="Rockwell" panose="02060603020205020403" pitchFamily="18" charset="0"/>
              </a:rPr>
              <a:t>2. Vendor ULD (uld/vl53l8cx_api.c) must stay 100% pristine ST code (BSD-3-Clause) — no Zephyr #includes or printk().</a:t>
            </a:r>
          </a:p>
        </p:txBody>
      </p:sp>
    </p:spTree>
    <p:extLst>
      <p:ext uri="{BB962C8B-B14F-4D97-AF65-F5344CB8AC3E}">
        <p14:creationId xmlns:p14="http://schemas.microsoft.com/office/powerpoint/2010/main" val="14988651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DEB0BE-70E1-4874-9D91-4FAC356E684B}"/>
              </a:ext>
            </a:extLst>
          </p:cNvPr>
          <p:cNvSpPr txBox="1"/>
          <p:nvPr/>
        </p:nvSpPr>
        <p:spPr>
          <a:xfrm>
            <a:off x="635000" y="330200"/>
            <a:ext cx="635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 dirty="0">
                <a:solidFill>
                  <a:srgbClr val="2563EB"/>
                </a:solidFill>
                <a:latin typeface="Rockwell"/>
              </a:rPr>
              <a:t>BUILD-TIME CONFIGURATION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02636-C4AB-42A0-A355-CFCE2B0D1256}"/>
              </a:ext>
            </a:extLst>
          </p:cNvPr>
          <p:cNvSpPr txBox="1"/>
          <p:nvPr/>
        </p:nvSpPr>
        <p:spPr>
          <a:xfrm>
            <a:off x="635000" y="609600"/>
            <a:ext cx="1092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0F172A"/>
                </a:solidFill>
                <a:latin typeface="Rockwell"/>
              </a:rPr>
              <a:t>Configuring the kernel with menuconfig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8F4B1B4-763D-4BA6-91D1-4EDB9CD9F4F4}"/>
              </a:ext>
            </a:extLst>
          </p:cNvPr>
          <p:cNvSpPr/>
          <p:nvPr/>
        </p:nvSpPr>
        <p:spPr>
          <a:xfrm>
            <a:off x="635000" y="1270000"/>
            <a:ext cx="4191000" cy="431800"/>
          </a:xfrm>
          <a:prstGeom prst="roundRect">
            <a:avLst/>
          </a:prstGeom>
          <a:solidFill>
            <a:srgbClr val="0F172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93C5FD"/>
                </a:solidFill>
                <a:latin typeface="Rockwell"/>
              </a:rPr>
              <a:t>west build -t menuconfig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F2D0E3-0B1D-4B09-B775-DF4B30AFC7D2}"/>
              </a:ext>
            </a:extLst>
          </p:cNvPr>
          <p:cNvSpPr txBox="1"/>
          <p:nvPr/>
        </p:nvSpPr>
        <p:spPr>
          <a:xfrm>
            <a:off x="635000" y="1905000"/>
            <a:ext cx="4064000" cy="3810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228600" indent="-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600" dirty="0">
                <a:solidFill>
                  <a:srgbClr val="0F172A"/>
                </a:solidFill>
                <a:latin typeface="Rockwell" panose="02060603020205020403" pitchFamily="18" charset="0"/>
              </a:rPr>
              <a:t>Opens the Kconfig menu for the whole build — kernel, subsystems, drivers and every module in the workspace.</a:t>
            </a:r>
          </a:p>
          <a:p>
            <a:pPr marL="228600" indent="-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600" dirty="0">
                <a:solidFill>
                  <a:srgbClr val="0F172A"/>
                </a:solidFill>
                <a:latin typeface="Rockwell" panose="02060603020205020403" pitchFamily="18" charset="0"/>
              </a:rPr>
              <a:t>Toggle features directly: CONFIG_I2C, CONFIG_SENSOR, log levels, MPU, power management.</a:t>
            </a:r>
          </a:p>
          <a:p>
            <a:pPr marL="228600" indent="-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600" dirty="0">
                <a:solidFill>
                  <a:srgbClr val="0F172A"/>
                </a:solidFill>
                <a:latin typeface="Rockwell" panose="02060603020205020403" pitchFamily="18" charset="0"/>
              </a:rPr>
              <a:t>Choices land in build/zephyr/.config — promote them to prj.conf to make them permanent.</a:t>
            </a:r>
          </a:p>
          <a:p>
            <a:pPr marL="228600" indent="-228600">
              <a:lnSpc>
                <a:spcPct val="115000"/>
              </a:lnSpc>
              <a:spcAft>
                <a:spcPts val="0"/>
              </a:spcAft>
              <a:buFont typeface="Arial"/>
              <a:buChar char="•"/>
            </a:pPr>
            <a:r>
              <a:rPr lang="en-US" sz="1600" b="1" dirty="0">
                <a:solidFill>
                  <a:srgbClr val="B45309"/>
                </a:solidFill>
                <a:latin typeface="Rockwell" panose="02060603020205020403" pitchFamily="18" charset="0"/>
              </a:rPr>
              <a:t>Still not fully mature: </a:t>
            </a:r>
            <a:r>
              <a:rPr lang="en-US" sz="1600" dirty="0">
                <a:solidFill>
                  <a:srgbClr val="B45309"/>
                </a:solidFill>
                <a:latin typeface="Rockwell" panose="02060603020205020403" pitchFamily="18" charset="0"/>
              </a:rPr>
              <a:t>terminal-only UI, limited search, and a pristine rebuild discards anything not in prj.conf.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28E159-A53B-476D-BE54-E8889237F3EA}"/>
              </a:ext>
            </a:extLst>
          </p:cNvPr>
          <p:cNvSpPr txBox="1"/>
          <p:nvPr/>
        </p:nvSpPr>
        <p:spPr>
          <a:xfrm>
            <a:off x="4953000" y="5384800"/>
            <a:ext cx="660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475569"/>
                </a:solidFill>
                <a:latin typeface="Rockwell"/>
              </a:rPr>
              <a:t>Screenshot: menuconfig running for the NUCLEO-F401RE build.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B894680-4039-79C9-F832-BEF35A8A7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2032000"/>
            <a:ext cx="6604000" cy="3107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008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65760"/>
            <a:ext cx="7315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dirty="0">
                <a:latin typeface="Rockwell" panose="02060603020205020403" pitchFamily="18" charset="0"/>
              </a:rPr>
              <a:t>VL53L8CX DRIVER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 dirty="0">
                <a:solidFill>
                  <a:srgbClr val="0F172A"/>
                </a:solidFill>
                <a:latin typeface="Rockwell" panose="02060603020205020403" pitchFamily="18" charset="0"/>
              </a:rPr>
              <a:t>Remaining</a:t>
            </a:r>
            <a:r>
              <a:rPr sz="2700" b="1" dirty="0">
                <a:solidFill>
                  <a:srgbClr val="0F172A"/>
                </a:solidFill>
                <a:latin typeface="Rockwell" panose="02060603020205020403" pitchFamily="18" charset="0"/>
              </a:rPr>
              <a:t> Steps to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109115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77240" y="1655063"/>
            <a:ext cx="548640" cy="1311965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1821662"/>
            <a:ext cx="54864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Rockwell" panose="02060603020205020403" pitchFamily="18" charset="0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00200"/>
            <a:ext cx="9997135" cy="4129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Rockwell" panose="02060603020205020403" pitchFamily="18" charset="0"/>
              </a:rPr>
              <a:t>Clean the Vendor Source File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Rockwell" panose="02060603020205020403" pitchFamily="18" charset="0"/>
              </a:rPr>
              <a:t>Strip the stray #include and printk() calls from uld/vl53l8cx_api.c; move diagnostics into platform.c / vl53l8cx.c via LOG_DBG().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414016"/>
            <a:ext cx="109115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77240" y="2560319"/>
            <a:ext cx="548640" cy="1311965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7240" y="2726918"/>
            <a:ext cx="54864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Rockwell" panose="02060603020205020403" pitchFamily="18" charset="0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505456"/>
            <a:ext cx="9997135" cy="4129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Rockwell" panose="02060603020205020403" pitchFamily="18" charset="0"/>
              </a:rPr>
              <a:t>Attach Licensing &amp; Copyright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Rockwell" panose="02060603020205020403" pitchFamily="18" charset="0"/>
              </a:rPr>
              <a:t>Ship ST's official BSD-3-Clause LICENSE alongside uld/, and align copyright headers with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63062"/>
            <a:ext cx="10911535" cy="126789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77240" y="3465575"/>
            <a:ext cx="548640" cy="1311965"/>
          </a:xfrm>
          <a:prstGeom prst="roundRect">
            <a:avLst>
              <a:gd name="adj" fmla="val 30000"/>
            </a:avLst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77240" y="3632174"/>
            <a:ext cx="54864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Rockwell" panose="02060603020205020403" pitchFamily="18" charset="0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410712"/>
            <a:ext cx="9997135" cy="4129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dirty="0">
                <a:solidFill>
                  <a:srgbClr val="0F172A"/>
                </a:solidFill>
                <a:latin typeface="Rockwell" panose="02060603020205020403" pitchFamily="18" charset="0"/>
              </a:rPr>
              <a:t>Validate on the Hardware Matrix</a:t>
            </a: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475569"/>
                </a:solidFill>
                <a:latin typeface="Rockwell" panose="02060603020205020403" pitchFamily="18" charset="0"/>
              </a:rPr>
              <a:t>Build, flash and run automated I2C ranging checks across Nucleo-G474RE, Nucleo-N657X0-Q and STM32MP257F.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52874"/>
            <a:ext cx="10911535" cy="148333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77240" y="4370831"/>
            <a:ext cx="548640" cy="1311965"/>
          </a:xfrm>
          <a:prstGeom prst="roundRect">
            <a:avLst>
              <a:gd name="adj" fmla="val 3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77240" y="4537430"/>
            <a:ext cx="54864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Rockwell" panose="02060603020205020403" pitchFamily="18" charset="0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315968"/>
            <a:ext cx="9997135" cy="4129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Rockwell" panose="02060603020205020403" pitchFamily="18" charset="0"/>
              </a:rPr>
              <a:t>Decide the Upstream Path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569"/>
                </a:solidFill>
                <a:latin typeface="Rockwell" panose="02060603020205020403" pitchFamily="18" charset="0"/>
              </a:rPr>
              <a:t>Iterate as a unified out-of-tree module, or split into Zephyr-tree glue + a hal_st contribution for upstream submission.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327392"/>
            <a:ext cx="12192000" cy="815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2800" b="1" dirty="0">
                <a:latin typeface="Rockwell" panose="02060603020205020403" pitchFamily="18" charset="0"/>
              </a:rPr>
              <a:t>CONCLUSION:</a:t>
            </a:r>
          </a:p>
          <a:p>
            <a:pPr algn="ctr">
              <a:spcAft>
                <a:spcPts val="0"/>
              </a:spcAft>
            </a:pPr>
            <a:r>
              <a:rPr sz="2500" b="1" dirty="0">
                <a:solidFill>
                  <a:srgbClr val="0F172A"/>
                </a:solidFill>
                <a:latin typeface="Rockwell" panose="02060603020205020403" pitchFamily="18" charset="0"/>
              </a:rPr>
              <a:t>One Platform, One Workspace, One Driver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911535" cy="4750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dirty="0">
                <a:latin typeface="Rockwell" panose="02060603020205020403" pitchFamily="18" charset="0"/>
              </a:rPr>
              <a:t>The same west build and driver model take a </a:t>
            </a:r>
            <a:r>
              <a:rPr sz="1250" b="0" dirty="0" err="1">
                <a:latin typeface="Rockwell" panose="02060603020205020403" pitchFamily="18" charset="0"/>
              </a:rPr>
              <a:t>Nucleo</a:t>
            </a:r>
            <a:r>
              <a:rPr sz="1250" b="0" dirty="0">
                <a:latin typeface="Rockwell" panose="02060603020205020403" pitchFamily="18" charset="0"/>
              </a:rPr>
              <a:t> board from blinky to the VL53L8CX ranging driver — and the driver itself is close: build system done, licensing and vendor-source hygiene are what remain.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" y="2606040"/>
            <a:ext cx="352044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2789136"/>
            <a:ext cx="306324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2563EB"/>
                </a:solidFill>
                <a:latin typeface="Rockwell" panose="02060603020205020403" pitchFamily="18" charset="0"/>
              </a:rPr>
              <a:t>Not just a scheduler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46336"/>
            <a:ext cx="3063240" cy="494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Kernel + OS services + libraries + drivers, versioned together.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260604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51960" y="2606040"/>
            <a:ext cx="3520440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2789136"/>
            <a:ext cx="306324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6B6D4"/>
                </a:solidFill>
                <a:latin typeface="Rockwell" panose="02060603020205020403" pitchFamily="18" charset="0"/>
              </a:rPr>
              <a:t>A real ecosystem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336"/>
            <a:ext cx="3063240" cy="494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No multizone dToF driver exists upstream — ours is the first.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60604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863840" y="2606040"/>
            <a:ext cx="35204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>
              <a:latin typeface="Rockwell" panose="02060603020205020403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789136"/>
            <a:ext cx="306324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B981"/>
                </a:solidFill>
                <a:latin typeface="Rockwell" panose="02060603020205020403" pitchFamily="18" charset="0"/>
              </a:rPr>
              <a:t>Nearly production-ready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246336"/>
            <a:ext cx="3063240" cy="4943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latin typeface="Rockwell" panose="02060603020205020403" pitchFamily="18" charset="0"/>
              </a:rPr>
              <a:t>Build system complete; vendor-source cleanup is the last mile.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09160"/>
            <a:ext cx="10911535" cy="10058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Rockwell" panose="02060603020205020403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4400" y="4800600"/>
            <a:ext cx="10362895" cy="192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06B6D4"/>
                </a:solidFill>
                <a:latin typeface="Rockwell" panose="02060603020205020403" pitchFamily="18" charset="0"/>
              </a:rPr>
              <a:t>zephyrproject.org  ·  docs.zephyrproject.org  ·  github.com/zephyrproject-rtos/zephyr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362895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CBD5E1"/>
                </a:solidFill>
                <a:latin typeface="Rockwell" panose="02060603020205020403" pitchFamily="18" charset="0"/>
              </a:rPr>
              <a:t>Workspace location: zephyr_dev/modules/sensor/st_vl53l8cx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32E42A-52A6-C732-B73D-1D31E172C786}"/>
              </a:ext>
            </a:extLst>
          </p:cNvPr>
          <p:cNvSpPr txBox="1"/>
          <p:nvPr/>
        </p:nvSpPr>
        <p:spPr>
          <a:xfrm>
            <a:off x="5175504" y="2724912"/>
            <a:ext cx="15584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>
                <a:latin typeface="Rockwell" panose="02060603020205020403" pitchFamily="18" charset="0"/>
              </a:rPr>
              <a:t>Q &amp; A</a:t>
            </a:r>
            <a:endParaRPr lang="en-US" sz="4000" dirty="0">
              <a:latin typeface="Rockwell" panose="02060603020205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17296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958482D-D655-41F2-AAAE-62760010823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51801afe-150a-47d9-b2ca-eefffcb54ae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821</TotalTime>
  <Words>2589</Words>
  <Application>Microsoft Office PowerPoint</Application>
  <PresentationFormat>Widescreen</PresentationFormat>
  <Paragraphs>316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Calibri</vt:lpstr>
      <vt:lpstr>Cambria</vt:lpstr>
      <vt:lpstr>Consolas</vt:lpstr>
      <vt:lpstr>Rockwell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Zafar Iqbal</cp:lastModifiedBy>
  <cp:revision>265</cp:revision>
  <dcterms:created xsi:type="dcterms:W3CDTF">2013-01-27T09:14:16Z</dcterms:created>
  <dcterms:modified xsi:type="dcterms:W3CDTF">2026-09-16T08:40:10Z</dcterms:modified>
  <cp:category/>
</cp:coreProperties>
</file>