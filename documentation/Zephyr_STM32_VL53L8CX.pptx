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7" r:id="rId12"/>
    <p:sldId id="283" r:id="rId13"/>
    <p:sldId id="267" r:id="rId14"/>
    <p:sldId id="279" r:id="rId15"/>
    <p:sldId id="282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8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9759F7-8281-4303-863A-322F1831FDC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925CE7-F0DD-4321-91F2-C3FA3BECEE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052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925CE7-F0DD-4321-91F2-C3FA3BECEE7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971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722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257800"/>
            <a:ext cx="12188952" cy="1600200"/>
          </a:xfrm>
          <a:prstGeom prst="rect">
            <a:avLst/>
          </a:prstGeom>
          <a:solidFill>
            <a:srgbClr val="0B6E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63093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latin typeface="Rockwell" panose="02060603020205020403" pitchFamily="18" charset="0"/>
              </a:rPr>
              <a:t>Introduction to Zephyr RTOS with STM32 Microcontrollers</a:t>
            </a:r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an RTOS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latin typeface="Rockwell" panose="02060603020205020403" pitchFamily="18" charset="0"/>
                <a:ea typeface="Calibri" pitchFamily="34" charset="-122"/>
                <a:cs typeface="Calibri" pitchFamily="34" charset="-120"/>
              </a:rPr>
              <a:t>A complete, modular embedded software platform — kernel, drivers, protocol</a:t>
            </a:r>
            <a:endParaRPr lang="en-US" sz="1700" dirty="0">
              <a:latin typeface="Rockwell" panose="02060603020205020403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latin typeface="Rockwell" panose="02060603020205020403" pitchFamily="18" charset="0"/>
                <a:ea typeface="Calibri" pitchFamily="34" charset="-122"/>
                <a:cs typeface="Calibri" pitchFamily="34" charset="-120"/>
              </a:rPr>
              <a:t>stacks and libraries — illustrated with the STM32N6 microcontroller</a:t>
            </a:r>
            <a:endParaRPr lang="en-US" sz="1700" dirty="0">
              <a:latin typeface="Rockwell" panose="02060603020205020403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549640" y="5138928"/>
            <a:ext cx="283464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en-US">
              <a:latin typeface="Rockwell" panose="02060603020205020403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49640" y="51389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ckwell" panose="02060603020205020403" pitchFamily="18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>
              <a:latin typeface="Rockwell" panose="02060603020205020403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549640" y="5550408"/>
            <a:ext cx="2834640" cy="365760"/>
          </a:xfrm>
          <a:prstGeom prst="rect">
            <a:avLst/>
          </a:prstGeom>
          <a:solidFill>
            <a:srgbClr val="0B6E8C"/>
          </a:solidFill>
          <a:ln w="1270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en-US">
              <a:latin typeface="Rockwell" panose="02060603020205020403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49640" y="55504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ckwell" panose="02060603020205020403" pitchFamily="18" charset="0"/>
                <a:ea typeface="Calibri" pitchFamily="34" charset="-122"/>
                <a:cs typeface="Calibri" pitchFamily="34" charset="-120"/>
              </a:rPr>
              <a:t>OS Services / Middleware</a:t>
            </a:r>
            <a:endParaRPr lang="en-US" sz="1000" dirty="0">
              <a:latin typeface="Rockwell" panose="02060603020205020403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549640" y="5961888"/>
            <a:ext cx="2834640" cy="365760"/>
          </a:xfrm>
          <a:prstGeom prst="rect">
            <a:avLst/>
          </a:prstGeom>
          <a:solidFill>
            <a:srgbClr val="0A4A61"/>
          </a:solidFill>
          <a:ln w="1270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en-US">
              <a:latin typeface="Rockwell" panose="02060603020205020403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49640" y="59618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ckwell" panose="02060603020205020403" pitchFamily="18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000" dirty="0">
              <a:latin typeface="Rockwell" panose="02060603020205020403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549640" y="6373368"/>
            <a:ext cx="2834640" cy="365760"/>
          </a:xfrm>
          <a:prstGeom prst="rect">
            <a:avLst/>
          </a:prstGeom>
          <a:solidFill>
            <a:srgbClr val="083548"/>
          </a:solidFill>
          <a:ln w="12700">
            <a:solidFill>
              <a:srgbClr val="12233A"/>
            </a:solidFill>
            <a:prstDash val="solid"/>
          </a:ln>
        </p:spPr>
        <p:txBody>
          <a:bodyPr/>
          <a:lstStyle/>
          <a:p>
            <a:endParaRPr lang="en-US" dirty="0">
              <a:latin typeface="Rockwell" panose="02060603020205020403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549640" y="63733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Rockwell" panose="02060603020205020403" pitchFamily="18" charset="0"/>
                <a:ea typeface="Calibri" pitchFamily="34" charset="-122"/>
                <a:cs typeface="Calibri" pitchFamily="34" charset="-120"/>
              </a:rPr>
              <a:t>HAL &amp; Drivers · STM32HN6</a:t>
            </a:r>
            <a:endParaRPr lang="en-US" sz="1000" dirty="0">
              <a:latin typeface="Rockwell" panose="020606030202050204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621792"/>
            <a:ext cx="10058400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 dirty="0">
                <a:solidFill>
                  <a:srgbClr val="0F172A"/>
                </a:solidFill>
                <a:latin typeface="Rockwell" panose="02060603020205020403" pitchFamily="18" charset="0"/>
              </a:rPr>
              <a:t>Agenda</a:t>
            </a:r>
            <a:r>
              <a:rPr sz="2700" b="1" dirty="0">
                <a:solidFill>
                  <a:srgbClr val="0F172A"/>
                </a:solidFill>
                <a:latin typeface="Segoe UI"/>
              </a:rPr>
              <a:t> &amp; Presentation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Zephyr on STM32 → the VL53L8CX Driver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731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2E8F0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54480"/>
            <a:ext cx="4602479" cy="5693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dirty="0">
                <a:solidFill>
                  <a:srgbClr val="0F172A"/>
                </a:solidFill>
                <a:latin typeface="Rockwell" panose="02060603020205020403" pitchFamily="18" charset="0"/>
              </a:rPr>
              <a:t>What is Zephyr RTOS?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475569"/>
                </a:solidFill>
                <a:latin typeface="Rockwell" panose="02060603020205020403" pitchFamily="18" charset="0"/>
              </a:rPr>
              <a:t>A scalable, open-source RTOS with layered architecture and hardware abstraction.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731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2E8F0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4602479" cy="4078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dirty="0">
                <a:solidFill>
                  <a:srgbClr val="0F172A"/>
                </a:solidFill>
                <a:latin typeface="Rockwell" panose="02060603020205020403" pitchFamily="18" charset="0"/>
              </a:rPr>
              <a:t>Architecture &amp; Build Tooling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475569"/>
                </a:solidFill>
                <a:latin typeface="Rockwell" panose="02060603020205020403" pitchFamily="18" charset="0"/>
              </a:rPr>
              <a:t>The layered stack, </a:t>
            </a:r>
            <a:r>
              <a:rPr sz="1050" b="0" dirty="0" err="1">
                <a:solidFill>
                  <a:srgbClr val="475569"/>
                </a:solidFill>
                <a:latin typeface="Rockwell" panose="02060603020205020403" pitchFamily="18" charset="0"/>
              </a:rPr>
              <a:t>Devicetree</a:t>
            </a:r>
            <a:r>
              <a:rPr sz="1050" b="0" dirty="0">
                <a:solidFill>
                  <a:srgbClr val="475569"/>
                </a:solidFill>
                <a:latin typeface="Rockwell" panose="02060603020205020403" pitchFamily="18" charset="0"/>
              </a:rPr>
              <a:t>, </a:t>
            </a:r>
            <a:r>
              <a:rPr sz="1050" b="0" dirty="0" err="1">
                <a:solidFill>
                  <a:srgbClr val="475569"/>
                </a:solidFill>
                <a:latin typeface="Rockwell" panose="02060603020205020403" pitchFamily="18" charset="0"/>
              </a:rPr>
              <a:t>Kconfig</a:t>
            </a:r>
            <a:r>
              <a:rPr sz="1050" b="0" dirty="0">
                <a:solidFill>
                  <a:srgbClr val="475569"/>
                </a:solidFill>
                <a:latin typeface="Rockwell" panose="02060603020205020403" pitchFamily="18" charset="0"/>
              </a:rPr>
              <a:t>, and the west/</a:t>
            </a:r>
            <a:r>
              <a:rPr sz="1050" b="0" dirty="0" err="1">
                <a:solidFill>
                  <a:srgbClr val="475569"/>
                </a:solidFill>
                <a:latin typeface="Rockwell" panose="02060603020205020403" pitchFamily="18" charset="0"/>
              </a:rPr>
              <a:t>CMake</a:t>
            </a:r>
            <a:r>
              <a:rPr sz="1050" b="0" dirty="0">
                <a:solidFill>
                  <a:srgbClr val="475569"/>
                </a:solidFill>
                <a:latin typeface="Rockwell" panose="02060603020205020403" pitchFamily="18" charset="0"/>
              </a:rPr>
              <a:t> pipeline.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731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2E8F0"/>
                </a:solidFill>
                <a:latin typeface="Segoe U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749040"/>
            <a:ext cx="4602479" cy="4078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dirty="0">
                <a:solidFill>
                  <a:srgbClr val="0F172A"/>
                </a:solidFill>
                <a:latin typeface="Rockwell" panose="02060603020205020403" pitchFamily="18" charset="0"/>
              </a:rPr>
              <a:t>What is West?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475569"/>
                </a:solidFill>
                <a:latin typeface="Rockwell" panose="02060603020205020403" pitchFamily="18" charset="0"/>
              </a:rPr>
              <a:t>The manifest meta-tool, and our app-as-manifest (T2) topology.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00600"/>
            <a:ext cx="731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2E8F0"/>
                </a:solidFill>
                <a:latin typeface="Segoe U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46320"/>
            <a:ext cx="4602479" cy="4078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dirty="0">
                <a:solidFill>
                  <a:srgbClr val="0F172A"/>
                </a:solidFill>
                <a:latin typeface="Rockwell" panose="02060603020205020403" pitchFamily="18" charset="0"/>
              </a:rPr>
              <a:t>Zephyr's Folder Structure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475569"/>
                </a:solidFill>
                <a:latin typeface="Rockwell" panose="02060603020205020403" pitchFamily="18" charset="0"/>
              </a:rPr>
              <a:t>kernel/, arch/, drivers/, boards/, </a:t>
            </a:r>
            <a:r>
              <a:rPr sz="1050" b="0" dirty="0" err="1">
                <a:solidFill>
                  <a:srgbClr val="475569"/>
                </a:solidFill>
                <a:latin typeface="Rockwell" panose="02060603020205020403" pitchFamily="18" charset="0"/>
              </a:rPr>
              <a:t>dts</a:t>
            </a:r>
            <a:r>
              <a:rPr sz="1050" b="0" dirty="0">
                <a:solidFill>
                  <a:srgbClr val="475569"/>
                </a:solidFill>
                <a:latin typeface="Rockwell" panose="02060603020205020403" pitchFamily="18" charset="0"/>
              </a:rPr>
              <a:t>/, </a:t>
            </a:r>
            <a:r>
              <a:rPr sz="1050" b="0" dirty="0" err="1">
                <a:solidFill>
                  <a:srgbClr val="475569"/>
                </a:solidFill>
                <a:latin typeface="Rockwell" panose="02060603020205020403" pitchFamily="18" charset="0"/>
              </a:rPr>
              <a:t>subsys</a:t>
            </a:r>
            <a:r>
              <a:rPr sz="1050" b="0" dirty="0">
                <a:solidFill>
                  <a:srgbClr val="475569"/>
                </a:solidFill>
                <a:latin typeface="Rockwell" panose="02060603020205020403" pitchFamily="18" charset="0"/>
              </a:rPr>
              <a:t>/ — and </a:t>
            </a:r>
            <a:r>
              <a:rPr sz="1050" b="0" dirty="0" err="1">
                <a:solidFill>
                  <a:srgbClr val="475569"/>
                </a:solidFill>
                <a:latin typeface="Rockwell" panose="02060603020205020403" pitchFamily="18" charset="0"/>
              </a:rPr>
              <a:t>Kconfig</a:t>
            </a:r>
            <a:r>
              <a:rPr sz="1050" b="0" dirty="0">
                <a:solidFill>
                  <a:srgbClr val="475569"/>
                </a:solidFill>
                <a:latin typeface="Rockwell" panose="02060603020205020403" pitchFamily="18" charset="0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19" y="1508760"/>
            <a:ext cx="731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2E8F0"/>
                </a:solidFill>
                <a:latin typeface="Segoe UI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39" y="1554480"/>
            <a:ext cx="4602479" cy="4078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dirty="0">
                <a:solidFill>
                  <a:srgbClr val="0F172A"/>
                </a:solidFill>
                <a:latin typeface="Rockwell" panose="02060603020205020403" pitchFamily="18" charset="0"/>
              </a:rPr>
              <a:t>What is a Module?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475569"/>
                </a:solidFill>
                <a:latin typeface="Rockwell" panose="02060603020205020403" pitchFamily="18" charset="0"/>
              </a:rPr>
              <a:t>How vendor HALs and our own driver plug into the build via </a:t>
            </a:r>
            <a:r>
              <a:rPr sz="1050" b="0" dirty="0" err="1">
                <a:solidFill>
                  <a:srgbClr val="475569"/>
                </a:solidFill>
                <a:latin typeface="Rockwell" panose="02060603020205020403" pitchFamily="18" charset="0"/>
              </a:rPr>
              <a:t>module.yml</a:t>
            </a:r>
            <a:r>
              <a:rPr sz="1050" b="0" dirty="0">
                <a:solidFill>
                  <a:srgbClr val="475569"/>
                </a:solidFill>
                <a:latin typeface="Rockwell" panose="02060603020205020403" pitchFamily="18" charset="0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19" y="2606040"/>
            <a:ext cx="731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2E8F0"/>
                </a:solidFill>
                <a:latin typeface="Segoe UI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39" y="2651760"/>
            <a:ext cx="4602479" cy="4078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dirty="0">
                <a:solidFill>
                  <a:srgbClr val="0F172A"/>
                </a:solidFill>
                <a:latin typeface="Rockwell" panose="02060603020205020403" pitchFamily="18" charset="0"/>
              </a:rPr>
              <a:t>Our Workspace Layout</a:t>
            </a:r>
          </a:p>
          <a:p>
            <a:pPr algn="l">
              <a:spcAft>
                <a:spcPts val="300"/>
              </a:spcAft>
            </a:pPr>
            <a:r>
              <a:rPr sz="1050" b="0" dirty="0" err="1">
                <a:solidFill>
                  <a:srgbClr val="475569"/>
                </a:solidFill>
                <a:latin typeface="Rockwell" panose="02060603020205020403" pitchFamily="18" charset="0"/>
              </a:rPr>
              <a:t>zephyr_app</a:t>
            </a:r>
            <a:r>
              <a:rPr sz="1050" b="0" dirty="0">
                <a:solidFill>
                  <a:srgbClr val="475569"/>
                </a:solidFill>
                <a:latin typeface="Rockwell" panose="02060603020205020403" pitchFamily="18" charset="0"/>
              </a:rPr>
              <a:t>, zephyr/, modules/, bootloader/ — as they actually sit on disk.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19" y="3703320"/>
            <a:ext cx="731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2E8F0"/>
                </a:solidFill>
                <a:latin typeface="Segoe UI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39" y="3749040"/>
            <a:ext cx="4602479" cy="4078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dirty="0">
                <a:solidFill>
                  <a:srgbClr val="0F172A"/>
                </a:solidFill>
                <a:latin typeface="Rockwell" panose="02060603020205020403" pitchFamily="18" charset="0"/>
              </a:rPr>
              <a:t>VL53L8CX Driver Status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475569"/>
                </a:solidFill>
                <a:latin typeface="Rockwell" panose="02060603020205020403" pitchFamily="18" charset="0"/>
              </a:rPr>
              <a:t>Glue vs. vendor architecture, what's shipped, what's still open.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19" y="4800600"/>
            <a:ext cx="7315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E2E8F0"/>
                </a:solidFill>
                <a:latin typeface="Segoe UI"/>
              </a:rP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39" y="4846320"/>
            <a:ext cx="4602479" cy="4078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dirty="0">
                <a:solidFill>
                  <a:srgbClr val="0F172A"/>
                </a:solidFill>
                <a:latin typeface="Rockwell" panose="02060603020205020403" pitchFamily="18" charset="0"/>
              </a:rPr>
              <a:t>Roadmap &amp; Conclusion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475569"/>
                </a:solidFill>
                <a:latin typeface="Rockwell" panose="02060603020205020403" pitchFamily="18" charset="0"/>
              </a:rPr>
              <a:t>Remaining steps to a clean, upstream-ready driver.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548640"/>
            <a:ext cx="10058400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 dirty="0">
                <a:solidFill>
                  <a:srgbClr val="0F172A"/>
                </a:solidFill>
                <a:latin typeface="Rockwell" panose="02060603020205020403" pitchFamily="18" charset="0"/>
              </a:rPr>
              <a:t>What</a:t>
            </a:r>
            <a:r>
              <a:rPr sz="2700" b="1" dirty="0">
                <a:solidFill>
                  <a:srgbClr val="0F172A"/>
                </a:solidFill>
                <a:latin typeface="Segoe UI"/>
              </a:rPr>
              <a:t> is Zephyr?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Zephyr on STM32 → the VL53L8CX Driver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6675120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6217920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dirty="0">
                <a:solidFill>
                  <a:srgbClr val="2563EB"/>
                </a:solidFill>
                <a:latin typeface="Rockwell" panose="02060603020205020403" pitchFamily="18" charset="0"/>
              </a:rPr>
              <a:t>■  </a:t>
            </a:r>
            <a:r>
              <a:rPr sz="1600" b="1" dirty="0">
                <a:solidFill>
                  <a:srgbClr val="0F172A"/>
                </a:solidFill>
                <a:latin typeface="Rockwell" panose="02060603020205020403" pitchFamily="18" charset="0"/>
              </a:rPr>
              <a:t>Linux Foundation governed: </a:t>
            </a:r>
            <a:endParaRPr lang="en-GB" sz="1600" b="1" dirty="0">
              <a:solidFill>
                <a:srgbClr val="0F172A"/>
              </a:solidFill>
              <a:latin typeface="Rockwell" panose="02060603020205020403" pitchFamily="18" charset="0"/>
            </a:endParaRPr>
          </a:p>
          <a:p>
            <a:pPr>
              <a:spcAft>
                <a:spcPts val="1400"/>
              </a:spcAft>
            </a:pPr>
            <a:r>
              <a:rPr lang="en-US" sz="1600" dirty="0">
                <a:latin typeface="Rockwell" panose="02060603020205020403" pitchFamily="18" charset="0"/>
              </a:rPr>
              <a:t>Zephyr is an open-source RTOS hosted by the Linux Foundation, designed to give embedded developers a common software platform</a:t>
            </a:r>
          </a:p>
          <a:p>
            <a:pPr>
              <a:spcAft>
                <a:spcPts val="1400"/>
              </a:spcAft>
            </a:pPr>
            <a:r>
              <a:rPr lang="en-US" sz="1600" dirty="0">
                <a:solidFill>
                  <a:srgbClr val="2563EB"/>
                </a:solidFill>
                <a:latin typeface="Rockwell" panose="02060603020205020403" pitchFamily="18" charset="0"/>
              </a:rPr>
              <a:t>■  </a:t>
            </a:r>
            <a:r>
              <a:rPr lang="en-US" sz="1600" b="1" dirty="0">
                <a:solidFill>
                  <a:srgbClr val="0F172A"/>
                </a:solidFill>
                <a:latin typeface="Rockwell" panose="02060603020205020403" pitchFamily="18" charset="0"/>
              </a:rPr>
              <a:t>Built for small devices: </a:t>
            </a:r>
          </a:p>
          <a:p>
            <a:pPr>
              <a:spcAft>
                <a:spcPts val="1400"/>
              </a:spcAft>
            </a:pPr>
            <a:r>
              <a:rPr lang="en-US" sz="1600" dirty="0">
                <a:latin typeface="Rockwell" panose="02060603020205020403" pitchFamily="18" charset="0"/>
              </a:rPr>
              <a:t>It can run on tiny, resource-constrained MCUs as well as much more capable processors.</a:t>
            </a:r>
            <a:endParaRPr lang="en-US" sz="1600" b="1" dirty="0">
              <a:solidFill>
                <a:srgbClr val="0F172A"/>
              </a:solidFill>
              <a:latin typeface="Rockwell" panose="02060603020205020403" pitchFamily="18" charset="0"/>
            </a:endParaRPr>
          </a:p>
          <a:p>
            <a:pPr>
              <a:spcAft>
                <a:spcPts val="1400"/>
              </a:spcAft>
            </a:pPr>
            <a:r>
              <a:rPr sz="1600" dirty="0">
                <a:solidFill>
                  <a:srgbClr val="2563EB"/>
                </a:solidFill>
                <a:latin typeface="Rockwell" panose="02060603020205020403" pitchFamily="18" charset="0"/>
              </a:rPr>
              <a:t>■  </a:t>
            </a:r>
            <a:r>
              <a:rPr sz="1600" b="1" dirty="0">
                <a:solidFill>
                  <a:srgbClr val="0F172A"/>
                </a:solidFill>
                <a:latin typeface="Rockwell" panose="02060603020205020403" pitchFamily="18" charset="0"/>
              </a:rPr>
              <a:t>Configuration-driven: </a:t>
            </a:r>
            <a:endParaRPr lang="en-GB" sz="1600" b="1" dirty="0">
              <a:solidFill>
                <a:srgbClr val="0F172A"/>
              </a:solidFill>
              <a:latin typeface="Rockwell" panose="02060603020205020403" pitchFamily="18" charset="0"/>
            </a:endParaRPr>
          </a:p>
          <a:p>
            <a:pPr>
              <a:spcAft>
                <a:spcPts val="1400"/>
              </a:spcAft>
            </a:pPr>
            <a:r>
              <a:rPr lang="en-US" sz="1600" dirty="0">
                <a:latin typeface="Rockwell" panose="02060603020205020403" pitchFamily="18" charset="0"/>
              </a:rPr>
              <a:t>Zephyr uses </a:t>
            </a:r>
            <a:r>
              <a:rPr lang="en-US" sz="1600" b="1" dirty="0" err="1">
                <a:latin typeface="Rockwell" panose="02060603020205020403" pitchFamily="18" charset="0"/>
              </a:rPr>
              <a:t>Kconfig</a:t>
            </a:r>
            <a:r>
              <a:rPr lang="en-US" sz="1600" dirty="0">
                <a:latin typeface="Rockwell" panose="02060603020205020403" pitchFamily="18" charset="0"/>
              </a:rPr>
              <a:t> and </a:t>
            </a:r>
            <a:r>
              <a:rPr lang="en-US" sz="1600" b="1" dirty="0" err="1">
                <a:latin typeface="Rockwell" panose="02060603020205020403" pitchFamily="18" charset="0"/>
              </a:rPr>
              <a:t>Devicetree</a:t>
            </a:r>
            <a:r>
              <a:rPr lang="en-US" sz="1600" dirty="0">
                <a:latin typeface="Rockwell" panose="02060603020205020403" pitchFamily="18" charset="0"/>
              </a:rPr>
              <a:t> to select hardware and software features at build time, keeping the final firmware lean</a:t>
            </a:r>
            <a:r>
              <a:rPr sz="1600" b="0" dirty="0">
                <a:solidFill>
                  <a:srgbClr val="475569"/>
                </a:solidFill>
                <a:latin typeface="Rockwell" panose="02060603020205020403" pitchFamily="18" charset="0"/>
              </a:rPr>
              <a:t>.</a:t>
            </a:r>
          </a:p>
          <a:p>
            <a:pPr>
              <a:spcAft>
                <a:spcPts val="1400"/>
              </a:spcAft>
            </a:pPr>
            <a:r>
              <a:rPr sz="1600" dirty="0">
                <a:solidFill>
                  <a:srgbClr val="2563EB"/>
                </a:solidFill>
                <a:latin typeface="Rockwell" panose="02060603020205020403" pitchFamily="18" charset="0"/>
              </a:rPr>
              <a:t>■  </a:t>
            </a:r>
            <a:r>
              <a:rPr sz="1600" b="1" dirty="0">
                <a:solidFill>
                  <a:srgbClr val="0F172A"/>
                </a:solidFill>
                <a:latin typeface="Rockwell" panose="02060603020205020403" pitchFamily="18" charset="0"/>
              </a:rPr>
              <a:t>Broad architecture support: </a:t>
            </a:r>
            <a:r>
              <a:rPr sz="1600" b="0" dirty="0">
                <a:solidFill>
                  <a:srgbClr val="475569"/>
                </a:solidFill>
                <a:latin typeface="Rockwell" panose="02060603020205020403" pitchFamily="18" charset="0"/>
              </a:rPr>
              <a:t>Arm (Cortex-M/A/R), RISC-V, x86, Xtensa and ARC across 800+ evaluated boards.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508760"/>
            <a:ext cx="4005072" cy="47091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0" y="1823085"/>
            <a:ext cx="345643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6B6D4"/>
                </a:solidFill>
                <a:latin typeface="Segoe UI"/>
              </a:rPr>
              <a:t>800+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43125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BD5E1"/>
                </a:solidFill>
                <a:latin typeface="Segoe UI"/>
              </a:rPr>
              <a:t>SUPPORTED BOARDS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3000375"/>
            <a:ext cx="345643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6B6D4"/>
                </a:solidFill>
                <a:latin typeface="Segoe UI"/>
              </a:rPr>
              <a:t>20+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320415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BD5E1"/>
                </a:solidFill>
                <a:latin typeface="Segoe UI"/>
              </a:rPr>
              <a:t>CPU ARCHITECTURES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177665"/>
            <a:ext cx="345643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6B6D4"/>
                </a:solidFill>
                <a:latin typeface="Segoe UI"/>
              </a:rPr>
              <a:t>70+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497705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BD5E1"/>
                </a:solidFill>
                <a:latin typeface="Segoe UI"/>
              </a:rPr>
              <a:t>MEMBER COMPANIES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5354955"/>
            <a:ext cx="345643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6B6D4"/>
                </a:solidFill>
                <a:latin typeface="Segoe UI"/>
              </a:rPr>
              <a:t>2016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5674995"/>
            <a:ext cx="34564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BD5E1"/>
                </a:solidFill>
                <a:latin typeface="Segoe UI"/>
              </a:rPr>
              <a:t>LINUX FOUNDATION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356616"/>
            <a:ext cx="100584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3200" b="1" dirty="0">
                <a:latin typeface="Rockwell" panose="02060603020205020403" pitchFamily="18" charset="0"/>
              </a:rPr>
              <a:t>Understanding the Zephyr Architecture</a:t>
            </a:r>
            <a:endParaRPr sz="3200" b="1" dirty="0">
              <a:solidFill>
                <a:srgbClr val="0F172A"/>
              </a:solidFill>
              <a:latin typeface="Rockwell" panose="020606030202050204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0" y="6446520"/>
            <a:ext cx="1947672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Rockwell" panose="02060603020205020403" pitchFamily="18" charset="0"/>
              </a:rPr>
              <a:t>04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6510528" cy="201168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608003"/>
            <a:ext cx="6098469" cy="487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dirty="0">
                <a:solidFill>
                  <a:srgbClr val="FFFFFF"/>
                </a:solidFill>
                <a:latin typeface="Rockwell" panose="02060603020205020403" pitchFamily="18" charset="0"/>
              </a:rPr>
              <a:t>Application</a:t>
            </a:r>
          </a:p>
          <a:p>
            <a:pPr algn="l">
              <a:spcAft>
                <a:spcPts val="200"/>
              </a:spcAft>
            </a:pPr>
            <a:r>
              <a:rPr lang="en-GB" sz="1400" b="0" dirty="0">
                <a:solidFill>
                  <a:srgbClr val="CBD5E1"/>
                </a:solidFill>
                <a:latin typeface="Rockwell" panose="02060603020205020403" pitchFamily="18" charset="0"/>
              </a:rPr>
              <a:t>User’s application </a:t>
            </a:r>
            <a:r>
              <a:rPr sz="1400" b="0" dirty="0">
                <a:solidFill>
                  <a:srgbClr val="CBD5E1"/>
                </a:solidFill>
                <a:latin typeface="Rockwell" panose="02060603020205020403" pitchFamily="18" charset="0"/>
              </a:rPr>
              <a:t>code (STM32 board apps under </a:t>
            </a:r>
            <a:r>
              <a:rPr sz="1400" b="0" dirty="0" err="1">
                <a:solidFill>
                  <a:srgbClr val="CBD5E1"/>
                </a:solidFill>
                <a:latin typeface="Rockwell" panose="02060603020205020403" pitchFamily="18" charset="0"/>
              </a:rPr>
              <a:t>zephyr_app</a:t>
            </a:r>
            <a:r>
              <a:rPr sz="1400" b="0" dirty="0">
                <a:solidFill>
                  <a:srgbClr val="CBD5E1"/>
                </a:solidFill>
                <a:latin typeface="Rockwell" panose="02060603020205020403" pitchFamily="18" charset="0"/>
              </a:rPr>
              <a:t>/stm32/)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76856"/>
            <a:ext cx="6510528" cy="201168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2339523"/>
            <a:ext cx="6098469" cy="487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dirty="0">
                <a:solidFill>
                  <a:srgbClr val="FFFFFF"/>
                </a:solidFill>
                <a:latin typeface="Rockwell" panose="02060603020205020403" pitchFamily="18" charset="0"/>
              </a:rPr>
              <a:t>OS Services &amp; Middleware</a:t>
            </a:r>
          </a:p>
          <a:p>
            <a:pPr algn="l">
              <a:spcAft>
                <a:spcPts val="200"/>
              </a:spcAft>
            </a:pPr>
            <a:r>
              <a:rPr sz="1400" b="0" dirty="0">
                <a:solidFill>
                  <a:srgbClr val="CBD5E1"/>
                </a:solidFill>
                <a:latin typeface="Rockwell" panose="02060603020205020403" pitchFamily="18" charset="0"/>
              </a:rPr>
              <a:t>Networking · USB · BLE · File systems · Modbus · Logging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27248"/>
            <a:ext cx="6510528" cy="2011680"/>
          </a:xfrm>
          <a:prstGeom prst="roundRect">
            <a:avLst>
              <a:gd name="adj" fmla="val 12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3116763"/>
            <a:ext cx="6098469" cy="487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dirty="0">
                <a:solidFill>
                  <a:srgbClr val="FFFFFF"/>
                </a:solidFill>
                <a:latin typeface="Rockwell" panose="02060603020205020403" pitchFamily="18" charset="0"/>
              </a:rPr>
              <a:t>Kernel</a:t>
            </a:r>
          </a:p>
          <a:p>
            <a:pPr algn="l">
              <a:spcAft>
                <a:spcPts val="200"/>
              </a:spcAft>
            </a:pPr>
            <a:r>
              <a:rPr sz="1400" b="0" dirty="0">
                <a:solidFill>
                  <a:srgbClr val="CBD5E1"/>
                </a:solidFill>
                <a:latin typeface="Rockwell" panose="02060603020205020403" pitchFamily="18" charset="0"/>
              </a:rPr>
              <a:t>Scheduler · Threads/IPC · Memory &amp; power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58768"/>
            <a:ext cx="6510528" cy="2011680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3848283"/>
            <a:ext cx="6098469" cy="487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dirty="0">
                <a:solidFill>
                  <a:srgbClr val="FFFFFF"/>
                </a:solidFill>
                <a:latin typeface="Rockwell" panose="02060603020205020403" pitchFamily="18" charset="0"/>
              </a:rPr>
              <a:t>HAL &amp; Device Drivers</a:t>
            </a:r>
          </a:p>
          <a:p>
            <a:pPr algn="l">
              <a:spcAft>
                <a:spcPts val="200"/>
              </a:spcAft>
            </a:pPr>
            <a:r>
              <a:rPr sz="1400" b="0" dirty="0" err="1">
                <a:solidFill>
                  <a:srgbClr val="CBD5E1"/>
                </a:solidFill>
                <a:latin typeface="Rockwell" panose="02060603020205020403" pitchFamily="18" charset="0"/>
              </a:rPr>
              <a:t>Devicetree</a:t>
            </a:r>
            <a:r>
              <a:rPr sz="1400" b="0" dirty="0">
                <a:solidFill>
                  <a:srgbClr val="CBD5E1"/>
                </a:solidFill>
                <a:latin typeface="Rockwell" panose="02060603020205020403" pitchFamily="18" charset="0"/>
              </a:rPr>
              <a:t>-described peripheral drivers (incl. st_vl53l8cx)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99432"/>
            <a:ext cx="6510528" cy="128016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8680" y="4695777"/>
            <a:ext cx="6098469" cy="4565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dirty="0">
                <a:solidFill>
                  <a:srgbClr val="FFFFFF"/>
                </a:solidFill>
                <a:latin typeface="Rockwell" panose="02060603020205020403" pitchFamily="18" charset="0"/>
              </a:rPr>
              <a:t>Board Support Package</a:t>
            </a:r>
          </a:p>
          <a:p>
            <a:pPr algn="l">
              <a:spcAft>
                <a:spcPts val="200"/>
              </a:spcAft>
            </a:pPr>
            <a:r>
              <a:rPr sz="1400" b="0" dirty="0">
                <a:solidFill>
                  <a:srgbClr val="CBD5E1"/>
                </a:solidFill>
                <a:latin typeface="Rockwell" panose="02060603020205020403" pitchFamily="18" charset="0"/>
              </a:rPr>
              <a:t>Clocks · Memory map · </a:t>
            </a:r>
            <a:r>
              <a:rPr sz="1400" b="0" dirty="0" err="1">
                <a:solidFill>
                  <a:srgbClr val="CBD5E1"/>
                </a:solidFill>
                <a:latin typeface="Rockwell" panose="02060603020205020403" pitchFamily="18" charset="0"/>
              </a:rPr>
              <a:t>Pinmux</a:t>
            </a:r>
            <a:r>
              <a:rPr sz="1400" b="0" dirty="0">
                <a:solidFill>
                  <a:srgbClr val="CBD5E1"/>
                </a:solidFill>
                <a:latin typeface="Rockwell" panose="02060603020205020403" pitchFamily="18" charset="0"/>
              </a:rPr>
              <a:t> · Boot — per </a:t>
            </a:r>
            <a:r>
              <a:rPr sz="1400" b="0" dirty="0" err="1">
                <a:solidFill>
                  <a:srgbClr val="CBD5E1"/>
                </a:solidFill>
                <a:latin typeface="Rockwell" panose="02060603020205020403" pitchFamily="18" charset="0"/>
              </a:rPr>
              <a:t>Nucleo</a:t>
            </a:r>
            <a:r>
              <a:rPr sz="1400" b="0" dirty="0">
                <a:solidFill>
                  <a:srgbClr val="CBD5E1"/>
                </a:solidFill>
                <a:latin typeface="Rockwell" panose="02060603020205020403" pitchFamily="18" charset="0"/>
              </a:rPr>
              <a:t> 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95749" y="1508760"/>
            <a:ext cx="4828611" cy="523036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366760" y="1691640"/>
            <a:ext cx="2862160" cy="320040"/>
          </a:xfrm>
          <a:prstGeom prst="roundRect">
            <a:avLst>
              <a:gd name="adj" fmla="val 50000"/>
            </a:avLst>
          </a:prstGeom>
          <a:solidFill>
            <a:srgbClr val="1E2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66760" y="1774716"/>
            <a:ext cx="286216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6B6D4"/>
                </a:solidFill>
                <a:latin typeface="Rockwell" panose="02060603020205020403" pitchFamily="18" charset="0"/>
              </a:rPr>
              <a:t>WHY IT MATTERS 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075688"/>
            <a:ext cx="286216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Rockwell" panose="02060603020205020403" pitchFamily="18" charset="0"/>
              </a:rPr>
              <a:t>Every layer is optional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7768" y="2651760"/>
            <a:ext cx="4617720" cy="41065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i="1" dirty="0">
                <a:solidFill>
                  <a:srgbClr val="CBD5E1"/>
                </a:solidFill>
                <a:latin typeface="Rockwell" panose="02060603020205020403" pitchFamily="18" charset="0"/>
              </a:rPr>
              <a:t>Build only what your application needs</a:t>
            </a:r>
          </a:p>
          <a:p>
            <a:pPr>
              <a:spcAft>
                <a:spcPts val="600"/>
              </a:spcAft>
            </a:pPr>
            <a:endParaRPr lang="en-GB" sz="1400" b="1" i="1" dirty="0">
              <a:solidFill>
                <a:srgbClr val="CBD5E1"/>
              </a:solidFill>
              <a:latin typeface="Rockwell" panose="02060603020205020403" pitchFamily="18" charset="0"/>
            </a:endParaRPr>
          </a:p>
          <a:p>
            <a:pPr algn="l"/>
            <a:r>
              <a:rPr sz="1400" b="1" dirty="0">
                <a:solidFill>
                  <a:srgbClr val="CBD5E1"/>
                </a:solidFill>
                <a:latin typeface="Rockwell" panose="02060603020205020403" pitchFamily="18" charset="0"/>
              </a:rPr>
              <a:t>Every OS-service block </a:t>
            </a:r>
            <a:r>
              <a:rPr lang="en-GB" sz="1400" dirty="0">
                <a:solidFill>
                  <a:srgbClr val="CBD5E1"/>
                </a:solidFill>
                <a:latin typeface="Rockwell" panose="02060603020205020403" pitchFamily="18" charset="0"/>
              </a:rPr>
              <a:t>:</a:t>
            </a:r>
            <a:r>
              <a:rPr sz="1400" b="0" dirty="0">
                <a:solidFill>
                  <a:srgbClr val="CBD5E1"/>
                </a:solidFill>
                <a:latin typeface="Rockwell" panose="02060603020205020403" pitchFamily="18" charset="0"/>
              </a:rPr>
              <a:t> networking, filesystems,</a:t>
            </a:r>
          </a:p>
          <a:p>
            <a:pPr algn="l"/>
            <a:r>
              <a:rPr sz="1400" b="0" dirty="0">
                <a:solidFill>
                  <a:srgbClr val="CBD5E1"/>
                </a:solidFill>
                <a:latin typeface="Rockwell" panose="02060603020205020403" pitchFamily="18" charset="0"/>
              </a:rPr>
              <a:t>Modbus, crypto — is enabled per project via </a:t>
            </a:r>
            <a:r>
              <a:rPr sz="1400" b="0" dirty="0" err="1">
                <a:solidFill>
                  <a:srgbClr val="CBD5E1"/>
                </a:solidFill>
                <a:latin typeface="Rockwell" panose="02060603020205020403" pitchFamily="18" charset="0"/>
              </a:rPr>
              <a:t>Kconfig</a:t>
            </a:r>
            <a:r>
              <a:rPr sz="1400" b="0" dirty="0">
                <a:solidFill>
                  <a:srgbClr val="CBD5E1"/>
                </a:solidFill>
                <a:latin typeface="Rockwell" panose="02060603020205020403" pitchFamily="18" charset="0"/>
              </a:rPr>
              <a:t>,</a:t>
            </a:r>
          </a:p>
          <a:p>
            <a:pPr algn="l"/>
            <a:r>
              <a:rPr sz="1400" b="0" dirty="0">
                <a:solidFill>
                  <a:srgbClr val="CBD5E1"/>
                </a:solidFill>
                <a:latin typeface="Rockwell" panose="02060603020205020403" pitchFamily="18" charset="0"/>
              </a:rPr>
              <a:t>so flash and RAM are spent only on what an app</a:t>
            </a:r>
          </a:p>
          <a:p>
            <a:pPr algn="l"/>
            <a:r>
              <a:rPr sz="1400" b="0" dirty="0">
                <a:solidFill>
                  <a:srgbClr val="CBD5E1"/>
                </a:solidFill>
                <a:latin typeface="Rockwell" panose="02060603020205020403" pitchFamily="18" charset="0"/>
              </a:rPr>
              <a:t>actually uses.</a:t>
            </a:r>
            <a:endParaRPr lang="en-GB" sz="1400" b="0" dirty="0">
              <a:solidFill>
                <a:srgbClr val="CBD5E1"/>
              </a:solidFill>
              <a:latin typeface="Rockwell" panose="02060603020205020403" pitchFamily="18" charset="0"/>
            </a:endParaRPr>
          </a:p>
          <a:p>
            <a:pPr algn="l"/>
            <a:endParaRPr lang="en-GB" sz="1400" dirty="0">
              <a:solidFill>
                <a:srgbClr val="CBD5E1"/>
              </a:solidFill>
              <a:latin typeface="Rockwell" panose="02060603020205020403" pitchFamily="18" charset="0"/>
            </a:endParaRPr>
          </a:p>
          <a:p>
            <a:pPr algn="l"/>
            <a:r>
              <a:rPr lang="en-GB" sz="1400" b="1" dirty="0">
                <a:solidFill>
                  <a:srgbClr val="CBD5E1"/>
                </a:solidFill>
                <a:latin typeface="Rockwell" panose="02060603020205020403" pitchFamily="18" charset="0"/>
              </a:rPr>
              <a:t>Kernel:  </a:t>
            </a:r>
            <a:r>
              <a:rPr lang="en-GB" sz="1400" b="0" dirty="0">
                <a:solidFill>
                  <a:srgbClr val="CBD5E1"/>
                </a:solidFill>
                <a:latin typeface="Rockwell" panose="02060603020205020403" pitchFamily="18" charset="0"/>
              </a:rPr>
              <a:t>Turn off the scheduler if user do not need multithreading.</a:t>
            </a:r>
            <a:endParaRPr sz="1400" b="0" dirty="0">
              <a:solidFill>
                <a:srgbClr val="CBD5E1"/>
              </a:solidFill>
              <a:latin typeface="Rockwell" panose="02060603020205020403" pitchFamily="18" charset="0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endParaRPr lang="en-GB" sz="1400" b="0" dirty="0">
              <a:solidFill>
                <a:srgbClr val="CBD5E1"/>
              </a:solidFill>
              <a:latin typeface="Rockwell" panose="02060603020205020403" pitchFamily="18" charset="0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GB" sz="1400" b="1" dirty="0">
                <a:solidFill>
                  <a:srgbClr val="CBD5E1"/>
                </a:solidFill>
                <a:latin typeface="Rockwell" panose="02060603020205020403" pitchFamily="18" charset="0"/>
              </a:rPr>
              <a:t>HAL &amp; Device Driver: </a:t>
            </a:r>
            <a:r>
              <a:rPr lang="en-GB" sz="1400" dirty="0">
                <a:solidFill>
                  <a:srgbClr val="CBD5E1"/>
                </a:solidFill>
                <a:latin typeface="Rockwell" panose="02060603020205020403" pitchFamily="18" charset="0"/>
              </a:rPr>
              <a:t>Use only the driver your hardware needs. Device tree describes the peripherals and hardware configurations.</a:t>
            </a:r>
            <a:endParaRPr sz="1400" b="0" dirty="0">
              <a:solidFill>
                <a:srgbClr val="CBD5E1"/>
              </a:solidFill>
              <a:latin typeface="Rockwell" panose="02060603020205020403" pitchFamily="18" charset="0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GB" sz="1400" b="1" dirty="0">
                <a:solidFill>
                  <a:srgbClr val="CBD5E1"/>
                </a:solidFill>
                <a:latin typeface="Rockwell" panose="02060603020205020403" pitchFamily="18" charset="0"/>
              </a:rPr>
              <a:t>Board Support Package: </a:t>
            </a:r>
            <a:r>
              <a:rPr lang="en-GB" sz="1400" b="0" dirty="0">
                <a:solidFill>
                  <a:srgbClr val="CBD5E1"/>
                </a:solidFill>
                <a:latin typeface="Rockwell" panose="02060603020205020403" pitchFamily="18" charset="0"/>
              </a:rPr>
              <a:t>Keep the board-specific details like clock, </a:t>
            </a:r>
            <a:r>
              <a:rPr lang="en-GB" sz="1400" b="0" dirty="0" err="1">
                <a:solidFill>
                  <a:srgbClr val="CBD5E1"/>
                </a:solidFill>
                <a:latin typeface="Rockwell" panose="02060603020205020403" pitchFamily="18" charset="0"/>
              </a:rPr>
              <a:t>pinmux</a:t>
            </a:r>
            <a:r>
              <a:rPr lang="en-GB" sz="1400" b="0" dirty="0">
                <a:solidFill>
                  <a:srgbClr val="CBD5E1"/>
                </a:solidFill>
                <a:latin typeface="Rockwell" panose="02060603020205020403" pitchFamily="18" charset="0"/>
              </a:rPr>
              <a:t>, memory map, boot … separate from user’s application</a:t>
            </a:r>
            <a:r>
              <a:rPr sz="1400" b="0" dirty="0">
                <a:solidFill>
                  <a:srgbClr val="CBD5E1"/>
                </a:solidFill>
                <a:latin typeface="Rockwell" panose="02060603020205020403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621792"/>
            <a:ext cx="100584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dirty="0">
                <a:solidFill>
                  <a:srgbClr val="0F172A"/>
                </a:solidFill>
                <a:latin typeface="Rockwell" panose="02060603020205020403" pitchFamily="18" charset="0"/>
              </a:rPr>
              <a:t>Build System &amp; Tooling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911535" cy="608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latin typeface="Rockwell" panose="02060603020205020403" pitchFamily="18" charset="0"/>
              </a:rPr>
              <a:t>Zephyr borrows the Linux kernel's proven configuration model: Device</a:t>
            </a:r>
            <a:r>
              <a:rPr lang="en-GB" sz="1600" dirty="0">
                <a:latin typeface="Rockwell" panose="02060603020205020403" pitchFamily="18" charset="0"/>
              </a:rPr>
              <a:t>-</a:t>
            </a:r>
            <a:r>
              <a:rPr sz="1600" b="0" dirty="0">
                <a:latin typeface="Rockwell" panose="02060603020205020403" pitchFamily="18" charset="0"/>
              </a:rPr>
              <a:t>tree describes the hardware, </a:t>
            </a:r>
            <a:r>
              <a:rPr sz="1600" b="0" dirty="0" err="1">
                <a:latin typeface="Rockwell" panose="02060603020205020403" pitchFamily="18" charset="0"/>
              </a:rPr>
              <a:t>Kconfig</a:t>
            </a:r>
            <a:r>
              <a:rPr sz="1600" b="0" dirty="0">
                <a:latin typeface="Rockwell" panose="02060603020205020403" pitchFamily="18" charset="0"/>
              </a:rPr>
              <a:t> selects the features to build, and west ties sources, SDK and board definitions into one reproducible build.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531547"/>
            <a:ext cx="3154680" cy="6976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dirty="0" err="1">
                <a:latin typeface="Rockwell" panose="02060603020205020403" pitchFamily="18" charset="0"/>
              </a:rPr>
              <a:t>Devicetree</a:t>
            </a:r>
            <a:r>
              <a:rPr sz="1400" b="1" dirty="0">
                <a:latin typeface="Rockwell" panose="02060603020205020403" pitchFamily="18" charset="0"/>
              </a:rPr>
              <a:t> (.</a:t>
            </a:r>
            <a:r>
              <a:rPr sz="1400" b="1" dirty="0" err="1">
                <a:latin typeface="Rockwell" panose="02060603020205020403" pitchFamily="18" charset="0"/>
              </a:rPr>
              <a:t>dts</a:t>
            </a:r>
            <a:r>
              <a:rPr sz="1400" b="1" dirty="0">
                <a:latin typeface="Rockwell" panose="02060603020205020403" pitchFamily="18" charset="0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sz="1400" b="0" dirty="0">
                <a:latin typeface="Rockwell" panose="02060603020205020403" pitchFamily="18" charset="0"/>
              </a:rPr>
              <a:t>Describes board pins, clocks &amp; peripherals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757249"/>
            <a:ext cx="914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64748B"/>
                </a:solidFill>
                <a:latin typeface="Rockwell" panose="02060603020205020403" pitchFamily="18" charset="0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377440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34840" y="2531547"/>
            <a:ext cx="3154680" cy="6976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dirty="0" err="1">
                <a:latin typeface="Rockwell" panose="02060603020205020403" pitchFamily="18" charset="0"/>
              </a:rPr>
              <a:t>Kconfig</a:t>
            </a:r>
            <a:endParaRPr sz="1400" b="1" dirty="0">
              <a:latin typeface="Rockwell" panose="02060603020205020403" pitchFamily="18" charset="0"/>
            </a:endParaRPr>
          </a:p>
          <a:p>
            <a:pPr algn="l">
              <a:spcAft>
                <a:spcPts val="400"/>
              </a:spcAft>
            </a:pPr>
            <a:r>
              <a:rPr sz="1400" b="0" dirty="0">
                <a:latin typeface="Rockwell" panose="02060603020205020403" pitchFamily="18" charset="0"/>
              </a:rPr>
              <a:t>Enables kernel features &amp; libraries (e.g. Modbus, ST_VL53L8CX)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757249"/>
            <a:ext cx="914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64748B"/>
                </a:solidFill>
                <a:latin typeface="Rockwell" panose="02060603020205020403" pitchFamily="18" charset="0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377440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46720" y="2531547"/>
            <a:ext cx="3154680" cy="6976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dirty="0">
                <a:latin typeface="Rockwell" panose="02060603020205020403" pitchFamily="18" charset="0"/>
              </a:rPr>
              <a:t>App source + </a:t>
            </a:r>
            <a:r>
              <a:rPr sz="1400" b="1" dirty="0" err="1">
                <a:latin typeface="Rockwell" panose="02060603020205020403" pitchFamily="18" charset="0"/>
              </a:rPr>
              <a:t>CMake</a:t>
            </a:r>
            <a:endParaRPr sz="1400" b="1" dirty="0">
              <a:latin typeface="Rockwell" panose="02060603020205020403" pitchFamily="18" charset="0"/>
            </a:endParaRPr>
          </a:p>
          <a:p>
            <a:pPr algn="l">
              <a:spcAft>
                <a:spcPts val="400"/>
              </a:spcAft>
            </a:pPr>
            <a:r>
              <a:rPr sz="1400" b="0" dirty="0">
                <a:latin typeface="Rockwell" panose="02060603020205020403" pitchFamily="18" charset="0"/>
              </a:rPr>
              <a:t>Application logic and build description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40480"/>
            <a:ext cx="10911535" cy="1554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0120" y="4106041"/>
            <a:ext cx="10271455" cy="10233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Rockwell" panose="02060603020205020403" pitchFamily="18" charset="0"/>
              </a:rPr>
              <a:t>CMake + Ninja  →  zephyr.elf  →  west flash / west debug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6B6D4"/>
                </a:solidFill>
                <a:latin typeface="Rockwell" panose="02060603020205020403" pitchFamily="18" charset="0"/>
              </a:rPr>
              <a:t>$ west build -b nucleo_h723zg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6B6D4"/>
                </a:solidFill>
                <a:latin typeface="Rockwell" panose="02060603020205020403" pitchFamily="18" charset="0"/>
              </a:rPr>
              <a:t>$ west flash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6B6D4"/>
                </a:solidFill>
                <a:latin typeface="Rockwell" panose="02060603020205020403" pitchFamily="18" charset="0"/>
              </a:rPr>
              <a:t>$ west debug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1091153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dirty="0">
                <a:latin typeface="Rockwell" panose="02060603020205020403" pitchFamily="18" charset="0"/>
              </a:rPr>
              <a:t>One command line, any supported board in the workspace — no vendor IDE required.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384048"/>
            <a:ext cx="10058400" cy="984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dirty="0">
                <a:solidFill>
                  <a:srgbClr val="0F172A"/>
                </a:solidFill>
                <a:latin typeface="Rockwell" panose="02060603020205020403" pitchFamily="18" charset="0"/>
              </a:rPr>
              <a:t>What is West</a:t>
            </a:r>
            <a:r>
              <a:rPr lang="en-GB" sz="3200" b="1" dirty="0">
                <a:solidFill>
                  <a:srgbClr val="0F172A"/>
                </a:solidFill>
                <a:latin typeface="Rockwell" panose="02060603020205020403" pitchFamily="18" charset="0"/>
              </a:rPr>
              <a:t>: </a:t>
            </a:r>
            <a:r>
              <a:rPr lang="en-US" sz="3200" b="1" dirty="0">
                <a:latin typeface="Rockwell" panose="02060603020205020403" pitchFamily="18" charset="0"/>
              </a:rPr>
              <a:t>One Command to Manage the Whole Workspace</a:t>
            </a:r>
            <a:endParaRPr sz="3200" b="1" dirty="0">
              <a:solidFill>
                <a:srgbClr val="0F172A"/>
              </a:solidFill>
              <a:latin typeface="Rockwell" panose="02060603020205020403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6675120" cy="4709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6217920" cy="4190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lang="en-US" b="1" dirty="0">
                <a:latin typeface="Rockwell" panose="02060603020205020403" pitchFamily="18" charset="0"/>
              </a:rPr>
              <a:t>West manages all the repositories needed by your Zephyr project.</a:t>
            </a:r>
            <a:endParaRPr lang="en-US" dirty="0">
              <a:latin typeface="Rockwell" panose="02060603020205020403" pitchFamily="18" charset="0"/>
            </a:endParaRPr>
          </a:p>
          <a:p>
            <a:pPr>
              <a:spcAft>
                <a:spcPts val="1400"/>
              </a:spcAft>
            </a:pPr>
            <a:endParaRPr lang="en-GB" sz="1600" dirty="0">
              <a:latin typeface="Rockwell" panose="02060603020205020403" pitchFamily="18" charset="0"/>
            </a:endParaRPr>
          </a:p>
          <a:p>
            <a:pPr>
              <a:spcAft>
                <a:spcPts val="1400"/>
              </a:spcAft>
            </a:pPr>
            <a:r>
              <a:rPr sz="1600" dirty="0">
                <a:latin typeface="Rockwell" panose="02060603020205020403" pitchFamily="18" charset="0"/>
              </a:rPr>
              <a:t>■  </a:t>
            </a:r>
            <a:r>
              <a:rPr lang="en-GB" sz="1600" b="1" dirty="0">
                <a:latin typeface="Rockwell" panose="02060603020205020403" pitchFamily="18" charset="0"/>
              </a:rPr>
              <a:t>One project, many repositories</a:t>
            </a:r>
            <a:r>
              <a:rPr sz="1600" b="1" dirty="0">
                <a:latin typeface="Rockwell" panose="02060603020205020403" pitchFamily="18" charset="0"/>
              </a:rPr>
              <a:t>: </a:t>
            </a:r>
            <a:r>
              <a:rPr lang="en-US" sz="1400" b="0" dirty="0">
                <a:latin typeface="Rockwell" panose="02060603020205020403" pitchFamily="18" charset="0"/>
              </a:rPr>
              <a:t>Zephyr</a:t>
            </a:r>
            <a:r>
              <a:rPr lang="en-GB" sz="1400" b="0" dirty="0">
                <a:latin typeface="Rockwell" panose="02060603020205020403" pitchFamily="18" charset="0"/>
              </a:rPr>
              <a:t> is made up of many repositories, kernel, HALs, libraries, drivers, user’s customized repos etc… West manages them all for th</a:t>
            </a:r>
            <a:r>
              <a:rPr lang="en-GB" sz="1400" dirty="0">
                <a:latin typeface="Rockwell" panose="02060603020205020403" pitchFamily="18" charset="0"/>
              </a:rPr>
              <a:t>e users/developers.</a:t>
            </a:r>
            <a:endParaRPr sz="1400" b="0" dirty="0">
              <a:latin typeface="Rockwell" panose="02060603020205020403" pitchFamily="18" charset="0"/>
            </a:endParaRPr>
          </a:p>
          <a:p>
            <a:pPr>
              <a:spcAft>
                <a:spcPts val="1400"/>
              </a:spcAft>
            </a:pPr>
            <a:r>
              <a:rPr sz="1600" dirty="0">
                <a:latin typeface="Rockwell" panose="02060603020205020403" pitchFamily="18" charset="0"/>
              </a:rPr>
              <a:t>■  </a:t>
            </a:r>
            <a:r>
              <a:rPr lang="en-GB" sz="1600" b="1" dirty="0" err="1">
                <a:latin typeface="Rockwell" panose="02060603020205020403" pitchFamily="18" charset="0"/>
              </a:rPr>
              <a:t>west.yaml</a:t>
            </a:r>
            <a:r>
              <a:rPr sz="1600" b="1" dirty="0">
                <a:latin typeface="Rockwell" panose="02060603020205020403" pitchFamily="18" charset="0"/>
              </a:rPr>
              <a:t>: </a:t>
            </a:r>
            <a:r>
              <a:rPr lang="en-GB" sz="1600" dirty="0">
                <a:latin typeface="Rockwell" panose="02060603020205020403" pitchFamily="18" charset="0"/>
              </a:rPr>
              <a:t>tells west what to get, it lists the repositories and the exact version/commits required by the project</a:t>
            </a:r>
            <a:r>
              <a:rPr sz="1600" b="0" dirty="0">
                <a:latin typeface="Rockwell" panose="02060603020205020403" pitchFamily="18" charset="0"/>
              </a:rPr>
              <a:t>.</a:t>
            </a:r>
          </a:p>
          <a:p>
            <a:pPr>
              <a:spcAft>
                <a:spcPts val="1400"/>
              </a:spcAft>
            </a:pPr>
            <a:r>
              <a:rPr sz="1600" dirty="0">
                <a:latin typeface="Rockwell" panose="02060603020205020403" pitchFamily="18" charset="0"/>
              </a:rPr>
              <a:t>■  </a:t>
            </a:r>
            <a:r>
              <a:rPr lang="en-GB" sz="1600" b="1" dirty="0">
                <a:latin typeface="Rockwell" panose="02060603020205020403" pitchFamily="18" charset="0"/>
              </a:rPr>
              <a:t>Clone once, get the whole workspace</a:t>
            </a:r>
            <a:r>
              <a:rPr sz="1600" b="1" dirty="0">
                <a:latin typeface="Rockwell" panose="02060603020205020403" pitchFamily="18" charset="0"/>
              </a:rPr>
              <a:t>: </a:t>
            </a:r>
            <a:r>
              <a:rPr lang="en-GB" sz="1600" dirty="0">
                <a:latin typeface="Rockwell" panose="02060603020205020403" pitchFamily="18" charset="0"/>
              </a:rPr>
              <a:t>When user clone the application repo, and west uses </a:t>
            </a:r>
            <a:r>
              <a:rPr lang="en-GB" sz="1600" dirty="0" err="1">
                <a:latin typeface="Rockwell" panose="02060603020205020403" pitchFamily="18" charset="0"/>
              </a:rPr>
              <a:t>west.yml</a:t>
            </a:r>
            <a:r>
              <a:rPr lang="en-GB" sz="1600" dirty="0">
                <a:latin typeface="Rockwell" panose="02060603020205020403" pitchFamily="18" charset="0"/>
              </a:rPr>
              <a:t> to fetch the rest of the required repositories.</a:t>
            </a:r>
            <a:endParaRPr sz="1600" b="0" dirty="0">
              <a:latin typeface="Rockwell" panose="02060603020205020403" pitchFamily="18" charset="0"/>
            </a:endParaRPr>
          </a:p>
          <a:p>
            <a:pPr>
              <a:spcAft>
                <a:spcPts val="1400"/>
              </a:spcAft>
            </a:pPr>
            <a:r>
              <a:rPr sz="1600" dirty="0">
                <a:latin typeface="Rockwell" panose="02060603020205020403" pitchFamily="18" charset="0"/>
              </a:rPr>
              <a:t>■  </a:t>
            </a:r>
            <a:r>
              <a:rPr sz="1600" b="1" dirty="0">
                <a:latin typeface="Rockwell" panose="02060603020205020403" pitchFamily="18" charset="0"/>
              </a:rPr>
              <a:t>Unified commands: </a:t>
            </a:r>
            <a:r>
              <a:rPr sz="1600" b="1" i="1" dirty="0">
                <a:latin typeface="Rockwell" panose="02060603020205020403" pitchFamily="18" charset="0"/>
              </a:rPr>
              <a:t>west </a:t>
            </a:r>
            <a:r>
              <a:rPr sz="1600" b="1" i="1" dirty="0" err="1">
                <a:latin typeface="Rockwell" panose="02060603020205020403" pitchFamily="18" charset="0"/>
              </a:rPr>
              <a:t>init</a:t>
            </a:r>
            <a:r>
              <a:rPr sz="1600" b="0" dirty="0">
                <a:latin typeface="Rockwell" panose="02060603020205020403" pitchFamily="18" charset="0"/>
              </a:rPr>
              <a:t>, </a:t>
            </a:r>
            <a:r>
              <a:rPr sz="1600" b="1" i="1" dirty="0">
                <a:latin typeface="Rockwell" panose="02060603020205020403" pitchFamily="18" charset="0"/>
              </a:rPr>
              <a:t>west update</a:t>
            </a:r>
            <a:r>
              <a:rPr sz="1600" b="0" dirty="0">
                <a:latin typeface="Rockwell" panose="02060603020205020403" pitchFamily="18" charset="0"/>
              </a:rPr>
              <a:t>, </a:t>
            </a:r>
            <a:r>
              <a:rPr sz="1600" b="1" i="1" dirty="0">
                <a:latin typeface="Rockwell" panose="02060603020205020403" pitchFamily="18" charset="0"/>
              </a:rPr>
              <a:t>west build</a:t>
            </a:r>
            <a:r>
              <a:rPr sz="1600" b="0" dirty="0">
                <a:latin typeface="Rockwell" panose="02060603020205020403" pitchFamily="18" charset="0"/>
              </a:rPr>
              <a:t>, </a:t>
            </a:r>
            <a:r>
              <a:rPr sz="1600" b="1" i="1" dirty="0">
                <a:latin typeface="Rockwell" panose="02060603020205020403" pitchFamily="18" charset="0"/>
              </a:rPr>
              <a:t>west flash, west debug</a:t>
            </a:r>
            <a:r>
              <a:rPr lang="en-GB" sz="1600" b="1" i="1" dirty="0">
                <a:latin typeface="Rockwell" panose="02060603020205020403" pitchFamily="18" charset="0"/>
              </a:rPr>
              <a:t> , </a:t>
            </a:r>
            <a:r>
              <a:rPr sz="1600" b="0" dirty="0">
                <a:latin typeface="Rockwell" panose="02060603020205020403" pitchFamily="18" charset="0"/>
              </a:rPr>
              <a:t>same on every 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508760"/>
            <a:ext cx="4005072" cy="47091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863840" y="1691640"/>
            <a:ext cx="3364992" cy="320040"/>
          </a:xfrm>
          <a:prstGeom prst="roundRect">
            <a:avLst>
              <a:gd name="adj" fmla="val 50000"/>
            </a:avLst>
          </a:prstGeom>
          <a:solidFill>
            <a:srgbClr val="1E2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63840" y="1728550"/>
            <a:ext cx="336499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600" b="1" dirty="0">
                <a:solidFill>
                  <a:schemeClr val="bg1"/>
                </a:solidFill>
                <a:latin typeface="Rockwell" panose="02060603020205020403" pitchFamily="18" charset="0"/>
              </a:rPr>
              <a:t>OUR PROJECT STRUCTURE</a:t>
            </a:r>
            <a:endParaRPr sz="16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63840" y="2240280"/>
            <a:ext cx="3364992" cy="34778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Rockwell" panose="02060603020205020403" pitchFamily="18" charset="0"/>
              </a:rPr>
              <a:t>zephyr_app</a:t>
            </a:r>
            <a:r>
              <a:rPr lang="en-US" sz="1600" dirty="0">
                <a:solidFill>
                  <a:schemeClr val="bg1"/>
                </a:solidFill>
                <a:latin typeface="Rockwell" panose="02060603020205020403" pitchFamily="18" charset="0"/>
              </a:rPr>
              <a:t> is our main repository</a:t>
            </a:r>
          </a:p>
          <a:p>
            <a:r>
              <a:rPr lang="en-US" sz="1600" dirty="0">
                <a:solidFill>
                  <a:schemeClr val="bg1"/>
                </a:solidFill>
                <a:latin typeface="Rockwell" panose="02060603020205020403" pitchFamily="18" charset="0"/>
              </a:rPr>
              <a:t>It contains</a:t>
            </a:r>
          </a:p>
          <a:p>
            <a:r>
              <a:rPr lang="en-US" sz="1600" dirty="0" err="1">
                <a:solidFill>
                  <a:schemeClr val="bg1"/>
                </a:solidFill>
                <a:latin typeface="Rockwell" panose="02060603020205020403" pitchFamily="18" charset="0"/>
              </a:rPr>
              <a:t>west.yml</a:t>
            </a:r>
            <a:endParaRPr lang="en-US" sz="1600" dirty="0">
              <a:solidFill>
                <a:schemeClr val="bg1"/>
              </a:solidFill>
              <a:latin typeface="Rockwell" panose="02060603020205020403" pitchFamily="18" charset="0"/>
            </a:endParaRPr>
          </a:p>
          <a:p>
            <a:endParaRPr lang="en-US" sz="1600" dirty="0">
              <a:solidFill>
                <a:schemeClr val="bg1"/>
              </a:solidFill>
              <a:latin typeface="Rockwell" panose="02060603020205020403" pitchFamily="18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Rockwell" panose="02060603020205020403" pitchFamily="18" charset="0"/>
              </a:rPr>
              <a:t>Which tell west to fetch:</a:t>
            </a:r>
          </a:p>
          <a:p>
            <a:endParaRPr lang="en-US" sz="1600" dirty="0">
              <a:solidFill>
                <a:schemeClr val="bg1"/>
              </a:solidFill>
              <a:latin typeface="Rockwell" panose="02060603020205020403" pitchFamily="18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Rockwell" panose="02060603020205020403" pitchFamily="18" charset="0"/>
              </a:rPr>
              <a:t>zephyr/</a:t>
            </a:r>
          </a:p>
          <a:p>
            <a:r>
              <a:rPr lang="en-US" sz="1600" dirty="0">
                <a:solidFill>
                  <a:schemeClr val="bg1"/>
                </a:solidFill>
                <a:latin typeface="Rockwell" panose="02060603020205020403" pitchFamily="18" charset="0"/>
              </a:rPr>
              <a:t>modules/</a:t>
            </a:r>
          </a:p>
          <a:p>
            <a:r>
              <a:rPr lang="en-GB" sz="1600" dirty="0">
                <a:solidFill>
                  <a:schemeClr val="bg1"/>
                </a:solidFill>
                <a:latin typeface="Rockwell" panose="02060603020205020403" pitchFamily="18" charset="0"/>
              </a:rPr>
              <a:t>bootloader/</a:t>
            </a:r>
            <a:r>
              <a:rPr lang="en-GB" sz="1600" dirty="0" err="1">
                <a:solidFill>
                  <a:schemeClr val="bg1"/>
                </a:solidFill>
                <a:latin typeface="Rockwell" panose="02060603020205020403" pitchFamily="18" charset="0"/>
              </a:rPr>
              <a:t>mcuboot</a:t>
            </a:r>
            <a:endParaRPr lang="en-GB" sz="1600" dirty="0">
              <a:solidFill>
                <a:schemeClr val="bg1"/>
              </a:solidFill>
              <a:latin typeface="Rockwell" panose="02060603020205020403" pitchFamily="18" charset="0"/>
            </a:endParaRPr>
          </a:p>
          <a:p>
            <a:r>
              <a:rPr lang="en-GB" sz="1600" dirty="0">
                <a:solidFill>
                  <a:schemeClr val="bg1"/>
                </a:solidFill>
                <a:latin typeface="Rockwell" panose="02060603020205020403" pitchFamily="18" charset="0"/>
              </a:rPr>
              <a:t>….</a:t>
            </a:r>
          </a:p>
          <a:p>
            <a:endParaRPr lang="en-GB" sz="1600" dirty="0">
              <a:solidFill>
                <a:schemeClr val="bg1"/>
              </a:solidFill>
              <a:latin typeface="Rockwell" panose="02060603020205020403" pitchFamily="18" charset="0"/>
            </a:endParaRPr>
          </a:p>
          <a:p>
            <a:r>
              <a:rPr lang="en-GB" sz="1600" dirty="0">
                <a:solidFill>
                  <a:schemeClr val="bg1"/>
                </a:solidFill>
                <a:latin typeface="Rockwell" panose="02060603020205020403" pitchFamily="18" charset="0"/>
              </a:rPr>
              <a:t>Just clone </a:t>
            </a:r>
            <a:r>
              <a:rPr lang="en-GB" sz="1600" dirty="0" err="1">
                <a:solidFill>
                  <a:schemeClr val="bg1"/>
                </a:solidFill>
                <a:latin typeface="Rockwell" panose="02060603020205020403" pitchFamily="18" charset="0"/>
              </a:rPr>
              <a:t>zephyr_app</a:t>
            </a:r>
            <a:r>
              <a:rPr lang="en-GB" sz="1600" dirty="0">
                <a:solidFill>
                  <a:schemeClr val="bg1"/>
                </a:solidFill>
                <a:latin typeface="Rockwell" panose="02060603020205020403" pitchFamily="18" charset="0"/>
              </a:rPr>
              <a:t> </a:t>
            </a:r>
            <a:r>
              <a:rPr lang="en-GB" sz="1600" dirty="0">
                <a:solidFill>
                  <a:schemeClr val="bg1"/>
                </a:solidFill>
                <a:latin typeface="Rockwell" panose="02060603020205020403" pitchFamily="18" charset="0"/>
                <a:sym typeface="Wingdings" panose="05000000000000000000" pitchFamily="2" charset="2"/>
              </a:rPr>
              <a:t> run west update  get the complete workspace</a:t>
            </a:r>
            <a:endParaRPr sz="1600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246888"/>
            <a:ext cx="100584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dirty="0">
                <a:solidFill>
                  <a:srgbClr val="0F172A"/>
                </a:solidFill>
                <a:latin typeface="Rockwell" panose="02060603020205020403" pitchFamily="18" charset="0"/>
              </a:rPr>
              <a:t>Inside the zephyr/ Core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35204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Rockwell" panose="02060603020205020403" pitchFamily="18" charset="0"/>
              </a:rPr>
              <a:t>CORE &amp;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520440" cy="4197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31546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Rockwell" panose="02060603020205020403" pitchFamily="18" charset="0"/>
              </a:rPr>
              <a:t>kernel/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3154680" cy="4943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latin typeface="Rockwell" panose="02060603020205020403" pitchFamily="18" charset="0"/>
              </a:rPr>
              <a:t>Preemptive scheduler, threads, memory slabs, mutexes, IPC.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31546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latin typeface="Rockwell" panose="02060603020205020403" pitchFamily="18" charset="0"/>
              </a:rPr>
              <a:t>arch/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3154680" cy="4943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latin typeface="Rockwell" panose="02060603020205020403" pitchFamily="18" charset="0"/>
              </a:rPr>
              <a:t>CPU ports: ARM Cortex-M/A/R, RISC-V, x86, Xtensa, ARC.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14800"/>
            <a:ext cx="31546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latin typeface="Rockwell" panose="02060603020205020403" pitchFamily="18" charset="0"/>
              </a:rPr>
              <a:t>Kconfig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34840"/>
            <a:ext cx="3154680" cy="4943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latin typeface="Rockwell" panose="02060603020205020403" pitchFamily="18" charset="0"/>
              </a:rPr>
              <a:t>Root build-time feature tree (symbols, dependencies, menus.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1508760"/>
            <a:ext cx="35204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Rockwell" panose="02060603020205020403" pitchFamily="18" charset="0"/>
              </a:rPr>
              <a:t>HARDWARE &amp; DRIVERS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920240"/>
            <a:ext cx="3520440" cy="4197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34840" y="2103120"/>
            <a:ext cx="31546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Rockwell" panose="02060603020205020403" pitchFamily="18" charset="0"/>
              </a:rPr>
              <a:t>drivers/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423160"/>
            <a:ext cx="3154680" cy="4943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latin typeface="Rockwell" panose="02060603020205020403" pitchFamily="18" charset="0"/>
              </a:rPr>
              <a:t>Peripheral &amp; sensor drivers, indexed by class and vendor.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108960"/>
            <a:ext cx="31546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latin typeface="Rockwell" panose="02060603020205020403" pitchFamily="18" charset="0"/>
              </a:rPr>
              <a:t>boards/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429000"/>
            <a:ext cx="3154680" cy="4943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latin typeface="Rockwell" panose="02060603020205020403" pitchFamily="18" charset="0"/>
              </a:rPr>
              <a:t>Board defs, default configs, devicetree overlays, pinmux.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114800"/>
            <a:ext cx="31546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latin typeface="Rockwell" panose="02060603020205020403" pitchFamily="18" charset="0"/>
              </a:rPr>
              <a:t>dts/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434840"/>
            <a:ext cx="3154680" cy="4943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latin typeface="Rockwell" panose="02060603020205020403" pitchFamily="18" charset="0"/>
              </a:rPr>
              <a:t>Devicetree bindings (.yaml) and base SoC .dtsi includes.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1508760"/>
            <a:ext cx="35204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Rockwell" panose="02060603020205020403" pitchFamily="18" charset="0"/>
              </a:rPr>
              <a:t>SUBSYSTEMS &amp; TESTING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1920240"/>
            <a:ext cx="3520440" cy="4197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46720" y="2103120"/>
            <a:ext cx="31546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Rockwell" panose="02060603020205020403" pitchFamily="18" charset="0"/>
              </a:rPr>
              <a:t>subsys/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423160"/>
            <a:ext cx="3154680" cy="4943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latin typeface="Rockwell" panose="02060603020205020403" pitchFamily="18" charset="0"/>
              </a:rPr>
              <a:t>BLE host/controller, IP networking, USB, filesystems, logging.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108960"/>
            <a:ext cx="31546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latin typeface="Rockwell" panose="02060603020205020403" pitchFamily="18" charset="0"/>
              </a:rPr>
              <a:t>samples/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429000"/>
            <a:ext cx="3154680" cy="2358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latin typeface="Rockwell" panose="02060603020205020403" pitchFamily="18" charset="0"/>
              </a:rPr>
              <a:t>Ready-to-build example applications.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114800"/>
            <a:ext cx="315468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latin typeface="Rockwell" panose="02060603020205020403" pitchFamily="18" charset="0"/>
              </a:rPr>
              <a:t>tests/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434840"/>
            <a:ext cx="3154680" cy="4943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latin typeface="Rockwell" panose="02060603020205020403" pitchFamily="18" charset="0"/>
              </a:rPr>
              <a:t>Automated Twister test suite across architectures.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384048"/>
            <a:ext cx="100584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dirty="0">
                <a:solidFill>
                  <a:srgbClr val="0F172A"/>
                </a:solidFill>
                <a:latin typeface="Rockwell" panose="02060603020205020403" pitchFamily="18" charset="0"/>
              </a:rPr>
              <a:t>What is a Zephyr Module?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Zephyr on STM32 → the VL53L8CX Driver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967931"/>
            <a:ext cx="6675120" cy="383266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6217920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dirty="0">
                <a:solidFill>
                  <a:srgbClr val="2563EB"/>
                </a:solidFill>
                <a:latin typeface="Rockwell" panose="02060603020205020403" pitchFamily="18" charset="0"/>
              </a:rPr>
              <a:t>■  </a:t>
            </a:r>
            <a:r>
              <a:rPr sz="1600" b="1" dirty="0">
                <a:solidFill>
                  <a:srgbClr val="0F172A"/>
                </a:solidFill>
                <a:latin typeface="Rockwell" panose="02060603020205020403" pitchFamily="18" charset="0"/>
              </a:rPr>
              <a:t>External source integration: </a:t>
            </a:r>
            <a:r>
              <a:rPr sz="1600" b="0" dirty="0">
                <a:solidFill>
                  <a:srgbClr val="475569"/>
                </a:solidFill>
                <a:latin typeface="Rockwell" panose="02060603020205020403" pitchFamily="18" charset="0"/>
              </a:rPr>
              <a:t>modules let vendor HALs, 3rd-party stacks, crypto libs and sensor SDKs plug into Zephyr's </a:t>
            </a:r>
            <a:r>
              <a:rPr sz="1600" b="0" dirty="0" err="1">
                <a:solidFill>
                  <a:srgbClr val="475569"/>
                </a:solidFill>
                <a:latin typeface="Rockwell" panose="02060603020205020403" pitchFamily="18" charset="0"/>
              </a:rPr>
              <a:t>CMake</a:t>
            </a:r>
            <a:r>
              <a:rPr sz="1600" b="0" dirty="0">
                <a:solidFill>
                  <a:srgbClr val="475569"/>
                </a:solidFill>
                <a:latin typeface="Rockwell" panose="02060603020205020403" pitchFamily="18" charset="0"/>
              </a:rPr>
              <a:t> &amp; </a:t>
            </a:r>
            <a:r>
              <a:rPr sz="1600" b="0" dirty="0" err="1">
                <a:solidFill>
                  <a:srgbClr val="475569"/>
                </a:solidFill>
                <a:latin typeface="Rockwell" panose="02060603020205020403" pitchFamily="18" charset="0"/>
              </a:rPr>
              <a:t>Kconfig</a:t>
            </a:r>
            <a:r>
              <a:rPr sz="1600" b="0" dirty="0">
                <a:solidFill>
                  <a:srgbClr val="475569"/>
                </a:solidFill>
                <a:latin typeface="Rockwell" panose="02060603020205020403" pitchFamily="18" charset="0"/>
              </a:rPr>
              <a:t>.</a:t>
            </a:r>
          </a:p>
          <a:p>
            <a:pPr>
              <a:spcAft>
                <a:spcPts val="1400"/>
              </a:spcAft>
            </a:pPr>
            <a:r>
              <a:rPr sz="1600" dirty="0">
                <a:solidFill>
                  <a:srgbClr val="2563EB"/>
                </a:solidFill>
                <a:latin typeface="Rockwell" panose="02060603020205020403" pitchFamily="18" charset="0"/>
              </a:rPr>
              <a:t>■  </a:t>
            </a:r>
            <a:r>
              <a:rPr sz="1600" b="1" dirty="0">
                <a:solidFill>
                  <a:srgbClr val="0F172A"/>
                </a:solidFill>
                <a:latin typeface="Rockwell" panose="02060603020205020403" pitchFamily="18" charset="0"/>
              </a:rPr>
              <a:t>Declared via zephyr/</a:t>
            </a:r>
            <a:r>
              <a:rPr sz="1600" b="1" dirty="0" err="1">
                <a:solidFill>
                  <a:srgbClr val="0F172A"/>
                </a:solidFill>
                <a:latin typeface="Rockwell" panose="02060603020205020403" pitchFamily="18" charset="0"/>
              </a:rPr>
              <a:t>module.yml</a:t>
            </a:r>
            <a:r>
              <a:rPr sz="1600" b="1" dirty="0">
                <a:solidFill>
                  <a:srgbClr val="0F172A"/>
                </a:solidFill>
                <a:latin typeface="Rockwell" panose="02060603020205020403" pitchFamily="18" charset="0"/>
              </a:rPr>
              <a:t>: </a:t>
            </a:r>
            <a:r>
              <a:rPr sz="1600" b="0" dirty="0">
                <a:solidFill>
                  <a:srgbClr val="475569"/>
                </a:solidFill>
                <a:latin typeface="Rockwell" panose="02060603020205020403" pitchFamily="18" charset="0"/>
              </a:rPr>
              <a:t>each module names itself and its </a:t>
            </a:r>
            <a:r>
              <a:rPr sz="1600" b="0" dirty="0" err="1">
                <a:solidFill>
                  <a:srgbClr val="475569"/>
                </a:solidFill>
                <a:latin typeface="Rockwell" panose="02060603020205020403" pitchFamily="18" charset="0"/>
              </a:rPr>
              <a:t>CMake</a:t>
            </a:r>
            <a:r>
              <a:rPr sz="1600" b="0" dirty="0">
                <a:solidFill>
                  <a:srgbClr val="475569"/>
                </a:solidFill>
                <a:latin typeface="Rockwell" panose="02060603020205020403" pitchFamily="18" charset="0"/>
              </a:rPr>
              <a:t>/</a:t>
            </a:r>
            <a:r>
              <a:rPr sz="1600" b="0" dirty="0" err="1">
                <a:solidFill>
                  <a:srgbClr val="475569"/>
                </a:solidFill>
                <a:latin typeface="Rockwell" panose="02060603020205020403" pitchFamily="18" charset="0"/>
              </a:rPr>
              <a:t>Kconfig</a:t>
            </a:r>
            <a:r>
              <a:rPr sz="1600" b="0" dirty="0">
                <a:solidFill>
                  <a:srgbClr val="475569"/>
                </a:solidFill>
                <a:latin typeface="Rockwell" panose="02060603020205020403" pitchFamily="18" charset="0"/>
              </a:rPr>
              <a:t> build hooks.</a:t>
            </a:r>
          </a:p>
          <a:p>
            <a:pPr>
              <a:spcAft>
                <a:spcPts val="1400"/>
              </a:spcAft>
            </a:pPr>
            <a:r>
              <a:rPr sz="1600" dirty="0">
                <a:solidFill>
                  <a:srgbClr val="2563EB"/>
                </a:solidFill>
                <a:latin typeface="Rockwell" panose="02060603020205020403" pitchFamily="18" charset="0"/>
              </a:rPr>
              <a:t>■  </a:t>
            </a:r>
            <a:r>
              <a:rPr sz="1600" b="1" dirty="0">
                <a:solidFill>
                  <a:srgbClr val="0F172A"/>
                </a:solidFill>
                <a:latin typeface="Rockwell" panose="02060603020205020403" pitchFamily="18" charset="0"/>
              </a:rPr>
              <a:t>West-managed: </a:t>
            </a:r>
            <a:r>
              <a:rPr sz="1600" b="0" dirty="0">
                <a:solidFill>
                  <a:srgbClr val="475569"/>
                </a:solidFill>
                <a:latin typeface="Rockwell" panose="02060603020205020403" pitchFamily="18" charset="0"/>
              </a:rPr>
              <a:t>most modules are listed in </a:t>
            </a:r>
            <a:r>
              <a:rPr sz="1600" b="0" dirty="0" err="1">
                <a:solidFill>
                  <a:srgbClr val="475569"/>
                </a:solidFill>
                <a:latin typeface="Rockwell" panose="02060603020205020403" pitchFamily="18" charset="0"/>
              </a:rPr>
              <a:t>west.yml</a:t>
            </a:r>
            <a:r>
              <a:rPr sz="1600" b="0" dirty="0">
                <a:solidFill>
                  <a:srgbClr val="475569"/>
                </a:solidFill>
                <a:latin typeface="Rockwell" panose="02060603020205020403" pitchFamily="18" charset="0"/>
              </a:rPr>
              <a:t> and cloned/pinned automatically on west update.</a:t>
            </a:r>
          </a:p>
          <a:p>
            <a:pPr>
              <a:spcAft>
                <a:spcPts val="1400"/>
              </a:spcAft>
            </a:pPr>
            <a:r>
              <a:rPr sz="1600" dirty="0">
                <a:solidFill>
                  <a:srgbClr val="2563EB"/>
                </a:solidFill>
                <a:latin typeface="Rockwell" panose="02060603020205020403" pitchFamily="18" charset="0"/>
              </a:rPr>
              <a:t>■  </a:t>
            </a:r>
            <a:r>
              <a:rPr sz="1600" b="1" dirty="0">
                <a:solidFill>
                  <a:srgbClr val="0F172A"/>
                </a:solidFill>
                <a:latin typeface="Rockwell" panose="02060603020205020403" pitchFamily="18" charset="0"/>
              </a:rPr>
              <a:t>Our st_vl53l8cx module: </a:t>
            </a:r>
            <a:r>
              <a:rPr sz="1600" b="0" dirty="0">
                <a:solidFill>
                  <a:srgbClr val="475569"/>
                </a:solidFill>
                <a:latin typeface="Rockwell" panose="02060603020205020403" pitchFamily="18" charset="0"/>
              </a:rPr>
              <a:t>listed directly in the root </a:t>
            </a:r>
            <a:r>
              <a:rPr sz="1600" b="0" dirty="0" err="1">
                <a:solidFill>
                  <a:srgbClr val="475569"/>
                </a:solidFill>
                <a:latin typeface="Rockwell" panose="02060603020205020403" pitchFamily="18" charset="0"/>
              </a:rPr>
              <a:t>west.yml</a:t>
            </a:r>
            <a:r>
              <a:rPr sz="1600" b="0" dirty="0">
                <a:solidFill>
                  <a:srgbClr val="475569"/>
                </a:solidFill>
                <a:latin typeface="Rockwell" panose="02060603020205020403" pitchFamily="18" charset="0"/>
              </a:rPr>
              <a:t> (remote: </a:t>
            </a:r>
            <a:r>
              <a:rPr sz="1600" b="0" dirty="0" err="1">
                <a:solidFill>
                  <a:srgbClr val="475569"/>
                </a:solidFill>
                <a:latin typeface="Rockwell" panose="02060603020205020403" pitchFamily="18" charset="0"/>
              </a:rPr>
              <a:t>github</a:t>
            </a:r>
            <a:r>
              <a:rPr sz="1600" b="0" dirty="0">
                <a:solidFill>
                  <a:srgbClr val="475569"/>
                </a:solidFill>
                <a:latin typeface="Rockwell" panose="02060603020205020403" pitchFamily="18" charset="0"/>
              </a:rPr>
              <a:t>, revision: main) — fully west-managed.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937760"/>
            <a:ext cx="6675120" cy="12801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5029200"/>
            <a:ext cx="62179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dirty="0">
                <a:solidFill>
                  <a:srgbClr val="06B6D4"/>
                </a:solidFill>
                <a:latin typeface="Segoe UI"/>
              </a:rPr>
              <a:t>OUR modules/sensor/st_vl53l8cx/zephyr/</a:t>
            </a:r>
            <a:r>
              <a:rPr sz="1000" b="1" dirty="0" err="1">
                <a:solidFill>
                  <a:srgbClr val="06B6D4"/>
                </a:solidFill>
                <a:latin typeface="Segoe UI"/>
              </a:rPr>
              <a:t>module.yml</a:t>
            </a:r>
            <a:endParaRPr sz="1000" b="1" dirty="0">
              <a:solidFill>
                <a:srgbClr val="06B6D4"/>
              </a:solidFill>
              <a:latin typeface="Segoe UI"/>
            </a:endParaRP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CBD5E1"/>
                </a:solidFill>
                <a:latin typeface="Consolas"/>
              </a:rPr>
              <a:t>name: st_vl53l8cx</a:t>
            </a:r>
          </a:p>
          <a:p>
            <a:pPr algn="l">
              <a:spcAft>
                <a:spcPts val="300"/>
              </a:spcAft>
            </a:pPr>
            <a:r>
              <a:rPr sz="1050" b="0" dirty="0">
                <a:solidFill>
                  <a:srgbClr val="CBD5E1"/>
                </a:solidFill>
                <a:latin typeface="Consolas"/>
              </a:rPr>
              <a:t>build:  </a:t>
            </a:r>
            <a:r>
              <a:rPr sz="1050" b="0" dirty="0" err="1">
                <a:solidFill>
                  <a:srgbClr val="CBD5E1"/>
                </a:solidFill>
                <a:latin typeface="Consolas"/>
              </a:rPr>
              <a:t>cmake</a:t>
            </a:r>
            <a:r>
              <a:rPr sz="1050" b="0" dirty="0">
                <a:solidFill>
                  <a:srgbClr val="CBD5E1"/>
                </a:solidFill>
                <a:latin typeface="Consolas"/>
              </a:rPr>
              <a:t>: .  </a:t>
            </a:r>
            <a:r>
              <a:rPr sz="1050" b="0" dirty="0" err="1">
                <a:solidFill>
                  <a:srgbClr val="CBD5E1"/>
                </a:solidFill>
                <a:latin typeface="Consolas"/>
              </a:rPr>
              <a:t>kconfig</a:t>
            </a:r>
            <a:r>
              <a:rPr sz="1050" b="0" dirty="0">
                <a:solidFill>
                  <a:srgbClr val="CBD5E1"/>
                </a:solidFill>
                <a:latin typeface="Consolas"/>
              </a:rPr>
              <a:t>: </a:t>
            </a:r>
            <a:r>
              <a:rPr sz="1050" b="0" dirty="0" err="1">
                <a:solidFill>
                  <a:srgbClr val="CBD5E1"/>
                </a:solidFill>
                <a:latin typeface="Consolas"/>
              </a:rPr>
              <a:t>Kconfig</a:t>
            </a:r>
            <a:r>
              <a:rPr sz="1050" b="0" dirty="0">
                <a:solidFill>
                  <a:srgbClr val="CBD5E1"/>
                </a:solidFill>
                <a:latin typeface="Consolas"/>
              </a:rPr>
              <a:t>  settings: {</a:t>
            </a:r>
            <a:r>
              <a:rPr sz="1050" b="0" dirty="0" err="1">
                <a:solidFill>
                  <a:srgbClr val="CBD5E1"/>
                </a:solidFill>
                <a:latin typeface="Consolas"/>
              </a:rPr>
              <a:t>dts_root</a:t>
            </a:r>
            <a:r>
              <a:rPr sz="1050" b="0" dirty="0">
                <a:solidFill>
                  <a:srgbClr val="CBD5E1"/>
                </a:solidFill>
                <a:latin typeface="Consolas"/>
              </a:rPr>
              <a:t>: .}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960120"/>
            <a:ext cx="4005072" cy="5257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863840" y="1691640"/>
            <a:ext cx="3364992" cy="320040"/>
          </a:xfrm>
          <a:prstGeom prst="roundRect">
            <a:avLst>
              <a:gd name="adj" fmla="val 50000"/>
            </a:avLst>
          </a:prstGeom>
          <a:solidFill>
            <a:srgbClr val="1E2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691640"/>
            <a:ext cx="336499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dirty="0">
                <a:solidFill>
                  <a:srgbClr val="06B6D4"/>
                </a:solidFill>
                <a:latin typeface="Segoe UI"/>
              </a:rPr>
              <a:t>MODULE CATEGORIES IN OUR 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3649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dirty="0">
                <a:solidFill>
                  <a:srgbClr val="FFFFFF"/>
                </a:solidFill>
                <a:latin typeface="Segoe UI"/>
              </a:rPr>
              <a:t>modules/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51760"/>
            <a:ext cx="3364992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 dirty="0" err="1">
                <a:solidFill>
                  <a:srgbClr val="CBD5E1"/>
                </a:solidFill>
                <a:latin typeface="Segoe UI"/>
              </a:rPr>
              <a:t>hal</a:t>
            </a:r>
            <a:r>
              <a:rPr sz="1150" b="0" dirty="0">
                <a:solidFill>
                  <a:srgbClr val="CBD5E1"/>
                </a:solidFill>
                <a:latin typeface="Segoe UI"/>
              </a:rPr>
              <a:t>/  —  st, stm32, </a:t>
            </a:r>
            <a:r>
              <a:rPr sz="1150" b="0" dirty="0" err="1">
                <a:solidFill>
                  <a:srgbClr val="CBD5E1"/>
                </a:solidFill>
                <a:latin typeface="Segoe UI"/>
              </a:rPr>
              <a:t>cmsis</a:t>
            </a:r>
            <a:r>
              <a:rPr sz="1150" b="0" dirty="0">
                <a:solidFill>
                  <a:srgbClr val="CBD5E1"/>
                </a:solidFill>
                <a:latin typeface="Segoe UI"/>
              </a:rPr>
              <a:t>, cmsis_6, </a:t>
            </a:r>
            <a:r>
              <a:rPr sz="1150" b="0" dirty="0" err="1">
                <a:solidFill>
                  <a:srgbClr val="CBD5E1"/>
                </a:solidFill>
                <a:latin typeface="Segoe UI"/>
              </a:rPr>
              <a:t>libmetal</a:t>
            </a:r>
            <a:endParaRPr sz="1150" b="0" dirty="0">
              <a:solidFill>
                <a:srgbClr val="CBD5E1"/>
              </a:solidFill>
              <a:latin typeface="Segoe UI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 dirty="0">
                <a:solidFill>
                  <a:srgbClr val="CBD5E1"/>
                </a:solidFill>
                <a:latin typeface="Segoe UI"/>
              </a:rPr>
              <a:t>lib/  —  </a:t>
            </a:r>
            <a:r>
              <a:rPr sz="1150" b="0" dirty="0" err="1">
                <a:solidFill>
                  <a:srgbClr val="CBD5E1"/>
                </a:solidFill>
                <a:latin typeface="Segoe UI"/>
              </a:rPr>
              <a:t>zcbor</a:t>
            </a:r>
            <a:r>
              <a:rPr sz="1150" b="0" dirty="0">
                <a:solidFill>
                  <a:srgbClr val="CBD5E1"/>
                </a:solidFill>
                <a:latin typeface="Segoe UI"/>
              </a:rPr>
              <a:t>, </a:t>
            </a:r>
            <a:r>
              <a:rPr sz="1150" b="0" dirty="0" err="1">
                <a:solidFill>
                  <a:srgbClr val="CBD5E1"/>
                </a:solidFill>
                <a:latin typeface="Segoe UI"/>
              </a:rPr>
              <a:t>littlefs</a:t>
            </a:r>
            <a:r>
              <a:rPr sz="1150" b="0" dirty="0">
                <a:solidFill>
                  <a:srgbClr val="CBD5E1"/>
                </a:solidFill>
                <a:latin typeface="Segoe UI"/>
              </a:rPr>
              <a:t>, </a:t>
            </a:r>
            <a:r>
              <a:rPr sz="1150" b="0" dirty="0" err="1">
                <a:solidFill>
                  <a:srgbClr val="CBD5E1"/>
                </a:solidFill>
                <a:latin typeface="Segoe UI"/>
              </a:rPr>
              <a:t>nanopb</a:t>
            </a:r>
            <a:r>
              <a:rPr sz="1150" b="0" dirty="0">
                <a:solidFill>
                  <a:srgbClr val="CBD5E1"/>
                </a:solidFill>
                <a:latin typeface="Segoe UI"/>
              </a:rPr>
              <a:t>, </a:t>
            </a:r>
            <a:r>
              <a:rPr sz="1150" b="0" dirty="0" err="1">
                <a:solidFill>
                  <a:srgbClr val="CBD5E1"/>
                </a:solidFill>
                <a:latin typeface="Segoe UI"/>
              </a:rPr>
              <a:t>openthread</a:t>
            </a:r>
            <a:r>
              <a:rPr sz="1150" b="0" dirty="0">
                <a:solidFill>
                  <a:srgbClr val="CBD5E1"/>
                </a:solidFill>
                <a:latin typeface="Segoe UI"/>
              </a:rPr>
              <a:t>,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 dirty="0">
                <a:solidFill>
                  <a:srgbClr val="CBD5E1"/>
                </a:solidFill>
                <a:latin typeface="Segoe UI"/>
              </a:rPr>
              <a:t>     </a:t>
            </a:r>
            <a:r>
              <a:rPr sz="1150" b="0" dirty="0" err="1">
                <a:solidFill>
                  <a:srgbClr val="CBD5E1"/>
                </a:solidFill>
                <a:latin typeface="Segoe UI"/>
              </a:rPr>
              <a:t>lvgl</a:t>
            </a:r>
            <a:r>
              <a:rPr sz="1150" b="0" dirty="0">
                <a:solidFill>
                  <a:srgbClr val="CBD5E1"/>
                </a:solidFill>
                <a:latin typeface="Segoe UI"/>
              </a:rPr>
              <a:t>, </a:t>
            </a:r>
            <a:r>
              <a:rPr sz="1150" b="0" dirty="0" err="1">
                <a:solidFill>
                  <a:srgbClr val="CBD5E1"/>
                </a:solidFill>
                <a:latin typeface="Segoe UI"/>
              </a:rPr>
              <a:t>hostap</a:t>
            </a:r>
            <a:r>
              <a:rPr sz="1150" b="0" dirty="0">
                <a:solidFill>
                  <a:srgbClr val="CBD5E1"/>
                </a:solidFill>
                <a:latin typeface="Segoe UI"/>
              </a:rPr>
              <a:t>, </a:t>
            </a:r>
            <a:r>
              <a:rPr sz="1150" b="0" dirty="0" err="1">
                <a:solidFill>
                  <a:srgbClr val="CBD5E1"/>
                </a:solidFill>
                <a:latin typeface="Segoe UI"/>
              </a:rPr>
              <a:t>picolibc</a:t>
            </a:r>
            <a:endParaRPr sz="1150" b="0" dirty="0">
              <a:solidFill>
                <a:srgbClr val="CBD5E1"/>
              </a:solidFill>
              <a:latin typeface="Segoe UI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 dirty="0">
                <a:solidFill>
                  <a:srgbClr val="CBD5E1"/>
                </a:solidFill>
                <a:latin typeface="Segoe UI"/>
              </a:rPr>
              <a:t>crypto/  —  </a:t>
            </a:r>
            <a:r>
              <a:rPr sz="1150" b="0" dirty="0" err="1">
                <a:solidFill>
                  <a:srgbClr val="CBD5E1"/>
                </a:solidFill>
                <a:latin typeface="Segoe UI"/>
              </a:rPr>
              <a:t>mbedtls</a:t>
            </a:r>
            <a:r>
              <a:rPr sz="1150" b="0" dirty="0">
                <a:solidFill>
                  <a:srgbClr val="CBD5E1"/>
                </a:solidFill>
                <a:latin typeface="Segoe UI"/>
              </a:rPr>
              <a:t>, mbedtls-3.6,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 dirty="0">
                <a:solidFill>
                  <a:srgbClr val="CBD5E1"/>
                </a:solidFill>
                <a:latin typeface="Segoe UI"/>
              </a:rPr>
              <a:t>      </a:t>
            </a:r>
            <a:r>
              <a:rPr sz="1150" b="0" dirty="0" err="1">
                <a:solidFill>
                  <a:srgbClr val="CBD5E1"/>
                </a:solidFill>
                <a:latin typeface="Segoe UI"/>
              </a:rPr>
              <a:t>tf</a:t>
            </a:r>
            <a:r>
              <a:rPr sz="1150" b="0" dirty="0">
                <a:solidFill>
                  <a:srgbClr val="CBD5E1"/>
                </a:solidFill>
                <a:latin typeface="Segoe UI"/>
              </a:rPr>
              <a:t>-</a:t>
            </a:r>
            <a:r>
              <a:rPr sz="1150" b="0" dirty="0" err="1">
                <a:solidFill>
                  <a:srgbClr val="CBD5E1"/>
                </a:solidFill>
                <a:latin typeface="Segoe UI"/>
              </a:rPr>
              <a:t>psa</a:t>
            </a:r>
            <a:r>
              <a:rPr sz="1150" b="0" dirty="0">
                <a:solidFill>
                  <a:srgbClr val="CBD5E1"/>
                </a:solidFill>
                <a:latin typeface="Segoe UI"/>
              </a:rPr>
              <a:t>-crypto, </a:t>
            </a:r>
            <a:r>
              <a:rPr sz="1150" b="0" dirty="0" err="1">
                <a:solidFill>
                  <a:srgbClr val="CBD5E1"/>
                </a:solidFill>
                <a:latin typeface="Segoe UI"/>
              </a:rPr>
              <a:t>mldsa</a:t>
            </a:r>
            <a:r>
              <a:rPr sz="1150" b="0" dirty="0">
                <a:solidFill>
                  <a:srgbClr val="CBD5E1"/>
                </a:solidFill>
                <a:latin typeface="Segoe UI"/>
              </a:rPr>
              <a:t>-native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 dirty="0">
                <a:solidFill>
                  <a:srgbClr val="CBD5E1"/>
                </a:solidFill>
                <a:latin typeface="Segoe UI"/>
              </a:rPr>
              <a:t>fs/  —  </a:t>
            </a:r>
            <a:r>
              <a:rPr sz="1150" b="0" dirty="0" err="1">
                <a:solidFill>
                  <a:srgbClr val="CBD5E1"/>
                </a:solidFill>
                <a:latin typeface="Segoe UI"/>
              </a:rPr>
              <a:t>fatfs</a:t>
            </a:r>
            <a:r>
              <a:rPr sz="1150" b="0" dirty="0">
                <a:solidFill>
                  <a:srgbClr val="CBD5E1"/>
                </a:solidFill>
                <a:latin typeface="Segoe UI"/>
              </a:rPr>
              <a:t>, </a:t>
            </a:r>
            <a:r>
              <a:rPr sz="1150" b="0" dirty="0" err="1">
                <a:solidFill>
                  <a:srgbClr val="CBD5E1"/>
                </a:solidFill>
                <a:latin typeface="Segoe UI"/>
              </a:rPr>
              <a:t>littlefs</a:t>
            </a:r>
            <a:endParaRPr sz="1150" b="0" dirty="0">
              <a:solidFill>
                <a:srgbClr val="CBD5E1"/>
              </a:solidFill>
              <a:latin typeface="Segoe UI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 dirty="0">
                <a:solidFill>
                  <a:srgbClr val="CBD5E1"/>
                </a:solidFill>
                <a:latin typeface="Segoe UI"/>
              </a:rPr>
              <a:t>debug/  —  </a:t>
            </a:r>
            <a:r>
              <a:rPr sz="1150" b="0" dirty="0" err="1">
                <a:solidFill>
                  <a:srgbClr val="CBD5E1"/>
                </a:solidFill>
                <a:latin typeface="Segoe UI"/>
              </a:rPr>
              <a:t>segger</a:t>
            </a:r>
            <a:r>
              <a:rPr sz="1150" b="0" dirty="0">
                <a:solidFill>
                  <a:srgbClr val="CBD5E1"/>
                </a:solidFill>
                <a:latin typeface="Segoe UI"/>
              </a:rPr>
              <a:t>, </a:t>
            </a:r>
            <a:r>
              <a:rPr sz="1150" b="0" dirty="0" err="1">
                <a:solidFill>
                  <a:srgbClr val="CBD5E1"/>
                </a:solidFill>
                <a:latin typeface="Segoe UI"/>
              </a:rPr>
              <a:t>percepio</a:t>
            </a:r>
            <a:r>
              <a:rPr sz="1150" b="0" dirty="0">
                <a:solidFill>
                  <a:srgbClr val="CBD5E1"/>
                </a:solidFill>
                <a:latin typeface="Segoe UI"/>
              </a:rPr>
              <a:t>, </a:t>
            </a:r>
            <a:r>
              <a:rPr sz="1150" b="0" dirty="0" err="1">
                <a:solidFill>
                  <a:srgbClr val="CBD5E1"/>
                </a:solidFill>
                <a:latin typeface="Segoe UI"/>
              </a:rPr>
              <a:t>mipi</a:t>
            </a:r>
            <a:r>
              <a:rPr sz="1150" b="0" dirty="0">
                <a:solidFill>
                  <a:srgbClr val="CBD5E1"/>
                </a:solidFill>
                <a:latin typeface="Segoe UI"/>
              </a:rPr>
              <a:t>-sys-t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 dirty="0">
                <a:solidFill>
                  <a:srgbClr val="CBD5E1"/>
                </a:solidFill>
                <a:latin typeface="Segoe UI"/>
              </a:rPr>
              <a:t>tee/  —  </a:t>
            </a:r>
            <a:r>
              <a:rPr sz="1150" b="0" dirty="0" err="1">
                <a:solidFill>
                  <a:srgbClr val="CBD5E1"/>
                </a:solidFill>
                <a:latin typeface="Segoe UI"/>
              </a:rPr>
              <a:t>tf</a:t>
            </a:r>
            <a:r>
              <a:rPr sz="1150" b="0" dirty="0">
                <a:solidFill>
                  <a:srgbClr val="CBD5E1"/>
                </a:solidFill>
                <a:latin typeface="Segoe UI"/>
              </a:rPr>
              <a:t>-a, </a:t>
            </a:r>
            <a:r>
              <a:rPr sz="1150" b="0" dirty="0" err="1">
                <a:solidFill>
                  <a:srgbClr val="CBD5E1"/>
                </a:solidFill>
                <a:latin typeface="Segoe UI"/>
              </a:rPr>
              <a:t>tf</a:t>
            </a:r>
            <a:r>
              <a:rPr sz="1150" b="0" dirty="0">
                <a:solidFill>
                  <a:srgbClr val="CBD5E1"/>
                </a:solidFill>
                <a:latin typeface="Segoe UI"/>
              </a:rPr>
              <a:t>-m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 dirty="0">
                <a:solidFill>
                  <a:srgbClr val="CBD5E1"/>
                </a:solidFill>
                <a:latin typeface="Segoe UI"/>
              </a:rPr>
              <a:t>sensor/st_vl53l8cx  —  our custom driver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301752"/>
            <a:ext cx="100584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dirty="0">
                <a:latin typeface="Rockwell" panose="02060603020205020403" pitchFamily="18" charset="0"/>
              </a:rPr>
              <a:t>Top-Level Layout: </a:t>
            </a:r>
            <a:r>
              <a:rPr sz="3200" b="1" dirty="0" err="1">
                <a:latin typeface="Rockwell" panose="02060603020205020403" pitchFamily="18" charset="0"/>
              </a:rPr>
              <a:t>zephyr_dev</a:t>
            </a:r>
            <a:r>
              <a:rPr sz="3200" b="1" dirty="0">
                <a:latin typeface="Rockwell" panose="02060603020205020403" pitchFamily="18" charset="0"/>
              </a:rPr>
              <a:t>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911535" cy="908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91440" cy="908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839801"/>
            <a:ext cx="28346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Rockwell" panose="02060603020205020403" pitchFamily="18" charset="0"/>
              </a:rPr>
              <a:t>zephyr_app/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716691"/>
            <a:ext cx="155448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Rockwell" panose="02060603020205020403" pitchFamily="18" charset="0"/>
              </a:rPr>
              <a:t>MANIFEST REPO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549625"/>
            <a:ext cx="5836615" cy="8265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Rockwell" panose="02060603020205020403" pitchFamily="18" charset="0"/>
              </a:rPr>
              <a:t>Owns west.yml. STM32 app code per board: nucleo_f401re, nucleo_g474re, nucleo_h723zg, nucleo_l432kc, nucleo_n657x0_q, mp2_m33.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71928"/>
            <a:ext cx="10911535" cy="908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" y="2471928"/>
            <a:ext cx="91440" cy="90830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2802969"/>
            <a:ext cx="28346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Rockwell" panose="02060603020205020403" pitchFamily="18" charset="0"/>
              </a:rPr>
              <a:t>zephyr/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679859"/>
            <a:ext cx="155448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6366F1"/>
                </a:solidFill>
                <a:latin typeface="Rockwell" panose="02060603020205020403" pitchFamily="18" charset="0"/>
              </a:rPr>
              <a:t>UPSTREAM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654371"/>
            <a:ext cx="5836615" cy="5434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Rockwell" panose="02060603020205020403" pitchFamily="18" charset="0"/>
              </a:rPr>
              <a:t>Pulled by west update from zephyrproject-rtos/zephyr, pinned to an exact commit.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35096"/>
            <a:ext cx="10911535" cy="908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0080" y="3435096"/>
            <a:ext cx="91440" cy="90830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3766137"/>
            <a:ext cx="28346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Rockwell" panose="02060603020205020403" pitchFamily="18" charset="0"/>
              </a:rPr>
              <a:t>modules/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643027"/>
            <a:ext cx="155448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6B6D4"/>
                </a:solidFill>
                <a:latin typeface="Rockwell" panose="02060603020205020403" pitchFamily="18" charset="0"/>
              </a:rPr>
              <a:t>VENDOR HAL &amp; LIBS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617539"/>
            <a:ext cx="5836615" cy="5434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Rockwell" panose="02060603020205020403" pitchFamily="18" charset="0"/>
              </a:rPr>
              <a:t>hal/, lib/, crypto/, fs/, debug/, tee/, sensor/st_vl53l8cx — each an independent git repo.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98264"/>
            <a:ext cx="10911535" cy="908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0080" y="4398264"/>
            <a:ext cx="91440" cy="9083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4400" y="4729305"/>
            <a:ext cx="28346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Rockwell" panose="02060603020205020403" pitchFamily="18" charset="0"/>
              </a:rPr>
              <a:t>bootloader/mcuboot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729306"/>
            <a:ext cx="155448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B981"/>
                </a:solidFill>
                <a:latin typeface="Rockwell" panose="02060603020205020403" pitchFamily="18" charset="0"/>
              </a:rPr>
              <a:t>SECURE BOOT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580707"/>
            <a:ext cx="5836615" cy="5434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Rockwell" panose="02060603020205020403" pitchFamily="18" charset="0"/>
              </a:rPr>
              <a:t>Pulled by west update, gated by the workspace's bootloader group-filter.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361432"/>
            <a:ext cx="10911535" cy="9083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40080" y="5361432"/>
            <a:ext cx="91440" cy="908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14400" y="5692473"/>
            <a:ext cx="28346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172A"/>
                </a:solidFill>
                <a:latin typeface="Rockwell" panose="02060603020205020403" pitchFamily="18" charset="0"/>
              </a:rPr>
              <a:t>pc_application/, pc_tools/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569363"/>
            <a:ext cx="155448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59E0B"/>
                </a:solidFill>
                <a:latin typeface="Rockwell" panose="02060603020205020403" pitchFamily="18" charset="0"/>
              </a:rPr>
              <a:t>HOST COMPANIONS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5543875"/>
            <a:ext cx="5836615" cy="5434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475569"/>
                </a:solidFill>
                <a:latin typeface="Rockwell" panose="02060603020205020403" pitchFamily="18" charset="0"/>
              </a:rPr>
              <a:t>A C ranging server and a Qt-based vl53l8_viewer app for the ToF sensor.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365760"/>
            <a:ext cx="100584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dirty="0">
                <a:solidFill>
                  <a:srgbClr val="0F172A"/>
                </a:solidFill>
                <a:latin typeface="Rockwell" panose="02060603020205020403" pitchFamily="18" charset="0"/>
              </a:rPr>
              <a:t>modules/ Is a Folder</a:t>
            </a:r>
            <a:r>
              <a:rPr lang="en-GB" sz="3200" b="1" dirty="0">
                <a:solidFill>
                  <a:srgbClr val="0F172A"/>
                </a:solidFill>
                <a:latin typeface="Rockwell" panose="02060603020205020403" pitchFamily="18" charset="0"/>
              </a:rPr>
              <a:t> of</a:t>
            </a:r>
            <a:r>
              <a:rPr sz="3200" b="1" dirty="0">
                <a:solidFill>
                  <a:srgbClr val="0F172A"/>
                </a:solidFill>
                <a:latin typeface="Rockwell" panose="02060603020205020403" pitchFamily="18" charset="0"/>
              </a:rPr>
              <a:t> </a:t>
            </a:r>
            <a:r>
              <a:rPr lang="en-GB" sz="3200" b="1" dirty="0">
                <a:solidFill>
                  <a:srgbClr val="0F172A"/>
                </a:solidFill>
                <a:latin typeface="Rockwell" panose="02060603020205020403" pitchFamily="18" charset="0"/>
              </a:rPr>
              <a:t>R</a:t>
            </a:r>
            <a:r>
              <a:rPr sz="3200" b="1" dirty="0" err="1">
                <a:solidFill>
                  <a:srgbClr val="0F172A"/>
                </a:solidFill>
                <a:latin typeface="Rockwell" panose="02060603020205020403" pitchFamily="18" charset="0"/>
              </a:rPr>
              <a:t>epositor</a:t>
            </a:r>
            <a:r>
              <a:rPr lang="en-GB" sz="3200" b="1" dirty="0" err="1">
                <a:solidFill>
                  <a:srgbClr val="0F172A"/>
                </a:solidFill>
                <a:latin typeface="Rockwell" panose="02060603020205020403" pitchFamily="18" charset="0"/>
              </a:rPr>
              <a:t>ies</a:t>
            </a:r>
            <a:endParaRPr sz="3200" b="1" dirty="0">
              <a:solidFill>
                <a:srgbClr val="0F172A"/>
              </a:solidFill>
              <a:latin typeface="Rockwell" panose="02060603020205020403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667512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6217920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lang="en-US" sz="1600" b="1" dirty="0">
                <a:latin typeface="Rockwell" panose="02060603020205020403" pitchFamily="18" charset="0"/>
              </a:rPr>
              <a:t>It is simply a folder containing many independent repositories</a:t>
            </a:r>
            <a:r>
              <a:rPr lang="en-US" sz="1600" dirty="0">
                <a:latin typeface="Rockwell" panose="02060603020205020403" pitchFamily="18" charset="0"/>
              </a:rPr>
              <a:t>:</a:t>
            </a:r>
            <a:endParaRPr lang="en-GB" sz="1600" dirty="0">
              <a:solidFill>
                <a:srgbClr val="2563EB"/>
              </a:solidFill>
              <a:latin typeface="Rockwell" panose="02060603020205020403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i="1" dirty="0">
                <a:latin typeface="Rockwell" panose="02060603020205020403" pitchFamily="18" charset="0"/>
              </a:rPr>
              <a:t>modules/</a:t>
            </a:r>
            <a:r>
              <a:rPr lang="en-US" sz="1400" i="1" dirty="0" err="1">
                <a:latin typeface="Rockwell" panose="02060603020205020403" pitchFamily="18" charset="0"/>
              </a:rPr>
              <a:t>hal</a:t>
            </a:r>
            <a:r>
              <a:rPr lang="en-US" sz="1400" i="1" dirty="0">
                <a:latin typeface="Rockwell" panose="02060603020205020403" pitchFamily="18" charset="0"/>
              </a:rPr>
              <a:t>/stm32/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i="1" dirty="0">
                <a:latin typeface="Rockwell" panose="02060603020205020403" pitchFamily="18" charset="0"/>
              </a:rPr>
              <a:t>modules/</a:t>
            </a:r>
            <a:r>
              <a:rPr lang="en-US" sz="1400" i="1" dirty="0" err="1">
                <a:latin typeface="Rockwell" panose="02060603020205020403" pitchFamily="18" charset="0"/>
              </a:rPr>
              <a:t>hal</a:t>
            </a:r>
            <a:r>
              <a:rPr lang="en-US" sz="1400" i="1" dirty="0">
                <a:latin typeface="Rockwell" panose="02060603020205020403" pitchFamily="18" charset="0"/>
              </a:rPr>
              <a:t>/</a:t>
            </a:r>
            <a:r>
              <a:rPr lang="en-US" sz="1400" i="1" dirty="0" err="1">
                <a:latin typeface="Rockwell" panose="02060603020205020403" pitchFamily="18" charset="0"/>
              </a:rPr>
              <a:t>cmsis</a:t>
            </a:r>
            <a:r>
              <a:rPr lang="en-US" sz="1400" i="1" dirty="0">
                <a:latin typeface="Rockwell" panose="02060603020205020403" pitchFamily="18" charset="0"/>
              </a:rPr>
              <a:t>/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i="1" dirty="0">
                <a:latin typeface="Rockwell" panose="02060603020205020403" pitchFamily="18" charset="0"/>
              </a:rPr>
              <a:t>modules/lib/</a:t>
            </a:r>
            <a:r>
              <a:rPr lang="en-US" sz="1400" i="1" dirty="0" err="1">
                <a:latin typeface="Rockwell" panose="02060603020205020403" pitchFamily="18" charset="0"/>
              </a:rPr>
              <a:t>openthread</a:t>
            </a:r>
            <a:r>
              <a:rPr lang="en-US" sz="1400" i="1" dirty="0">
                <a:latin typeface="Rockwell" panose="02060603020205020403" pitchFamily="18" charset="0"/>
              </a:rPr>
              <a:t>/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i="1" dirty="0">
                <a:latin typeface="Rockwell" panose="02060603020205020403" pitchFamily="18" charset="0"/>
              </a:rPr>
              <a:t>modules/crypto/</a:t>
            </a:r>
            <a:r>
              <a:rPr lang="en-US" sz="1400" i="1" dirty="0" err="1">
                <a:latin typeface="Rockwell" panose="02060603020205020403" pitchFamily="18" charset="0"/>
              </a:rPr>
              <a:t>mbedtls</a:t>
            </a:r>
            <a:r>
              <a:rPr lang="en-US" sz="1400" i="1" dirty="0">
                <a:latin typeface="Rockwell" panose="02060603020205020403" pitchFamily="18" charset="0"/>
              </a:rPr>
              <a:t>/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i="1" dirty="0">
                <a:latin typeface="Rockwell" panose="02060603020205020403" pitchFamily="18" charset="0"/>
              </a:rPr>
              <a:t>modules/sensor/st_vl53l8cx/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400" i="1" dirty="0">
              <a:latin typeface="Rockwell" panose="02060603020205020403" pitchFamily="18" charset="0"/>
            </a:endParaRPr>
          </a:p>
          <a:p>
            <a:pPr lvl="0"/>
            <a:r>
              <a:rPr lang="en-US" sz="1400" i="1" dirty="0">
                <a:latin typeface="Rockwell" panose="02060603020205020403" pitchFamily="18" charset="0"/>
              </a:rPr>
              <a:t>West manages these repositories</a:t>
            </a:r>
          </a:p>
          <a:p>
            <a:pPr lvl="0"/>
            <a:endParaRPr lang="en-US" sz="1400" i="1" dirty="0">
              <a:latin typeface="Rockwell" panose="02060603020205020403" pitchFamily="18" charset="0"/>
            </a:endParaRPr>
          </a:p>
          <a:p>
            <a:pPr lvl="0"/>
            <a:r>
              <a:rPr lang="en-US" sz="1400" i="1" dirty="0">
                <a:latin typeface="Rockwell" panose="02060603020205020403" pitchFamily="18" charset="0"/>
              </a:rPr>
              <a:t>clones </a:t>
            </a:r>
            <a:r>
              <a:rPr lang="en-US" sz="1400" i="1" dirty="0">
                <a:latin typeface="Rockwell" panose="02060603020205020403" pitchFamily="18" charset="0"/>
                <a:sym typeface="Wingdings" panose="05000000000000000000" pitchFamily="2" charset="2"/>
              </a:rPr>
              <a:t> updates  </a:t>
            </a:r>
            <a:r>
              <a:rPr lang="en-US" sz="1400" i="1" dirty="0" err="1">
                <a:latin typeface="Rockwell" panose="02060603020205020403" pitchFamily="18" charset="0"/>
                <a:sym typeface="Wingdings" panose="05000000000000000000" pitchFamily="2" charset="2"/>
              </a:rPr>
              <a:t>checksout</a:t>
            </a:r>
            <a:r>
              <a:rPr lang="en-US" sz="1400" i="1" dirty="0">
                <a:latin typeface="Rockwell" panose="02060603020205020403" pitchFamily="18" charset="0"/>
                <a:sym typeface="Wingdings" panose="05000000000000000000" pitchFamily="2" charset="2"/>
              </a:rPr>
              <a:t> the required version for each module</a:t>
            </a:r>
            <a:endParaRPr lang="en-US" sz="1400" i="1" dirty="0">
              <a:latin typeface="Rockwell" panose="02060603020205020403" pitchFamily="18" charset="0"/>
            </a:endParaRPr>
          </a:p>
          <a:p>
            <a:pPr>
              <a:spcAft>
                <a:spcPts val="1400"/>
              </a:spcAft>
            </a:pPr>
            <a:endParaRPr lang="en-GB" sz="1600" dirty="0">
              <a:solidFill>
                <a:srgbClr val="2563EB"/>
              </a:solidFill>
              <a:latin typeface="Rockwell" panose="02060603020205020403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4937760"/>
            <a:ext cx="6675120" cy="1280160"/>
          </a:xfrm>
          <a:prstGeom prst="roundRect">
            <a:avLst>
              <a:gd name="adj" fmla="val 8000"/>
            </a:avLst>
          </a:prstGeom>
          <a:solidFill>
            <a:srgbClr val="F4F8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5029200"/>
            <a:ext cx="6217920" cy="815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Rockwell" panose="02060603020205020403" pitchFamily="18" charset="0"/>
              </a:rPr>
              <a:t>WORKSPACE AUDIT SNAPSHOT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Rockwell" panose="02060603020205020403" pitchFamily="18" charset="0"/>
              </a:rPr>
              <a:t>hal/st ✓   hal/stm32 ✓   hal/cmsis ✓   lib/openthread ✓   crypto/mbedtls ✓   sensor/st_vl53l8cx 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508760"/>
            <a:ext cx="4005072" cy="47091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863840" y="1691640"/>
            <a:ext cx="3364992" cy="320040"/>
          </a:xfrm>
          <a:prstGeom prst="roundRect">
            <a:avLst>
              <a:gd name="adj" fmla="val 50000"/>
            </a:avLst>
          </a:prstGeom>
          <a:solidFill>
            <a:srgbClr val="1E2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63840" y="1728550"/>
            <a:ext cx="336499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600" b="1" dirty="0">
                <a:solidFill>
                  <a:schemeClr val="bg1"/>
                </a:solidFill>
                <a:latin typeface="Rockwell" panose="02060603020205020403" pitchFamily="18" charset="0"/>
              </a:rPr>
              <a:t>A REAL EXAMPLE: VL53L8CX</a:t>
            </a:r>
            <a:endParaRPr sz="1600" b="1" dirty="0">
              <a:solidFill>
                <a:schemeClr val="bg1"/>
              </a:solidFill>
              <a:latin typeface="Rockwell" panose="020606030202050204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36499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Rockwell" panose="02060603020205020403" pitchFamily="18" charset="0"/>
              </a:rPr>
              <a:t>st_vl53l8cx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51760"/>
            <a:ext cx="3364992" cy="34009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GB" sz="1600" b="0" dirty="0">
                <a:solidFill>
                  <a:schemeClr val="bg1"/>
                </a:solidFill>
                <a:latin typeface="Rockwell" panose="02060603020205020403" pitchFamily="18" charset="0"/>
              </a:rPr>
              <a:t>Before</a:t>
            </a:r>
            <a:r>
              <a:rPr sz="1600" b="0" dirty="0">
                <a:solidFill>
                  <a:schemeClr val="bg1"/>
                </a:solidFill>
                <a:latin typeface="Rockwell" panose="02060603020205020403" pitchFamily="18" charset="0"/>
              </a:rPr>
              <a:t>: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latin typeface="Rockwell" panose="02060603020205020403" pitchFamily="18" charset="0"/>
              </a:rPr>
              <a:t>st_vl53l8cx</a:t>
            </a:r>
            <a:r>
              <a:rPr lang="en-US" sz="1600" dirty="0">
                <a:solidFill>
                  <a:schemeClr val="bg1"/>
                </a:solidFill>
                <a:latin typeface="Rockwell" panose="02060603020205020403" pitchFamily="18" charset="0"/>
              </a:rPr>
              <a:t> was manually placed in the workspace</a:t>
            </a:r>
          </a:p>
          <a:p>
            <a:pPr>
              <a:spcAft>
                <a:spcPts val="600"/>
              </a:spcAft>
            </a:pPr>
            <a:endParaRPr sz="1600" b="0" dirty="0">
              <a:solidFill>
                <a:schemeClr val="bg1"/>
              </a:solidFill>
              <a:latin typeface="Rockwell" panose="02060603020205020403" pitchFamily="18" charset="0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GB" sz="1600" b="0" dirty="0">
                <a:solidFill>
                  <a:schemeClr val="bg1"/>
                </a:solidFill>
                <a:latin typeface="Rockwell" panose="02060603020205020403" pitchFamily="18" charset="0"/>
              </a:rPr>
              <a:t>NOW</a:t>
            </a:r>
            <a:r>
              <a:rPr sz="1600" b="0" dirty="0">
                <a:solidFill>
                  <a:schemeClr val="bg1"/>
                </a:solidFill>
                <a:latin typeface="Rockwell" panose="02060603020205020403" pitchFamily="18" charset="0"/>
              </a:rPr>
              <a:t>: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Rockwell" panose="02060603020205020403" pitchFamily="18" charset="0"/>
              </a:rPr>
              <a:t>modules/sensor/st_vl53l8cx/</a:t>
            </a: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Rockwell" panose="02060603020205020403" pitchFamily="18" charset="0"/>
              </a:rPr>
              <a:t>✅ Independent Git repository</a:t>
            </a:r>
            <a:br>
              <a:rPr lang="en-US" sz="1600" dirty="0">
                <a:solidFill>
                  <a:schemeClr val="bg1"/>
                </a:solidFill>
                <a:latin typeface="Rockwell" panose="02060603020205020403" pitchFamily="18" charset="0"/>
              </a:rPr>
            </a:br>
            <a:r>
              <a:rPr lang="en-US" sz="1600" dirty="0">
                <a:solidFill>
                  <a:schemeClr val="bg1"/>
                </a:solidFill>
                <a:latin typeface="Rockwell" panose="02060603020205020403" pitchFamily="18" charset="0"/>
              </a:rPr>
              <a:t>✅ Listed in </a:t>
            </a:r>
            <a:r>
              <a:rPr lang="en-US" dirty="0" err="1">
                <a:solidFill>
                  <a:schemeClr val="bg1"/>
                </a:solidFill>
                <a:latin typeface="Rockwell" panose="02060603020205020403" pitchFamily="18" charset="0"/>
              </a:rPr>
              <a:t>west.yml</a:t>
            </a:r>
            <a:br>
              <a:rPr lang="en-US" sz="1600" dirty="0">
                <a:solidFill>
                  <a:schemeClr val="bg1"/>
                </a:solidFill>
                <a:latin typeface="Rockwell" panose="02060603020205020403" pitchFamily="18" charset="0"/>
              </a:rPr>
            </a:br>
            <a:r>
              <a:rPr lang="en-US" sz="1600" dirty="0">
                <a:solidFill>
                  <a:schemeClr val="bg1"/>
                </a:solidFill>
                <a:latin typeface="Rockwell" panose="02060603020205020403" pitchFamily="18" charset="0"/>
              </a:rPr>
              <a:t>✅ West clones and manages it</a:t>
            </a:r>
            <a:br>
              <a:rPr lang="en-US" sz="1600" dirty="0">
                <a:solidFill>
                  <a:schemeClr val="bg1"/>
                </a:solidFill>
                <a:latin typeface="Rockwell" panose="02060603020205020403" pitchFamily="18" charset="0"/>
              </a:rPr>
            </a:br>
            <a:r>
              <a:rPr lang="en-US" sz="1600" dirty="0">
                <a:solidFill>
                  <a:schemeClr val="bg1"/>
                </a:solidFill>
                <a:latin typeface="Rockwell" panose="02060603020205020403" pitchFamily="18" charset="0"/>
              </a:rPr>
              <a:t>✅ Version/commit is controlled by the manifest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600" y="621792"/>
            <a:ext cx="10909300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 dirty="0">
                <a:solidFill>
                  <a:srgbClr val="0F172A"/>
                </a:solidFill>
                <a:latin typeface="Rockwell" panose="02060603020205020403" pitchFamily="18" charset="0"/>
              </a:rPr>
              <a:t>Zephyr vs. a Classic RTOS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1943100"/>
            <a:ext cx="10909300" cy="5969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1943100"/>
            <a:ext cx="2006600" cy="5969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Rockwell" panose="02060603020205020403" pitchFamily="18" charset="0"/>
              </a:rPr>
              <a:t>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70200" y="1943100"/>
            <a:ext cx="2692400" cy="5969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Aft>
                <a:spcPts val="0"/>
              </a:spcAft>
            </a:pPr>
            <a:r>
              <a:rPr b="1" dirty="0">
                <a:solidFill>
                  <a:srgbClr val="FFFFFF"/>
                </a:solidFill>
                <a:latin typeface="Rockwell" panose="02060603020205020403" pitchFamily="18" charset="0"/>
              </a:rPr>
              <a:t>Bare-metal + Vendor HAL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943100"/>
            <a:ext cx="2819400" cy="5969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Rockwell" panose="02060603020205020403" pitchFamily="18" charset="0"/>
              </a:rPr>
              <a:t>Classic RTOS (FreeRTOS)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943100"/>
            <a:ext cx="2832100" cy="5969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Aft>
                <a:spcPts val="0"/>
              </a:spcAft>
            </a:pPr>
            <a:r>
              <a:rPr b="1" dirty="0">
                <a:solidFill>
                  <a:srgbClr val="F59E0B"/>
                </a:solidFill>
                <a:latin typeface="Rockwell" panose="02060603020205020403" pitchFamily="18" charset="0"/>
              </a:rPr>
              <a:t>Zephyr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540000"/>
            <a:ext cx="2006600" cy="7366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dirty="0">
                <a:solidFill>
                  <a:srgbClr val="0F172A"/>
                </a:solidFill>
                <a:latin typeface="Rockwell" panose="02060603020205020403" pitchFamily="18" charset="0"/>
              </a:rPr>
              <a:t>Scheduler &amp; IPC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0200" y="2540000"/>
            <a:ext cx="2692400" cy="7366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dirty="0">
                <a:solidFill>
                  <a:srgbClr val="0F172A"/>
                </a:solidFill>
                <a:latin typeface="Rockwell" panose="02060603020205020403" pitchFamily="18" charset="0"/>
              </a:rPr>
              <a:t>Manual (user has to do)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540000"/>
            <a:ext cx="2819400" cy="7366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dirty="0">
                <a:solidFill>
                  <a:srgbClr val="0F172A"/>
                </a:solidFill>
                <a:latin typeface="Rockwell" panose="02060603020205020403" pitchFamily="18" charset="0"/>
              </a:rPr>
              <a:t>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540000"/>
            <a:ext cx="2832100" cy="7366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Rockwell" panose="02060603020205020403" pitchFamily="18" charset="0"/>
              </a:rPr>
              <a:t>Yes + memory protection, power mgmt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3276600"/>
            <a:ext cx="10909300" cy="736600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2000" y="3276600"/>
            <a:ext cx="2006600" cy="7366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dirty="0">
                <a:solidFill>
                  <a:srgbClr val="0F172A"/>
                </a:solidFill>
                <a:latin typeface="Rockwell" panose="02060603020205020403" pitchFamily="18" charset="0"/>
              </a:rPr>
              <a:t>Driver model / BSP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0200" y="3276600"/>
            <a:ext cx="2692400" cy="7366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F172A"/>
                </a:solidFill>
                <a:latin typeface="Rockwell" panose="02060603020205020403" pitchFamily="18" charset="0"/>
              </a:rPr>
              <a:t>Vendor HAL, per-MCU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276600"/>
            <a:ext cx="2819400" cy="7366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Aft>
                <a:spcPts val="0"/>
              </a:spcAft>
            </a:pPr>
            <a:r>
              <a:rPr lang="en-GB" sz="1600" dirty="0">
                <a:solidFill>
                  <a:srgbClr val="0F172A"/>
                </a:solidFill>
                <a:latin typeface="Rockwell" panose="02060603020205020403" pitchFamily="18" charset="0"/>
              </a:rPr>
              <a:t>Often different for each </a:t>
            </a:r>
          </a:p>
          <a:p>
            <a:pPr algn="l">
              <a:spcAft>
                <a:spcPts val="0"/>
              </a:spcAft>
            </a:pPr>
            <a:r>
              <a:rPr lang="en-GB" sz="1600" dirty="0">
                <a:solidFill>
                  <a:srgbClr val="0F172A"/>
                </a:solidFill>
                <a:latin typeface="Rockwell" panose="02060603020205020403" pitchFamily="18" charset="0"/>
              </a:rPr>
              <a:t>MCU</a:t>
            </a:r>
            <a:endParaRPr sz="1600" b="0" dirty="0">
              <a:solidFill>
                <a:srgbClr val="0F172A"/>
              </a:solidFill>
              <a:latin typeface="Rockwell" panose="02060603020205020403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0" y="3276600"/>
            <a:ext cx="2832100" cy="7366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Aft>
                <a:spcPts val="0"/>
              </a:spcAft>
            </a:pPr>
            <a:r>
              <a:rPr lang="en-GB" sz="1600" b="1" dirty="0">
                <a:solidFill>
                  <a:srgbClr val="2563EB"/>
                </a:solidFill>
                <a:latin typeface="Rockwell" panose="02060603020205020403" pitchFamily="18" charset="0"/>
              </a:rPr>
              <a:t>Common Driver Model</a:t>
            </a:r>
            <a:endParaRPr sz="1600" b="1" dirty="0">
              <a:solidFill>
                <a:srgbClr val="2563EB"/>
              </a:solidFill>
              <a:latin typeface="Rockwell" panose="02060603020205020403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2000" y="4013200"/>
            <a:ext cx="2006600" cy="7366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dirty="0">
                <a:solidFill>
                  <a:srgbClr val="0F172A"/>
                </a:solidFill>
                <a:latin typeface="Rockwell" panose="02060603020205020403" pitchFamily="18" charset="0"/>
              </a:rPr>
              <a:t>Networking / BLE / USB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70200" y="4013200"/>
            <a:ext cx="2692400" cy="7366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Aft>
                <a:spcPts val="0"/>
              </a:spcAft>
            </a:pPr>
            <a:r>
              <a:rPr lang="en-GB" sz="1600" b="0" dirty="0">
                <a:solidFill>
                  <a:srgbClr val="0F172A"/>
                </a:solidFill>
                <a:latin typeface="Rockwell" panose="02060603020205020403" pitchFamily="18" charset="0"/>
              </a:rPr>
              <a:t>User has to add and </a:t>
            </a:r>
          </a:p>
          <a:p>
            <a:pPr algn="l">
              <a:spcAft>
                <a:spcPts val="0"/>
              </a:spcAft>
            </a:pPr>
            <a:r>
              <a:rPr sz="1600" b="0" dirty="0">
                <a:solidFill>
                  <a:srgbClr val="0F172A"/>
                </a:solidFill>
                <a:latin typeface="Rockwell" panose="02060603020205020403" pitchFamily="18" charset="0"/>
              </a:rPr>
              <a:t>Integrate separately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4013200"/>
            <a:ext cx="2819400" cy="7366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Rockwell" panose="02060603020205020403" pitchFamily="18" charset="0"/>
              </a:rPr>
              <a:t>User has to add and </a:t>
            </a:r>
          </a:p>
          <a:p>
            <a:r>
              <a:rPr lang="en-US" sz="1600" dirty="0">
                <a:solidFill>
                  <a:srgbClr val="0F172A"/>
                </a:solidFill>
                <a:latin typeface="Rockwell" panose="02060603020205020403" pitchFamily="18" charset="0"/>
              </a:rPr>
              <a:t>Integrate separately</a:t>
            </a:r>
            <a:endParaRPr sz="1600" b="0" dirty="0">
              <a:solidFill>
                <a:srgbClr val="0F172A"/>
              </a:solidFill>
              <a:latin typeface="Rockwell" panose="02060603020205020403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86800" y="4013200"/>
            <a:ext cx="2832100" cy="7366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dirty="0">
                <a:solidFill>
                  <a:srgbClr val="2563EB"/>
                </a:solidFill>
                <a:latin typeface="Rockwell" panose="02060603020205020403" pitchFamily="18" charset="0"/>
              </a:rPr>
              <a:t>Native, in-tree, tested together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4749800"/>
            <a:ext cx="10909300" cy="736600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2000" y="4749800"/>
            <a:ext cx="2006600" cy="7366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dirty="0">
                <a:solidFill>
                  <a:srgbClr val="0F172A"/>
                </a:solidFill>
                <a:latin typeface="Rockwell" panose="02060603020205020403" pitchFamily="18" charset="0"/>
              </a:rPr>
              <a:t>Fieldbus (Modbus, CAN)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70200" y="4749800"/>
            <a:ext cx="2692400" cy="7366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Rockwell" panose="02060603020205020403" pitchFamily="18" charset="0"/>
              </a:rPr>
              <a:t>Manually add a library (third party)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749800"/>
            <a:ext cx="2832100" cy="7366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Rockwell" panose="02060603020205020403" pitchFamily="18" charset="0"/>
              </a:rPr>
              <a:t>In-tree Modbus &amp; CAN subsystems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5486400"/>
            <a:ext cx="2006600" cy="7366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dirty="0">
                <a:solidFill>
                  <a:srgbClr val="0F172A"/>
                </a:solidFill>
                <a:latin typeface="Rockwell" panose="02060603020205020403" pitchFamily="18" charset="0"/>
              </a:rPr>
              <a:t>Config &amp; build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70200" y="5486400"/>
            <a:ext cx="2692400" cy="7366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dirty="0">
                <a:solidFill>
                  <a:srgbClr val="0F172A"/>
                </a:solidFill>
                <a:latin typeface="Rockwell" panose="02060603020205020403" pitchFamily="18" charset="0"/>
              </a:rPr>
              <a:t>Vendor IDE / </a:t>
            </a:r>
            <a:r>
              <a:rPr lang="en-GB" sz="1600" dirty="0">
                <a:solidFill>
                  <a:srgbClr val="0F172A"/>
                </a:solidFill>
                <a:latin typeface="Rockwell" panose="02060603020205020403" pitchFamily="18" charset="0"/>
              </a:rPr>
              <a:t>tools</a:t>
            </a:r>
            <a:endParaRPr sz="1600" b="0" dirty="0">
              <a:solidFill>
                <a:srgbClr val="0F172A"/>
              </a:solidFill>
              <a:latin typeface="Rockwell" panose="02060603020205020403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715000" y="5486400"/>
            <a:ext cx="2819400" cy="7366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Rockwell" panose="02060603020205020403" pitchFamily="18" charset="0"/>
              </a:rPr>
              <a:t>Vendor IDE / tools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486400"/>
            <a:ext cx="2832100" cy="7366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dirty="0" err="1">
                <a:solidFill>
                  <a:srgbClr val="2563EB"/>
                </a:solidFill>
                <a:latin typeface="Rockwell" panose="02060603020205020403" pitchFamily="18" charset="0"/>
              </a:rPr>
              <a:t>Kconfig</a:t>
            </a:r>
            <a:r>
              <a:rPr sz="1600" b="1" dirty="0">
                <a:solidFill>
                  <a:srgbClr val="2563EB"/>
                </a:solidFill>
                <a:latin typeface="Rockwell" panose="02060603020205020403" pitchFamily="18" charset="0"/>
              </a:rPr>
              <a:t> + </a:t>
            </a:r>
            <a:r>
              <a:rPr sz="1600" b="1" dirty="0" err="1">
                <a:solidFill>
                  <a:srgbClr val="2563EB"/>
                </a:solidFill>
                <a:latin typeface="Rockwell" panose="02060603020205020403" pitchFamily="18" charset="0"/>
              </a:rPr>
              <a:t>Devicetree</a:t>
            </a:r>
            <a:r>
              <a:rPr sz="1600" b="1" dirty="0">
                <a:solidFill>
                  <a:srgbClr val="2563EB"/>
                </a:solidFill>
                <a:latin typeface="Rockwell" panose="02060603020205020403" pitchFamily="18" charset="0"/>
              </a:rPr>
              <a:t> + west/</a:t>
            </a:r>
            <a:r>
              <a:rPr sz="1600" b="1" dirty="0" err="1">
                <a:solidFill>
                  <a:srgbClr val="2563EB"/>
                </a:solidFill>
                <a:latin typeface="Rockwell" panose="02060603020205020403" pitchFamily="18" charset="0"/>
              </a:rPr>
              <a:t>CMake</a:t>
            </a:r>
            <a:endParaRPr sz="1600" b="1" dirty="0">
              <a:solidFill>
                <a:srgbClr val="2563EB"/>
              </a:solidFill>
              <a:latin typeface="Rockwell" panose="02060603020205020403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0437B2-2AD1-52FB-550C-0EBEC48579D3}"/>
              </a:ext>
            </a:extLst>
          </p:cNvPr>
          <p:cNvSpPr txBox="1"/>
          <p:nvPr/>
        </p:nvSpPr>
        <p:spPr>
          <a:xfrm>
            <a:off x="609600" y="1291421"/>
            <a:ext cx="109093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Rockwell" panose="02060603020205020403" pitchFamily="18" charset="0"/>
              </a:rPr>
              <a:t>Zephyr brings the RTOS, drivers, middleware and build system together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61F195-F407-C3BA-FFBA-E5D63BC935D8}"/>
              </a:ext>
            </a:extLst>
          </p:cNvPr>
          <p:cNvSpPr txBox="1"/>
          <p:nvPr/>
        </p:nvSpPr>
        <p:spPr>
          <a:xfrm>
            <a:off x="5715000" y="4749800"/>
            <a:ext cx="2819400" cy="7366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r>
              <a:rPr lang="en-US" sz="1600" dirty="0">
                <a:latin typeface="Rockwell" panose="02060603020205020403" pitchFamily="18" charset="0"/>
              </a:rPr>
              <a:t>Manually add a library (third party)</a:t>
            </a:r>
            <a:endParaRPr sz="1600" b="0" dirty="0">
              <a:solidFill>
                <a:srgbClr val="0F172A"/>
              </a:solidFill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714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B9CA36-1225-4639-8353-8D6455CEC91E}"/>
              </a:ext>
            </a:extLst>
          </p:cNvPr>
          <p:cNvSpPr txBox="1"/>
          <p:nvPr/>
        </p:nvSpPr>
        <p:spPr>
          <a:xfrm>
            <a:off x="635000" y="221381"/>
            <a:ext cx="10922000" cy="896219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000" b="1" dirty="0">
                <a:solidFill>
                  <a:srgbClr val="0F172A"/>
                </a:solidFill>
                <a:latin typeface="Rockwell"/>
              </a:rPr>
              <a:t>Performance: STM32Cube HAL vs. ST Low-Layer in Zephyr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B14413-C2F6-4E40-A8B9-E7BD3F244976}"/>
              </a:ext>
            </a:extLst>
          </p:cNvPr>
          <p:cNvSpPr txBox="1"/>
          <p:nvPr/>
        </p:nvSpPr>
        <p:spPr>
          <a:xfrm>
            <a:off x="635000" y="1193800"/>
            <a:ext cx="1092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latin typeface="Rockwell"/>
              </a:rPr>
              <a:t>Cost of the same I²C operation in each driver layer — cycles are CPU work, not bus time (NUCLEO-F401RE @ 84 MHz)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411985-5B57-45AE-A2A8-DA561E59A9E0}"/>
              </a:ext>
            </a:extLst>
          </p:cNvPr>
          <p:cNvSpPr/>
          <p:nvPr/>
        </p:nvSpPr>
        <p:spPr>
          <a:xfrm>
            <a:off x="635000" y="5118500"/>
            <a:ext cx="10922000" cy="711200"/>
          </a:xfrm>
          <a:prstGeom prst="roundRect">
            <a:avLst/>
          </a:prstGeom>
          <a:solidFill>
            <a:srgbClr val="0F172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BE8561-CB39-45CA-943C-8906A48D9C77}"/>
              </a:ext>
            </a:extLst>
          </p:cNvPr>
          <p:cNvSpPr txBox="1"/>
          <p:nvPr/>
        </p:nvSpPr>
        <p:spPr>
          <a:xfrm>
            <a:off x="863600" y="5080000"/>
            <a:ext cx="10464800" cy="711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dirty="0">
                <a:solidFill>
                  <a:srgbClr val="E2E8F0"/>
                </a:solidFill>
                <a:latin typeface="Rockwell"/>
              </a:rPr>
              <a:t>LL_I2C_TransmitData8() is one opcode:  MODIFY_REG(I2Cx-&gt;DR, I2C_DR_DR, Data);  →  </a:t>
            </a:r>
            <a:r>
              <a:rPr lang="en-US" sz="1400" dirty="0" err="1">
                <a:solidFill>
                  <a:srgbClr val="E2E8F0"/>
                </a:solidFill>
                <a:latin typeface="Rockwell"/>
              </a:rPr>
              <a:t>strb</a:t>
            </a:r>
            <a:r>
              <a:rPr lang="en-US" sz="1400" dirty="0">
                <a:solidFill>
                  <a:srgbClr val="E2E8F0"/>
                </a:solidFill>
                <a:latin typeface="Rockwell"/>
              </a:rPr>
              <a:t> r1, [r0, #16]
Footprint per peripheral: 2.5–4.0 KB Flash and 48–64 B stack per HAL call, vs 400–800 B and zero stack for </a:t>
            </a:r>
            <a:r>
              <a:rPr lang="en-US" sz="1400" dirty="0" err="1">
                <a:solidFill>
                  <a:srgbClr val="E2E8F0"/>
                </a:solidFill>
                <a:latin typeface="Rockwell"/>
              </a:rPr>
              <a:t>inlined</a:t>
            </a:r>
            <a:r>
              <a:rPr lang="en-US" sz="1400" dirty="0">
                <a:solidFill>
                  <a:srgbClr val="E2E8F0"/>
                </a:solidFill>
                <a:latin typeface="Rockwell"/>
              </a:rPr>
              <a:t> LL macros.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53579-7B00-4F8E-BBC1-F7E7D6BF994C}"/>
              </a:ext>
            </a:extLst>
          </p:cNvPr>
          <p:cNvSpPr txBox="1"/>
          <p:nvPr/>
        </p:nvSpPr>
        <p:spPr>
          <a:xfrm>
            <a:off x="635000" y="6103752"/>
            <a:ext cx="1092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64748B"/>
                </a:solidFill>
                <a:latin typeface="Rockwell"/>
              </a:rPr>
              <a:t>Sources: ST UM1785 / UM1850; Zephyr i2c_stm32.c; NUCLEO-F401RE + X-NUCLEO-53L8A1 shield.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FCEAA06-6D13-4C85-A3B1-BD081E4FE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05551"/>
              </p:ext>
            </p:extLst>
          </p:nvPr>
        </p:nvGraphicFramePr>
        <p:xfrm>
          <a:off x="635000" y="1600200"/>
          <a:ext cx="10922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500">
                  <a:extLst>
                    <a:ext uri="{9D8B030D-6E8A-4147-A177-3AD203B41FA5}">
                      <a16:colId xmlns:a16="http://schemas.microsoft.com/office/drawing/2014/main" val="4046611586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3633099818"/>
                    </a:ext>
                  </a:extLst>
                </a:gridCol>
                <a:gridCol w="3492500">
                  <a:extLst>
                    <a:ext uri="{9D8B030D-6E8A-4147-A177-3AD203B41FA5}">
                      <a16:colId xmlns:a16="http://schemas.microsoft.com/office/drawing/2014/main" val="82139999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29362141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Rockwell"/>
                        </a:rPr>
                        <a:t>Operation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Rockwell"/>
                        </a:rPr>
                        <a:t>STM32Cube HAL call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Rockwell"/>
                        </a:rPr>
                        <a:t>Zephyr + ST LL call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  <a:latin typeface="Rockwell"/>
                        </a:rPr>
                        <a:t>Gain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76804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F172A"/>
                          </a:solidFill>
                          <a:latin typeface="Rockwell"/>
                        </a:rPr>
                        <a:t>Write one byte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0F172A"/>
                          </a:solidFill>
                          <a:latin typeface="Rockwell"/>
                        </a:rPr>
                        <a:t>HAL_I2C_Master_Transmit() — 120–250 CPU cycles of driver overhead per byte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0F172A"/>
                          </a:solidFill>
                          <a:latin typeface="Rockwell"/>
                        </a:rPr>
                        <a:t>LL_I2C_TransmitData8() — compiles to 1 opcode (12–24 ns)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563EB"/>
                          </a:solidFill>
                          <a:latin typeface="Rockwell"/>
                        </a:rPr>
                        <a:t>~150x less CPU 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58465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F172A"/>
                          </a:solidFill>
                          <a:latin typeface="Rockwell"/>
                        </a:rPr>
                        <a:t>Check a status flag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0F172A"/>
                          </a:solidFill>
                          <a:latin typeface="Rockwell"/>
                        </a:rPr>
                        <a:t>I2C_WaitOnFlagUntilTimeout() + HAL_GetTick() on every byte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0F172A"/>
                          </a:solidFill>
                          <a:latin typeface="Rockwell"/>
                        </a:rPr>
                        <a:t>LL_I2C_IsActiveFlag_TXE() — one register read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563EB"/>
                          </a:solidFill>
                          <a:latin typeface="Rockwell"/>
                        </a:rPr>
                        <a:t>No polling loop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25133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F172A"/>
                          </a:solidFill>
                          <a:latin typeface="Rockwell"/>
                        </a:rPr>
                        <a:t>Handle the interrupt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0F172A"/>
                          </a:solidFill>
                          <a:latin typeface="Rockwell"/>
                        </a:rPr>
                        <a:t>HAL_I2C_EV_IRQHandler() — branchy, 80–150 cycles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0F172A"/>
                          </a:solidFill>
                          <a:latin typeface="Rockwell"/>
                        </a:rPr>
                        <a:t>i2c_stm32_isr() — fixed 5–10 cycles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563EB"/>
                          </a:solidFill>
                          <a:latin typeface="Rockwell"/>
                        </a:rPr>
                        <a:t>&gt; 15x faster, jitter-free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51197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F172A"/>
                          </a:solidFill>
                          <a:latin typeface="Rockwell"/>
                        </a:rPr>
                        <a:t>Wait for completion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0F172A"/>
                          </a:solidFill>
                          <a:latin typeface="Rockwell"/>
                        </a:rPr>
                        <a:t>Blocking timeout loop — CPU pinned at ~98%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0F172A"/>
                          </a:solidFill>
                          <a:latin typeface="Rockwell"/>
                        </a:rPr>
                        <a:t>k_sem_take() — thread sleeps, CPU &lt; 1%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563EB"/>
                          </a:solidFill>
                          <a:latin typeface="Rockwell"/>
                        </a:rPr>
                        <a:t>&gt; 95% CPU freed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32181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0F172A"/>
                          </a:solidFill>
                          <a:latin typeface="Rockwell"/>
                        </a:rPr>
                        <a:t>Send the 32 KB firmware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0F172A"/>
                          </a:solidFill>
                          <a:latin typeface="Rockwell"/>
                        </a:rPr>
                        <a:t>HAL_I2C_Mem_Write() — ~740 </a:t>
                      </a:r>
                      <a:r>
                        <a:rPr lang="en-US" sz="1400" b="0" dirty="0" err="1">
                          <a:solidFill>
                            <a:srgbClr val="0F172A"/>
                          </a:solidFill>
                          <a:latin typeface="Rockwell"/>
                        </a:rPr>
                        <a:t>ms</a:t>
                      </a:r>
                      <a:r>
                        <a:rPr lang="en-US" sz="1400" b="0" dirty="0">
                          <a:solidFill>
                            <a:srgbClr val="0F172A"/>
                          </a:solidFill>
                          <a:latin typeface="Rockwell"/>
                        </a:rPr>
                        <a:t> of busy-wait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0F172A"/>
                          </a:solidFill>
                          <a:latin typeface="Rockwell"/>
                        </a:rPr>
                        <a:t>i2c_write_dt() — same 740 </a:t>
                      </a:r>
                      <a:r>
                        <a:rPr lang="en-US" sz="1400" b="0" dirty="0" err="1">
                          <a:solidFill>
                            <a:srgbClr val="0F172A"/>
                          </a:solidFill>
                          <a:latin typeface="Rockwell"/>
                        </a:rPr>
                        <a:t>ms</a:t>
                      </a:r>
                      <a:r>
                        <a:rPr lang="en-US" sz="1400" b="0" dirty="0">
                          <a:solidFill>
                            <a:srgbClr val="0F172A"/>
                          </a:solidFill>
                          <a:latin typeface="Rockwell"/>
                        </a:rPr>
                        <a:t> on the bus, &lt; 0.6 </a:t>
                      </a:r>
                      <a:r>
                        <a:rPr lang="en-US" sz="1400" b="0" dirty="0" err="1">
                          <a:solidFill>
                            <a:srgbClr val="0F172A"/>
                          </a:solidFill>
                          <a:latin typeface="Rockwell"/>
                        </a:rPr>
                        <a:t>ms</a:t>
                      </a:r>
                      <a:r>
                        <a:rPr lang="en-US" sz="1400" b="0" dirty="0">
                          <a:solidFill>
                            <a:srgbClr val="0F172A"/>
                          </a:solidFill>
                          <a:latin typeface="Rockwell"/>
                        </a:rPr>
                        <a:t> of CPU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rgbClr val="2563EB"/>
                          </a:solidFill>
                          <a:latin typeface="Rockwell"/>
                        </a:rPr>
                        <a:t>Bus-bound, not CPU-bound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571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736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2606040"/>
            <a:ext cx="10911535" cy="1737360"/>
          </a:xfrm>
          <a:prstGeom prst="roundRect">
            <a:avLst>
              <a:gd name="adj" fmla="val 6000"/>
            </a:avLst>
          </a:prstGeom>
          <a:solidFill>
            <a:srgbClr val="EC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757638"/>
            <a:ext cx="96012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dirty="0">
                <a:solidFill>
                  <a:srgbClr val="0F172A"/>
                </a:solidFill>
                <a:latin typeface="Rockwell" panose="02060603020205020403" pitchFamily="18" charset="0"/>
              </a:rPr>
              <a:t>VL53L8CX</a:t>
            </a:r>
            <a:r>
              <a:rPr sz="3000" b="1" dirty="0">
                <a:solidFill>
                  <a:srgbClr val="0F172A"/>
                </a:solidFill>
                <a:latin typeface="Rockwell" panose="02060603020205020403" pitchFamily="18" charset="0"/>
              </a:rPr>
              <a:t> Driver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52787"/>
            <a:ext cx="9601200" cy="6080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dirty="0">
                <a:latin typeface="Rockwell" panose="02060603020205020403" pitchFamily="18" charset="0"/>
              </a:rPr>
              <a:t>A clean, production-grade Zephyr sensor driver for STMicroelectronics' 8x8 multizone direct Time-of-Flight (</a:t>
            </a:r>
            <a:r>
              <a:rPr sz="1600" b="0" dirty="0" err="1">
                <a:latin typeface="Rockwell" panose="02060603020205020403" pitchFamily="18" charset="0"/>
              </a:rPr>
              <a:t>dToF</a:t>
            </a:r>
            <a:r>
              <a:rPr sz="1600" b="0" dirty="0">
                <a:latin typeface="Rockwell" panose="02060603020205020403" pitchFamily="18" charset="0"/>
              </a:rPr>
              <a:t>) ranging sensor.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46520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12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dirty="0">
                <a:solidFill>
                  <a:srgbClr val="2563EB"/>
                </a:solidFill>
                <a:latin typeface="Rockwell" panose="02060603020205020403" pitchFamily="18" charset="0"/>
              </a:rPr>
              <a:t>VL53L8CX 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058400" cy="984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3200" b="1" dirty="0">
                <a:latin typeface="Rockwell" panose="02060603020205020403" pitchFamily="18" charset="0"/>
              </a:rPr>
              <a:t>VL53L8CX : Adding Multizone ToF Support to Zephyr</a:t>
            </a:r>
            <a:endParaRPr sz="3200" b="1" dirty="0">
              <a:solidFill>
                <a:srgbClr val="0F172A"/>
              </a:solidFill>
              <a:latin typeface="Rockwell" panose="02060603020205020403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243584"/>
            <a:ext cx="822960" cy="3657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678042"/>
            <a:ext cx="6675120" cy="453987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6217920" cy="4134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lang="en-US" b="1" i="1" dirty="0">
                <a:latin typeface="Rockwell" panose="02060603020205020403" pitchFamily="18" charset="0"/>
              </a:rPr>
              <a:t>A sensor family that currently has no native Zephyr driver</a:t>
            </a:r>
            <a:endParaRPr lang="en-GB" b="1" i="1" dirty="0">
              <a:solidFill>
                <a:srgbClr val="2563EB"/>
              </a:solidFill>
              <a:latin typeface="Rockwell" panose="02060603020205020403" pitchFamily="18" charset="0"/>
            </a:endParaRPr>
          </a:p>
          <a:p>
            <a:pPr>
              <a:spcAft>
                <a:spcPts val="1400"/>
              </a:spcAft>
            </a:pPr>
            <a:r>
              <a:rPr dirty="0">
                <a:solidFill>
                  <a:srgbClr val="2563EB"/>
                </a:solidFill>
                <a:latin typeface="Rockwell" panose="02060603020205020403" pitchFamily="18" charset="0"/>
              </a:rPr>
              <a:t>■  </a:t>
            </a:r>
            <a:r>
              <a:rPr b="1" dirty="0">
                <a:solidFill>
                  <a:srgbClr val="0F172A"/>
                </a:solidFill>
                <a:latin typeface="Rockwell" panose="02060603020205020403" pitchFamily="18" charset="0"/>
              </a:rPr>
              <a:t>ST VL53L8CX 8x8 multizone ToF:</a:t>
            </a:r>
            <a:r>
              <a:rPr lang="en-GB" b="1" dirty="0">
                <a:solidFill>
                  <a:srgbClr val="0F172A"/>
                </a:solidFill>
                <a:latin typeface="Rockwell" panose="02060603020205020403" pitchFamily="18" charset="0"/>
              </a:rPr>
              <a:t> </a:t>
            </a:r>
            <a:r>
              <a:rPr lang="en-US" dirty="0">
                <a:latin typeface="Rockwell" panose="02060603020205020403" pitchFamily="18" charset="0"/>
              </a:rPr>
              <a:t>VL53L8CX provides </a:t>
            </a:r>
            <a:r>
              <a:rPr lang="en-US" b="1" dirty="0">
                <a:latin typeface="Rockwell" panose="02060603020205020403" pitchFamily="18" charset="0"/>
              </a:rPr>
              <a:t>64 ranging zones</a:t>
            </a:r>
            <a:r>
              <a:rPr lang="en-US" dirty="0">
                <a:latin typeface="Rockwell" panose="02060603020205020403" pitchFamily="18" charset="0"/>
              </a:rPr>
              <a:t>, giving us much more spatial information than a single-zone distance sensor</a:t>
            </a:r>
            <a:r>
              <a:rPr b="0" dirty="0">
                <a:solidFill>
                  <a:srgbClr val="475569"/>
                </a:solidFill>
                <a:latin typeface="Rockwell" panose="02060603020205020403" pitchFamily="18" charset="0"/>
              </a:rPr>
              <a:t>.</a:t>
            </a:r>
          </a:p>
          <a:p>
            <a:pPr>
              <a:spcAft>
                <a:spcPts val="1400"/>
              </a:spcAft>
            </a:pPr>
            <a:r>
              <a:rPr dirty="0">
                <a:solidFill>
                  <a:srgbClr val="2563EB"/>
                </a:solidFill>
                <a:latin typeface="Rockwell" panose="02060603020205020403" pitchFamily="18" charset="0"/>
              </a:rPr>
              <a:t>■  </a:t>
            </a:r>
            <a:r>
              <a:rPr b="1" dirty="0">
                <a:solidFill>
                  <a:srgbClr val="0F172A"/>
                </a:solidFill>
                <a:latin typeface="Rockwell" panose="02060603020205020403" pitchFamily="18" charset="0"/>
              </a:rPr>
              <a:t>Existing Zephyr single-zone drivers: </a:t>
            </a:r>
            <a:r>
              <a:rPr b="0" dirty="0">
                <a:latin typeface="Rockwell" panose="02060603020205020403" pitchFamily="18" charset="0"/>
              </a:rPr>
              <a:t>VL53L0X and VL53L1X only — both single-zone, older sensors.</a:t>
            </a:r>
          </a:p>
          <a:p>
            <a:pPr>
              <a:spcAft>
                <a:spcPts val="1400"/>
              </a:spcAft>
            </a:pPr>
            <a:r>
              <a:rPr dirty="0">
                <a:solidFill>
                  <a:srgbClr val="2563EB"/>
                </a:solidFill>
                <a:latin typeface="Rockwell" panose="02060603020205020403" pitchFamily="18" charset="0"/>
              </a:rPr>
              <a:t>■  </a:t>
            </a:r>
            <a:r>
              <a:rPr b="1" dirty="0">
                <a:solidFill>
                  <a:srgbClr val="0F172A"/>
                </a:solidFill>
                <a:latin typeface="Rockwell" panose="02060603020205020403" pitchFamily="18" charset="0"/>
              </a:rPr>
              <a:t>Zero multizone support in Zephyr: </a:t>
            </a:r>
            <a:r>
              <a:rPr lang="en-GB" b="1" dirty="0">
                <a:solidFill>
                  <a:srgbClr val="0F172A"/>
                </a:solidFill>
                <a:latin typeface="Rockwell" panose="02060603020205020403" pitchFamily="18" charset="0"/>
              </a:rPr>
              <a:t> </a:t>
            </a:r>
            <a:r>
              <a:rPr b="0" dirty="0">
                <a:latin typeface="Rockwell" panose="02060603020205020403" pitchFamily="18" charset="0"/>
              </a:rPr>
              <a:t>no driver anywhere in git history for VL53L5/7/8/9CX.</a:t>
            </a:r>
          </a:p>
          <a:p>
            <a:pPr>
              <a:spcAft>
                <a:spcPts val="1400"/>
              </a:spcAft>
            </a:pPr>
            <a:r>
              <a:rPr dirty="0">
                <a:solidFill>
                  <a:srgbClr val="2563EB"/>
                </a:solidFill>
                <a:latin typeface="Rockwell" panose="02060603020205020403" pitchFamily="18" charset="0"/>
              </a:rPr>
              <a:t>■  </a:t>
            </a:r>
            <a:r>
              <a:rPr lang="en-GB" b="1" dirty="0">
                <a:solidFill>
                  <a:srgbClr val="0F172A"/>
                </a:solidFill>
                <a:latin typeface="Rockwell" panose="02060603020205020403" pitchFamily="18" charset="0"/>
              </a:rPr>
              <a:t>So we built one</a:t>
            </a:r>
            <a:r>
              <a:rPr b="1" dirty="0">
                <a:solidFill>
                  <a:srgbClr val="0F172A"/>
                </a:solidFill>
                <a:latin typeface="Rockwell" panose="02060603020205020403" pitchFamily="18" charset="0"/>
              </a:rPr>
              <a:t>:</a:t>
            </a:r>
            <a:r>
              <a:rPr lang="en-GB" b="1" dirty="0">
                <a:solidFill>
                  <a:srgbClr val="0F172A"/>
                </a:solidFill>
                <a:latin typeface="Rockwell" panose="02060603020205020403" pitchFamily="18" charset="0"/>
              </a:rPr>
              <a:t> </a:t>
            </a:r>
            <a:r>
              <a:rPr lang="en-US" dirty="0">
                <a:latin typeface="Rockwell" panose="02060603020205020403" pitchFamily="18" charset="0"/>
              </a:rPr>
              <a:t>The goal is to bring the VL53L8CX into the Zephyr sensor framework and make it usable like other Zephyr sensors.</a:t>
            </a:r>
            <a:endParaRPr b="0" dirty="0">
              <a:solidFill>
                <a:srgbClr val="475569"/>
              </a:solidFill>
              <a:latin typeface="Rockwell" panose="02060603020205020403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543800" y="1508760"/>
            <a:ext cx="4005072" cy="47091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863840" y="1691640"/>
            <a:ext cx="3364992" cy="320040"/>
          </a:xfrm>
          <a:prstGeom prst="roundRect">
            <a:avLst>
              <a:gd name="adj" fmla="val 50000"/>
            </a:avLst>
          </a:prstGeom>
          <a:solidFill>
            <a:srgbClr val="1E2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Rockwell" panose="02060603020205020403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63840" y="1728550"/>
            <a:ext cx="336499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sz="1600" b="1" dirty="0">
                <a:solidFill>
                  <a:srgbClr val="06B6D4"/>
                </a:solidFill>
                <a:latin typeface="Rockwell" panose="02060603020205020403" pitchFamily="18" charset="0"/>
              </a:rPr>
              <a:t>Why it is useful</a:t>
            </a:r>
            <a:endParaRPr sz="1600" b="1" dirty="0">
              <a:solidFill>
                <a:srgbClr val="06B6D4"/>
              </a:solidFill>
              <a:latin typeface="Rockwell" panose="02060603020205020403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63840" y="2240280"/>
            <a:ext cx="3364992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Rockwell" panose="02060603020205020403" pitchFamily="18" charset="0"/>
              </a:rPr>
              <a:t>High upstream potential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1300" y="2616200"/>
            <a:ext cx="3365500" cy="3429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dirty="0">
                <a:solidFill>
                  <a:srgbClr val="E2E8F0"/>
                </a:solidFill>
                <a:latin typeface="Rockwell" panose="02060603020205020403" pitchFamily="18" charset="0"/>
              </a:rPr>
              <a:t>No VL53L5/7/8/9CX driver exists upstream, so this is not duplicated work.</a:t>
            </a: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600" b="1" dirty="0">
                <a:solidFill>
                  <a:srgbClr val="FFFFFF"/>
                </a:solidFill>
                <a:latin typeface="Rockwell" panose="02060603020205020403" pitchFamily="18" charset="0"/>
              </a:rPr>
              <a:t>New multizone use cases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dirty="0">
                <a:solidFill>
                  <a:srgbClr val="E2E8F0"/>
                </a:solidFill>
                <a:latin typeface="Rockwell" panose="02060603020205020403" pitchFamily="18" charset="0"/>
              </a:rPr>
              <a:t>64 zones enable gesture, presence and obstacle mapping.</a:t>
            </a:r>
          </a:p>
          <a:p>
            <a:pPr algn="l">
              <a:spcBef>
                <a:spcPts val="1400"/>
              </a:spcBef>
              <a:spcAft>
                <a:spcPts val="200"/>
              </a:spcAft>
            </a:pPr>
            <a:r>
              <a:rPr sz="1600" b="1" dirty="0">
                <a:solidFill>
                  <a:srgbClr val="FFFFFF"/>
                </a:solidFill>
                <a:latin typeface="Rockwell" panose="02060603020205020403" pitchFamily="18" charset="0"/>
              </a:rPr>
              <a:t>Standard sensor API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 dirty="0">
                <a:solidFill>
                  <a:srgbClr val="E2E8F0"/>
                </a:solidFill>
                <a:latin typeface="Rockwell" panose="02060603020205020403" pitchFamily="18" charset="0"/>
              </a:rPr>
              <a:t>Fetch/get calls behave like any other Zephyr sensor, configured from devicetree.</a:t>
            </a:r>
          </a:p>
        </p:txBody>
      </p:sp>
    </p:spTree>
    <p:extLst>
      <p:ext uri="{BB962C8B-B14F-4D97-AF65-F5344CB8AC3E}">
        <p14:creationId xmlns:p14="http://schemas.microsoft.com/office/powerpoint/2010/main" val="2113645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46408"/>
            <a:ext cx="10058400" cy="984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3200" dirty="0">
                <a:latin typeface="Rockwell" panose="02060603020205020403" pitchFamily="18" charset="0"/>
              </a:rPr>
              <a:t>VL53L8CX Driver Architecture — Our Code vs. ST Code</a:t>
            </a:r>
            <a:endParaRPr sz="3200" b="1" dirty="0">
              <a:solidFill>
                <a:srgbClr val="0F172A"/>
              </a:solidFill>
              <a:latin typeface="Rockwell" panose="02060603020205020403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5000" y="1511300"/>
            <a:ext cx="7226300" cy="11938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3600" y="1511300"/>
            <a:ext cx="6769100" cy="11938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Rockwell" panose="02060603020205020403" pitchFamily="18" charset="0"/>
              </a:rPr>
              <a:t>1. Zephyr Application</a:t>
            </a:r>
          </a:p>
          <a:p>
            <a:pPr algn="l">
              <a:spcAft>
                <a:spcPts val="200"/>
              </a:spcAft>
            </a:pPr>
            <a:r>
              <a:rPr lang="en-US" sz="1600" b="0" dirty="0">
                <a:solidFill>
                  <a:srgbClr val="93C5FD"/>
                </a:solidFill>
                <a:latin typeface="Rockwell" panose="02060603020205020403" pitchFamily="18" charset="0"/>
              </a:rPr>
              <a:t>sensor_sample_fetch()  ·  sensor_channel_get()</a:t>
            </a:r>
          </a:p>
          <a:p>
            <a:pPr algn="l">
              <a:spcAft>
                <a:spcPts val="0"/>
              </a:spcAft>
            </a:pPr>
            <a:r>
              <a:rPr lang="en-US" sz="1600" b="0" dirty="0">
                <a:solidFill>
                  <a:srgbClr val="CBD5E1"/>
                </a:solidFill>
                <a:latin typeface="Rockwell" panose="02060603020205020403" pitchFamily="18" charset="0"/>
              </a:rPr>
              <a:t>Uses the standard Zephyr sensor API instead of talking to the VL53L8CX directly — one common interface for every sensor driver.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000" y="2870200"/>
            <a:ext cx="7226300" cy="9398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3600" y="2870200"/>
            <a:ext cx="6769100" cy="9398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Rockwell" panose="02060603020205020403" pitchFamily="18" charset="0"/>
              </a:rPr>
              <a:t>2. Our Zephyr Driver</a:t>
            </a:r>
          </a:p>
          <a:p>
            <a:pPr algn="l">
              <a:spcAft>
                <a:spcPts val="200"/>
              </a:spcAft>
            </a:pPr>
            <a:r>
              <a:rPr lang="en-US" sz="1600" b="0" dirty="0">
                <a:solidFill>
                  <a:srgbClr val="FFFFFF"/>
                </a:solidFill>
                <a:latin typeface="Rockwell" panose="02060603020205020403" pitchFamily="18" charset="0"/>
              </a:rPr>
              <a:t>vl53l8cx.c  ·  platform.c  ·  Devicetree  ·  Kconfig</a:t>
            </a:r>
          </a:p>
          <a:p>
            <a:pPr algn="l">
              <a:spcAft>
                <a:spcPts val="0"/>
              </a:spcAft>
            </a:pPr>
            <a:r>
              <a:rPr lang="en-US" sz="1600" b="0" dirty="0">
                <a:solidFill>
                  <a:srgbClr val="FFFFFF"/>
                </a:solidFill>
                <a:latin typeface="Rockwell" panose="02060603020205020403" pitchFamily="18" charset="0"/>
              </a:rPr>
              <a:t>Our code — translates Zephyr sensor API ↔ ST's VL53L8CX 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962400"/>
            <a:ext cx="7226300" cy="1193800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3600" y="3962400"/>
            <a:ext cx="6769100" cy="11938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Aft>
                <a:spcPts val="200"/>
              </a:spcAft>
            </a:pPr>
            <a:r>
              <a:rPr lang="en-US" sz="1600" b="1" dirty="0">
                <a:solidFill>
                  <a:srgbClr val="0F172A"/>
                </a:solidFill>
                <a:latin typeface="Rockwell" panose="02060603020205020403" pitchFamily="18" charset="0"/>
              </a:rPr>
              <a:t>3. ST Vendor Code</a:t>
            </a:r>
          </a:p>
          <a:p>
            <a:pPr algn="l">
              <a:spcAft>
                <a:spcPts val="200"/>
              </a:spcAft>
            </a:pPr>
            <a:r>
              <a:rPr lang="en-US" sz="1600" b="0" dirty="0">
                <a:solidFill>
                  <a:srgbClr val="0F172A"/>
                </a:solidFill>
                <a:latin typeface="Rockwell" panose="02060603020205020403" pitchFamily="18" charset="0"/>
              </a:rPr>
              <a:t>vl53l8cx_api.c</a:t>
            </a:r>
          </a:p>
          <a:p>
            <a:pPr algn="l">
              <a:spcAft>
                <a:spcPts val="0"/>
              </a:spcAft>
            </a:pPr>
            <a:r>
              <a:rPr lang="en-US" sz="1600" b="0" dirty="0">
                <a:solidFill>
                  <a:srgbClr val="0F172A"/>
                </a:solidFill>
                <a:latin typeface="Rockwell" panose="02060603020205020403" pitchFamily="18" charset="0"/>
              </a:rPr>
              <a:t>ST's ranging algorithms and device-specific implementation — we don't modify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308600"/>
            <a:ext cx="7226300" cy="9144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3600" y="5308600"/>
            <a:ext cx="6769100" cy="9144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Aft>
                <a:spcPts val="200"/>
              </a:spcAft>
            </a:pPr>
            <a:r>
              <a:rPr lang="en-US" sz="1600" b="1" dirty="0">
                <a:solidFill>
                  <a:srgbClr val="0F172A"/>
                </a:solidFill>
                <a:latin typeface="Rockwell" panose="02060603020205020403" pitchFamily="18" charset="0"/>
              </a:rPr>
              <a:t>4. Hardware</a:t>
            </a:r>
          </a:p>
          <a:p>
            <a:pPr algn="l">
              <a:spcAft>
                <a:spcPts val="200"/>
              </a:spcAft>
            </a:pPr>
            <a:r>
              <a:rPr lang="en-US" sz="1600" b="0" dirty="0">
                <a:solidFill>
                  <a:srgbClr val="0F172A"/>
                </a:solidFill>
                <a:latin typeface="Rockwell" panose="02060603020205020403" pitchFamily="18" charset="0"/>
              </a:rPr>
              <a:t>VL53L8CX  ·  I²C  ·  LPn  ·  INT</a:t>
            </a:r>
          </a:p>
          <a:p>
            <a:pPr algn="l">
              <a:spcAft>
                <a:spcPts val="0"/>
              </a:spcAft>
            </a:pPr>
            <a:r>
              <a:rPr lang="en-US" sz="1600" b="0" dirty="0">
                <a:solidFill>
                  <a:srgbClr val="0F172A"/>
                </a:solidFill>
                <a:latin typeface="Rockwell" panose="02060603020205020403" pitchFamily="18" charset="0"/>
              </a:rPr>
              <a:t>I²C for data, LPn for power control, INT for data-ready.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508760"/>
            <a:ext cx="3502240" cy="47091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366760" y="1691640"/>
            <a:ext cx="2862160" cy="320040"/>
          </a:xfrm>
          <a:prstGeom prst="roundRect">
            <a:avLst>
              <a:gd name="adj" fmla="val 50000"/>
            </a:avLst>
          </a:prstGeom>
          <a:solidFill>
            <a:srgbClr val="1E29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66760" y="1728550"/>
            <a:ext cx="286216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6B6D4"/>
                </a:solidFill>
                <a:latin typeface="Rockwell" panose="02060603020205020403" pitchFamily="18" charset="0"/>
              </a:rPr>
              <a:t>CORE PRINCIPLE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240280"/>
            <a:ext cx="28621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Rockwell" panose="02060603020205020403" pitchFamily="18" charset="0"/>
              </a:rPr>
              <a:t>Strict separation of concerns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9300" y="2654300"/>
            <a:ext cx="2857500" cy="33655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lang="en-US" sz="1600" b="0" dirty="0">
                <a:solidFill>
                  <a:srgbClr val="E2E8F0"/>
                </a:solidFill>
                <a:latin typeface="Rockwell" panose="02060603020205020403" pitchFamily="18" charset="0"/>
              </a:rPr>
              <a:t>1. Glue layer (vl53l8cx.c &amp; platform.c) — ours to write and maintain, Apache-2.0.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sz="1600" b="0" dirty="0">
                <a:solidFill>
                  <a:srgbClr val="E2E8F0"/>
                </a:solidFill>
                <a:latin typeface="Rockwell" panose="02060603020205020403" pitchFamily="18" charset="0"/>
              </a:rPr>
              <a:t>2. Vendor ULD (uld/vl53l8cx_api.c) must stay 100% pristine ST code (BSD-3-Clause) — no Zephyr #includes or printk().</a:t>
            </a:r>
          </a:p>
        </p:txBody>
      </p:sp>
    </p:spTree>
    <p:extLst>
      <p:ext uri="{BB962C8B-B14F-4D97-AF65-F5344CB8AC3E}">
        <p14:creationId xmlns:p14="http://schemas.microsoft.com/office/powerpoint/2010/main" val="1498865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VL53L8CX 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Status Update: Then vs. 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43584"/>
            <a:ext cx="822960" cy="3657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Zephyr on STM32 → the VL53L8CX Driver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333999" cy="47091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487679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FIXED SINCE THE LAST REVIEW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103120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075688"/>
            <a:ext cx="4465319" cy="930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module.yml, Kconfig, CMakeLists.txt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CBD5E1"/>
                </a:solidFill>
                <a:latin typeface="Segoe UI"/>
              </a:rPr>
              <a:t>Fully populated, no longer empty stubs.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088640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0886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061208"/>
            <a:ext cx="4465319" cy="930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Devicetree binding written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CBD5E1"/>
                </a:solidFill>
                <a:latin typeface="Segoe UI"/>
              </a:rPr>
              <a:t>dts/bindings/sensor/st,vl53l8cx.yaml now exists.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074160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07416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046728"/>
            <a:ext cx="4465319" cy="930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Sample app builds on 2 boards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CBD5E1"/>
                </a:solidFill>
                <a:latin typeface="Segoe UI"/>
              </a:rPr>
              <a:t>vl53l8cx_simple, overlays for G474RE &amp; N657X0-Q.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5059680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0596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32248"/>
            <a:ext cx="4465319" cy="930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Real version control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CBD5E1"/>
                </a:solidFill>
                <a:latin typeface="Segoe UI"/>
              </a:rPr>
              <a:t>Proper git repo, 2 commits, ~2,460 lines of code.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35120" y="1508760"/>
            <a:ext cx="5333999" cy="47091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63720" y="1691640"/>
            <a:ext cx="487679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F4444"/>
                </a:solidFill>
                <a:latin typeface="Segoe UI"/>
              </a:rPr>
              <a:t>STILL OPEN</a:t>
            </a:r>
          </a:p>
        </p:txBody>
      </p:sp>
      <p:sp>
        <p:nvSpPr>
          <p:cNvPr id="23" name="Oval 22"/>
          <p:cNvSpPr/>
          <p:nvPr/>
        </p:nvSpPr>
        <p:spPr>
          <a:xfrm>
            <a:off x="6363720" y="2103120"/>
            <a:ext cx="320040" cy="32004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63720" y="21031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75200" y="2075688"/>
            <a:ext cx="4465319" cy="930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Polluted vendor source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CBD5E1"/>
                </a:solidFill>
                <a:latin typeface="Segoe UI"/>
              </a:rPr>
              <a:t>uld/vl53l8cx_api.c still has a #include and 6 printk() debug calls hand-spliced in.</a:t>
            </a:r>
          </a:p>
        </p:txBody>
      </p:sp>
      <p:sp>
        <p:nvSpPr>
          <p:cNvPr id="26" name="Oval 25"/>
          <p:cNvSpPr/>
          <p:nvPr/>
        </p:nvSpPr>
        <p:spPr>
          <a:xfrm>
            <a:off x="6363720" y="3088640"/>
            <a:ext cx="320040" cy="32004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63720" y="30886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5200" y="3061208"/>
            <a:ext cx="4465319" cy="930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Missing LICENSE file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CBD5E1"/>
                </a:solidFill>
                <a:latin typeface="Segoe UI"/>
              </a:rPr>
              <a:t>No LICENSE ships with uld/, only a bare ST copyright comment.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dirty="0">
                <a:latin typeface="Rockwell" panose="02060603020205020403" pitchFamily="18" charset="0"/>
              </a:rPr>
              <a:t>VL53L8CX 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0584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dirty="0">
                <a:solidFill>
                  <a:srgbClr val="0F172A"/>
                </a:solidFill>
                <a:latin typeface="Rockwell" panose="02060603020205020403" pitchFamily="18" charset="0"/>
              </a:rPr>
              <a:t>Remaining</a:t>
            </a:r>
            <a:r>
              <a:rPr sz="2700" b="1" dirty="0">
                <a:solidFill>
                  <a:srgbClr val="0F172A"/>
                </a:solidFill>
                <a:latin typeface="Rockwell" panose="02060603020205020403" pitchFamily="18" charset="0"/>
              </a:rPr>
              <a:t> Steps to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911535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655063"/>
            <a:ext cx="548640" cy="1311965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1821662"/>
            <a:ext cx="5486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Rockwell" panose="02060603020205020403" pitchFamily="18" charset="0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600200"/>
            <a:ext cx="9997135" cy="4129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Rockwell" panose="02060603020205020403" pitchFamily="18" charset="0"/>
              </a:rPr>
              <a:t>Clean the Vendor Source File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Rockwell" panose="02060603020205020403" pitchFamily="18" charset="0"/>
              </a:rPr>
              <a:t>Strip the stray #include and printk() calls from uld/vl53l8cx_api.c; move diagnostics into platform.c / vl53l8cx.c via LOG_DBG().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14016"/>
            <a:ext cx="10911535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560319"/>
            <a:ext cx="548640" cy="1311965"/>
          </a:xfrm>
          <a:prstGeom prst="roundRect">
            <a:avLst>
              <a:gd name="adj" fmla="val 3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2726918"/>
            <a:ext cx="5486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Rockwell" panose="02060603020205020403" pitchFamily="18" charset="0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505456"/>
            <a:ext cx="9997135" cy="4129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Rockwell" panose="02060603020205020403" pitchFamily="18" charset="0"/>
              </a:rPr>
              <a:t>Attach Licensing &amp; Copyright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Rockwell" panose="02060603020205020403" pitchFamily="18" charset="0"/>
              </a:rPr>
              <a:t>Ship ST's official BSD-3-Clause LICENSE alongside uld/, and align copyright headers with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3062"/>
            <a:ext cx="10911535" cy="12678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3465575"/>
            <a:ext cx="548640" cy="1311965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3632174"/>
            <a:ext cx="5486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Rockwell" panose="02060603020205020403" pitchFamily="18" charset="0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410712"/>
            <a:ext cx="9997135" cy="4129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dirty="0">
                <a:solidFill>
                  <a:srgbClr val="0F172A"/>
                </a:solidFill>
                <a:latin typeface="Rockwell" panose="02060603020205020403" pitchFamily="18" charset="0"/>
              </a:rPr>
              <a:t>Validate on the Hardware Matrix</a:t>
            </a:r>
          </a:p>
          <a:p>
            <a:pPr algn="l">
              <a:spcAft>
                <a:spcPts val="400"/>
              </a:spcAft>
            </a:pPr>
            <a:r>
              <a:rPr sz="1050" b="0" dirty="0">
                <a:solidFill>
                  <a:srgbClr val="475569"/>
                </a:solidFill>
                <a:latin typeface="Rockwell" panose="02060603020205020403" pitchFamily="18" charset="0"/>
              </a:rPr>
              <a:t>Build, flash and run automated I2C ranging checks across Nucleo-G474RE, Nucleo-N657X0-Q and STM32MP257F.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52874"/>
            <a:ext cx="10911535" cy="148333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4370831"/>
            <a:ext cx="548640" cy="1311965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" y="4537430"/>
            <a:ext cx="54864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Rockwell" panose="02060603020205020403" pitchFamily="18" charset="0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315968"/>
            <a:ext cx="9997135" cy="4129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Rockwell" panose="02060603020205020403" pitchFamily="18" charset="0"/>
              </a:rPr>
              <a:t>Decide the Upstream Path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Rockwell" panose="02060603020205020403" pitchFamily="18" charset="0"/>
              </a:rPr>
              <a:t>Iterate as a unified out-of-tree module, or split into Zephyr-tree glue + a hal_st contribution for upstream submission.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dirty="0">
                <a:latin typeface="Rockwell" panose="02060603020205020403" pitchFamily="18" charset="0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058400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F172A"/>
                </a:solidFill>
                <a:latin typeface="Rockwell" panose="02060603020205020403" pitchFamily="18" charset="0"/>
              </a:rPr>
              <a:t>One Platform, One Workspace, One Driver 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43584"/>
            <a:ext cx="822960" cy="3657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911535" cy="4750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dirty="0">
                <a:latin typeface="Rockwell" panose="02060603020205020403" pitchFamily="18" charset="0"/>
              </a:rPr>
              <a:t>The same west build and driver model take a </a:t>
            </a:r>
            <a:r>
              <a:rPr sz="1250" b="0" dirty="0" err="1">
                <a:latin typeface="Rockwell" panose="02060603020205020403" pitchFamily="18" charset="0"/>
              </a:rPr>
              <a:t>Nucleo</a:t>
            </a:r>
            <a:r>
              <a:rPr sz="1250" b="0" dirty="0">
                <a:latin typeface="Rockwell" panose="02060603020205020403" pitchFamily="18" charset="0"/>
              </a:rPr>
              <a:t> board from blinky to the VL53L8CX ranging driver — and the driver itself is close: build system done, licensing and vendor-source hygiene are what remain.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35204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2789136"/>
            <a:ext cx="30632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dirty="0">
                <a:solidFill>
                  <a:srgbClr val="2563EB"/>
                </a:solidFill>
                <a:latin typeface="Rockwell" panose="02060603020205020403" pitchFamily="18" charset="0"/>
              </a:rPr>
              <a:t>Not just a scheduler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46336"/>
            <a:ext cx="3063240" cy="4943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latin typeface="Rockwell" panose="02060603020205020403" pitchFamily="18" charset="0"/>
              </a:rPr>
              <a:t>Kernel + OS services + libraries + drivers, versioned together.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60604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51960" y="2606040"/>
            <a:ext cx="3520440" cy="5486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80560" y="2789136"/>
            <a:ext cx="30632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6B6D4"/>
                </a:solidFill>
                <a:latin typeface="Rockwell" panose="02060603020205020403" pitchFamily="18" charset="0"/>
              </a:rPr>
              <a:t>A real ecosystem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46336"/>
            <a:ext cx="3063240" cy="4943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latin typeface="Rockwell" panose="02060603020205020403" pitchFamily="18" charset="0"/>
              </a:rPr>
              <a:t>No multizone dToF driver exists upstream — ours is the first.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260604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863840" y="2606040"/>
            <a:ext cx="35204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Rockwell" panose="02060603020205020403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92440" y="2789136"/>
            <a:ext cx="30632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B981"/>
                </a:solidFill>
                <a:latin typeface="Rockwell" panose="02060603020205020403" pitchFamily="18" charset="0"/>
              </a:rPr>
              <a:t>Nearly production-ready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246336"/>
            <a:ext cx="3063240" cy="4943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latin typeface="Rockwell" panose="02060603020205020403" pitchFamily="18" charset="0"/>
              </a:rPr>
              <a:t>Build system complete; vendor-source cleanup is the last mile.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09160"/>
            <a:ext cx="10911535" cy="10058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ockwell" panose="02060603020205020403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4800600"/>
            <a:ext cx="10362895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06B6D4"/>
                </a:solidFill>
                <a:latin typeface="Rockwell" panose="02060603020205020403" pitchFamily="18" charset="0"/>
              </a:rPr>
              <a:t>zephyrproject.org  ·  docs.zephyrproject.org  ·  github.com/zephyrproject-rtos/zephyr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66360"/>
            <a:ext cx="10362895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CBD5E1"/>
                </a:solidFill>
                <a:latin typeface="Rockwell" panose="02060603020205020403" pitchFamily="18" charset="0"/>
              </a:rPr>
              <a:t>Workspace location: zephyr_dev/modules/sensor/st_vl53l8cx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958482D-D655-41F2-AAAE-627600108236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51801afe-150a-47d9-b2ca-eefffcb54ae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2642</Words>
  <Application>Microsoft Office PowerPoint</Application>
  <PresentationFormat>Widescreen</PresentationFormat>
  <Paragraphs>331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Arial</vt:lpstr>
      <vt:lpstr>Calibri</vt:lpstr>
      <vt:lpstr>Cambria</vt:lpstr>
      <vt:lpstr>Consolas</vt:lpstr>
      <vt:lpstr>Rockwell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Zafar Iqbal</cp:lastModifiedBy>
  <cp:revision>237</cp:revision>
  <dcterms:created xsi:type="dcterms:W3CDTF">2013-01-27T09:14:16Z</dcterms:created>
  <dcterms:modified xsi:type="dcterms:W3CDTF">2026-09-15T21:52:08Z</dcterms:modified>
  <cp:category/>
</cp:coreProperties>
</file>