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645920"/>
            <a:ext cx="10545775" cy="393192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26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10545775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80160" y="2057400"/>
            <a:ext cx="2926080" cy="347472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ZEPHYR RTOS  ·  WEST  · 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6032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3400" b="1">
                <a:solidFill>
                  <a:srgbClr val="FFFFFF"/>
                </a:solidFill>
                <a:latin typeface="Segoe UI"/>
              </a:defRPr>
            </a:pPr>
            <a:r>
              <a:t>Zephyr Workspace Architecture</a:t>
            </a:r>
            <a:br/>
            <a:r>
              <a:t>&amp; the VL53L8CX ToF Sensor Driver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1605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How Zephyr, West, and external modules fit together — and where our STMicroelectronics VL53L8CX 8x8 multizone driver development stands today.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17920"/>
            <a:ext cx="105457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zephyr_dev workspace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217920"/>
            <a:ext cx="31391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Agenda &amp; Presentation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43584"/>
            <a:ext cx="822960" cy="3657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Zephyr Workspace &amp; ST VL53L8CX Driver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46520"/>
            <a:ext cx="194767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02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59" y="1737360"/>
            <a:ext cx="594360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691639"/>
            <a:ext cx="4069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What is Zephyr RTOS?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A scalable, open-source RTOS for modern embedded &amp; IoT devices with hardware abstraction and rich subsystems.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150876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19672" y="1737360"/>
            <a:ext cx="594360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691639"/>
            <a:ext cx="4069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What is West?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Zephyr's multi-repository meta-tool for orchestrating manifests, cloning dependencies, and building images.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0896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59" y="3337560"/>
            <a:ext cx="594360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291840"/>
            <a:ext cx="4069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Zephyr's Folder Structure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Deep dive into kernel/, arch/, drivers/, boards/, subsys/, and Kconfig organization.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6792" y="310896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19672" y="3337560"/>
            <a:ext cx="594360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6912" y="3291840"/>
            <a:ext cx="4069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What is a Module?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How external vendor SDKs and HALs plug seamlessly into the Zephyr build via module.yml.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0916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59" y="4937760"/>
            <a:ext cx="594360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892040"/>
            <a:ext cx="4069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Our Workspace Layout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Top-level architecture of zephyr_dev: zephyr_app, zephyr core, modules, and bootloader.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470916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19672" y="4937760"/>
            <a:ext cx="594360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96912" y="4892040"/>
            <a:ext cx="4069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VL53L8CX Driver Development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Current status, glue vs. vendor architecture, licensing hygiene, and verified next steps.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What is Zephyr RTOS?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43584"/>
            <a:ext cx="822960" cy="3657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Zephyr Workspace &amp; ST VL53L8CX Driver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46520"/>
            <a:ext cx="194767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03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667512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621792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100">
                <a:solidFill>
                  <a:srgbClr val="2563EB"/>
                </a:solidFill>
                <a:latin typeface="Segoe UI"/>
              </a:rPr>
              <a:t>■  </a:t>
            </a:r>
            <a:r>
              <a:rPr sz="1200" b="1">
                <a:solidFill>
                  <a:srgbClr val="0F172A"/>
                </a:solidFill>
                <a:latin typeface="Segoe UI"/>
              </a:rPr>
              <a:t>Linux Foundation Governed: </a:t>
            </a:r>
            <a:r>
              <a:rPr sz="1200" b="0">
                <a:solidFill>
                  <a:srgbClr val="475569"/>
                </a:solidFill>
                <a:latin typeface="Segoe UI"/>
              </a:rPr>
              <a:t>Open-source, vendor-neutral RTOS with permissive Apache-2.0 licensing, backed by major industry leaders.</a:t>
            </a:r>
          </a:p>
          <a:p>
            <a:pPr>
              <a:spcAft>
                <a:spcPts val="1400"/>
              </a:spcAft>
            </a:pPr>
            <a:r>
              <a:rPr sz="1100">
                <a:solidFill>
                  <a:srgbClr val="2563EB"/>
                </a:solidFill>
                <a:latin typeface="Segoe UI"/>
              </a:rPr>
              <a:t>■  </a:t>
            </a:r>
            <a:r>
              <a:rPr sz="1200" b="1">
                <a:solidFill>
                  <a:srgbClr val="0F172A"/>
                </a:solidFill>
                <a:latin typeface="Segoe UI"/>
              </a:rPr>
              <a:t>Massive Scalability: </a:t>
            </a:r>
            <a:r>
              <a:rPr sz="1200" b="0">
                <a:solidFill>
                  <a:srgbClr val="475569"/>
                </a:solidFill>
                <a:latin typeface="Segoe UI"/>
              </a:rPr>
              <a:t>Operates efficiently on ultra-low-power single-core MCUs up to high-performance multicore 64-bit MPUs.</a:t>
            </a:r>
          </a:p>
          <a:p>
            <a:pPr>
              <a:spcAft>
                <a:spcPts val="1400"/>
              </a:spcAft>
            </a:pPr>
            <a:r>
              <a:rPr sz="1100">
                <a:solidFill>
                  <a:srgbClr val="2563EB"/>
                </a:solidFill>
                <a:latin typeface="Segoe UI"/>
              </a:rPr>
              <a:t>■  </a:t>
            </a:r>
            <a:r>
              <a:rPr sz="1200" b="1">
                <a:solidFill>
                  <a:srgbClr val="0F172A"/>
                </a:solidFill>
                <a:latin typeface="Segoe UI"/>
              </a:rPr>
              <a:t>Configuration-Driven: </a:t>
            </a:r>
            <a:r>
              <a:rPr sz="1200" b="0">
                <a:solidFill>
                  <a:srgbClr val="475569"/>
                </a:solidFill>
                <a:latin typeface="Segoe UI"/>
              </a:rPr>
              <a:t>Kconfig provides build-time modular selection, while Devicetree (DTS) completely decouples hardware topology from driver logic.</a:t>
            </a:r>
          </a:p>
          <a:p>
            <a:pPr>
              <a:spcAft>
                <a:spcPts val="1400"/>
              </a:spcAft>
            </a:pPr>
            <a:r>
              <a:rPr sz="1100">
                <a:solidFill>
                  <a:srgbClr val="2563EB"/>
                </a:solidFill>
                <a:latin typeface="Segoe UI"/>
              </a:rPr>
              <a:t>■  </a:t>
            </a:r>
            <a:r>
              <a:rPr sz="1200" b="1">
                <a:solidFill>
                  <a:srgbClr val="0F172A"/>
                </a:solidFill>
                <a:latin typeface="Segoe UI"/>
              </a:rPr>
              <a:t>Broad Architecture Support: </a:t>
            </a:r>
            <a:r>
              <a:rPr sz="1200" b="0">
                <a:solidFill>
                  <a:srgbClr val="475569"/>
                </a:solidFill>
                <a:latin typeface="Segoe UI"/>
              </a:rPr>
              <a:t>Arm (Cortex-M/A/R), RISC-V, x86, Xtensa, and ARC across 600+ evaluated boards.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563EB"/>
                </a:solidFill>
                <a:latin typeface="Segoe UI"/>
              </a:rPr>
              <a:t>■  </a:t>
            </a:r>
            <a:r>
              <a:rPr sz="1200" b="1">
                <a:solidFill>
                  <a:srgbClr val="0F172A"/>
                </a:solidFill>
                <a:latin typeface="Segoe UI"/>
              </a:rPr>
              <a:t>Production-Ready Subsystems: </a:t>
            </a:r>
            <a:r>
              <a:rPr sz="1200" b="0">
                <a:solidFill>
                  <a:srgbClr val="475569"/>
                </a:solidFill>
                <a:latin typeface="Segoe UI"/>
              </a:rPr>
              <a:t>Built-in Bluetooth LE, complete IPv4/IPv6 networking stack, USB host/device, flash filesystems, power management, and standardized sensor APIs.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508760"/>
            <a:ext cx="4005072" cy="470916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26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63840" y="1828800"/>
            <a:ext cx="2560320" cy="32004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WHY IT MATTERS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377440"/>
            <a:ext cx="3364992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Target Portability</a:t>
            </a:r>
          </a:p>
          <a:p>
            <a:pPr>
              <a:lnSpc>
                <a:spcPct val="125000"/>
              </a:lnSpc>
              <a:defRPr sz="1100">
                <a:solidFill>
                  <a:srgbClr val="94A3B8"/>
                </a:solidFill>
                <a:latin typeface="Segoe UI"/>
              </a:defRPr>
            </a:pPr>
            <a:r>
              <a:t>Our STM32 hardware targets build on the exact same Zephyr RTOS foundation:</a:t>
            </a:r>
            <a:br/>
            <a:br/>
            <a:r>
              <a:t>• Nucleo-G474RE (Cortex-M4)</a:t>
            </a:r>
            <a:br/>
            <a:r>
              <a:t>• Nucleo-N657X0-Q (Cortex-M55 + NPU)</a:t>
            </a:r>
            <a:br/>
            <a:r>
              <a:t>• STM32MP257F-DK (Dual A35 + M33)</a:t>
            </a:r>
            <a:br/>
            <a:br/>
            <a:r>
              <a:t>The build system, driver APIs (sensor_driver_api), and application code remain 100% identical; only the device tree overlay and vendor HAL change.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What is West? (Zephyr's Meta-Tool)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43584"/>
            <a:ext cx="822960" cy="3657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Zephyr Workspace &amp; ST VL53L8CX Driver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46520"/>
            <a:ext cx="194767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04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667512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621792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100">
                <a:solidFill>
                  <a:srgbClr val="2563EB"/>
                </a:solidFill>
                <a:latin typeface="Segoe UI"/>
              </a:rPr>
              <a:t>■  </a:t>
            </a:r>
            <a:r>
              <a:rPr sz="1200" b="1">
                <a:solidFill>
                  <a:srgbClr val="0F172A"/>
                </a:solidFill>
                <a:latin typeface="Segoe UI"/>
              </a:rPr>
              <a:t>Multi-Repository Meta-Tool: </a:t>
            </a:r>
            <a:r>
              <a:rPr sz="1200" b="0">
                <a:solidFill>
                  <a:srgbClr val="475569"/>
                </a:solidFill>
                <a:latin typeface="Segoe UI"/>
              </a:rPr>
              <a:t>Zephyr's dedicated management CLI — solving multi-repo dependency orchestration cleaner than git submodules.</a:t>
            </a:r>
          </a:p>
          <a:p>
            <a:pPr>
              <a:spcAft>
                <a:spcPts val="1400"/>
              </a:spcAft>
            </a:pPr>
            <a:r>
              <a:rPr sz="1100">
                <a:solidFill>
                  <a:srgbClr val="2563EB"/>
                </a:solidFill>
                <a:latin typeface="Segoe UI"/>
              </a:rPr>
              <a:t>■  </a:t>
            </a:r>
            <a:r>
              <a:rPr sz="1200" b="1">
                <a:solidFill>
                  <a:srgbClr val="0F172A"/>
                </a:solidFill>
                <a:latin typeface="Segoe UI"/>
              </a:rPr>
              <a:t>Manifest-Driven Workflow: </a:t>
            </a:r>
            <a:r>
              <a:rPr sz="1200" b="0">
                <a:solidFill>
                  <a:srgbClr val="475569"/>
                </a:solidFill>
                <a:latin typeface="Segoe UI"/>
              </a:rPr>
              <a:t>Driven by west.yml: securely specifies all upstream repositories (Zephyr kernel, HALs, libraries) and their exact pinned git SHA revisions.</a:t>
            </a:r>
          </a:p>
          <a:p>
            <a:pPr>
              <a:spcAft>
                <a:spcPts val="1400"/>
              </a:spcAft>
            </a:pPr>
            <a:r>
              <a:rPr sz="1100">
                <a:solidFill>
                  <a:srgbClr val="2563EB"/>
                </a:solidFill>
                <a:latin typeface="Segoe UI"/>
              </a:rPr>
              <a:t>■  </a:t>
            </a:r>
            <a:r>
              <a:rPr sz="1200" b="1">
                <a:solidFill>
                  <a:srgbClr val="0F172A"/>
                </a:solidFill>
                <a:latin typeface="Segoe UI"/>
              </a:rPr>
              <a:t>Manifest Repository Concept: </a:t>
            </a:r>
            <a:r>
              <a:rPr sz="1200" b="0">
                <a:solidFill>
                  <a:srgbClr val="475569"/>
                </a:solidFill>
                <a:latin typeface="Segoe UI"/>
              </a:rPr>
              <a:t>The central entry-point repository that holds west.yml. Cloning this single repo allows West to reconstruct the entire multi-gigabyte ecosystem.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563EB"/>
                </a:solidFill>
                <a:latin typeface="Segoe UI"/>
              </a:rPr>
              <a:t>■  </a:t>
            </a:r>
            <a:r>
              <a:rPr sz="1200" b="1">
                <a:solidFill>
                  <a:srgbClr val="0F172A"/>
                </a:solidFill>
                <a:latin typeface="Segoe UI"/>
              </a:rPr>
              <a:t>Unified Development Commands: </a:t>
            </a:r>
            <a:r>
              <a:rPr sz="1200" b="0">
                <a:solidFill>
                  <a:srgbClr val="475569"/>
                </a:solidFill>
                <a:latin typeface="Segoe UI"/>
              </a:rPr>
              <a:t>Standardized commands across all OS platforms: west init, west update, west build, west flash, and west debug.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508760"/>
            <a:ext cx="4005072" cy="470916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26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63840" y="1828800"/>
            <a:ext cx="3200400" cy="32004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B6D4"/>
                </a:solidFill>
                <a:latin typeface="Segoe UI"/>
              </a:defRPr>
            </a:pPr>
            <a:r>
              <a:t>OUR TOPOLOGY: APP-AS-MANIFEST (T2)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331720"/>
            <a:ext cx="3364992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zephyr_app owns west.yml</a:t>
            </a:r>
          </a:p>
          <a:p>
            <a:pPr>
              <a:lnSpc>
                <a:spcPct val="122000"/>
              </a:lnSpc>
              <a:defRPr sz="1100">
                <a:solidFill>
                  <a:srgbClr val="94A3B8"/>
                </a:solidFill>
                <a:latin typeface="Segoe UI"/>
              </a:defRPr>
            </a:pPr>
            <a:r>
              <a:t>zephyr_app is our manifest repo (the only repository cloned initially).</a:t>
            </a:r>
            <a:br/>
            <a:br/>
            <a:r>
              <a:t>west.yml directs west update to fetch siblings into the root:</a:t>
            </a:r>
            <a:br/>
            <a:r>
              <a:t>• zephyr/ (core RTOS kernel)</a:t>
            </a:r>
            <a:br/>
            <a:r>
              <a:t>• modules/hal/* (ST, CMSIS, etc.)</a:t>
            </a:r>
            <a:br/>
            <a:r>
              <a:t>• modules/lib/* (crypto, POSIX)</a:t>
            </a:r>
            <a:br/>
            <a:r>
              <a:t>• bootloader/mcuboot</a:t>
            </a:r>
            <a:br/>
            <a:br/>
            <a:r>
              <a:t>Keeps proprietary application code separated from upstream open-source code.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ZEPHYR INTERNALS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Inside the zephyr/ Core Repository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43584"/>
            <a:ext cx="822960" cy="3657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Zephyr Workspace &amp; ST VL53L8CX Driver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46520"/>
            <a:ext cx="194767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05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42900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3429000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366F1"/>
                </a:solidFill>
                <a:latin typeface="Segoe UI"/>
              </a:defRPr>
            </a:pPr>
            <a:r>
              <a:t>Core &amp;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48840"/>
            <a:ext cx="30632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kernel/
</a:t>
            </a:r>
            <a:r>
              <a:rPr sz="1050">
                <a:solidFill>
                  <a:srgbClr val="475569"/>
                </a:solidFill>
                <a:latin typeface="Segoe UI"/>
              </a:rPr>
              <a:t>Core OS: preemptive scheduler, thread management, memory slabs, mutexes, semaphores, and IPC queues.</a:t>
            </a: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arch/
</a:t>
            </a:r>
            <a:r>
              <a:rPr sz="1050">
                <a:solidFill>
                  <a:srgbClr val="475569"/>
                </a:solidFill>
                <a:latin typeface="Segoe UI"/>
              </a:rPr>
              <a:t>CPU architecture ports: ARM Cortex-M/A/R, RISC-V, x86, Xtensa, ARC, SPARC exception handling.</a:t>
            </a: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Kconfig
</a:t>
            </a:r>
            <a:r>
              <a:rPr sz="1050">
                <a:solidFill>
                  <a:srgbClr val="475569"/>
                </a:solidFill>
                <a:latin typeface="Segoe UI"/>
              </a:rPr>
              <a:t>Root build-time feature configuration tree (symbols, dependencies, menus).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508760"/>
            <a:ext cx="342900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79976" y="1508760"/>
            <a:ext cx="3429000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Hardware &amp; Drivers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148840"/>
            <a:ext cx="30632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drivers/
</a:t>
            </a:r>
            <a:r>
              <a:rPr sz="1050">
                <a:solidFill>
                  <a:srgbClr val="475569"/>
                </a:solidFill>
                <a:latin typeface="Segoe UI"/>
              </a:rPr>
              <a:t>Hardware peripheral and sensor drivers indexed by class and vendor (e.g. sensor/st/vl53l1x).</a:t>
            </a: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boards/
</a:t>
            </a:r>
            <a:r>
              <a:rPr sz="1050">
                <a:solidFill>
                  <a:srgbClr val="475569"/>
                </a:solidFill>
                <a:latin typeface="Segoe UI"/>
              </a:rPr>
              <a:t>Board definitions, default configurations, hardware devicetree overlays, and pin muxes.</a:t>
            </a: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dts/
</a:t>
            </a:r>
            <a:r>
              <a:rPr sz="1050">
                <a:solidFill>
                  <a:srgbClr val="475569"/>
                </a:solidFill>
                <a:latin typeface="Segoe UI"/>
              </a:rPr>
              <a:t>Devicetree bindings (.yaml) defining hardware properties and base SOC include files (.dtsi).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508760"/>
            <a:ext cx="342900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19872" y="1508760"/>
            <a:ext cx="3429000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6B6D4"/>
                </a:solidFill>
                <a:latin typeface="Segoe UI"/>
              </a:defRPr>
            </a:pPr>
            <a:r>
              <a:t>Subsystems &amp;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148840"/>
            <a:ext cx="30632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subsys/
</a:t>
            </a:r>
            <a:r>
              <a:rPr sz="1050">
                <a:solidFill>
                  <a:srgbClr val="475569"/>
                </a:solidFill>
                <a:latin typeface="Segoe UI"/>
              </a:rPr>
              <a:t>Higher-level stacks: Bluetooth/BLE host &amp; controller, IP networking, USB, filesystems, logging.</a:t>
            </a: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samples/
</a:t>
            </a:r>
            <a:r>
              <a:rPr sz="1050">
                <a:solidFill>
                  <a:srgbClr val="475569"/>
                </a:solidFill>
                <a:latin typeface="Segoe UI"/>
              </a:rPr>
              <a:t>Ready-to-build example applications demonstrating peripheral &amp; protocol usage.</a:t>
            </a: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0F172A"/>
                </a:solidFill>
                <a:latin typeface="Consolas"/>
              </a:rPr>
              <a:t>tests/
</a:t>
            </a:r>
            <a:r>
              <a:rPr sz="1050">
                <a:solidFill>
                  <a:srgbClr val="475569"/>
                </a:solidFill>
                <a:latin typeface="Segoe UI"/>
              </a:rPr>
              <a:t>Comprehensive automated Twister test suite ensuring code quality across architectures.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ZEPHYR INTERNALS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What is a Zephyr Module?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43584"/>
            <a:ext cx="822960" cy="3657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Zephyr Workspace &amp; ST VL53L8CX Driver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46520"/>
            <a:ext cx="194767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06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667512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621792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100">
                <a:solidFill>
                  <a:srgbClr val="2563EB"/>
                </a:solidFill>
                <a:latin typeface="Segoe UI"/>
              </a:rPr>
              <a:t>■  </a:t>
            </a:r>
            <a:r>
              <a:rPr sz="1200" b="1">
                <a:solidFill>
                  <a:srgbClr val="0F172A"/>
                </a:solidFill>
                <a:latin typeface="Segoe UI"/>
              </a:rPr>
              <a:t>External Source Integration: </a:t>
            </a:r>
            <a:r>
              <a:rPr sz="1200" b="0">
                <a:solidFill>
                  <a:srgbClr val="475569"/>
                </a:solidFill>
                <a:latin typeface="Segoe UI"/>
              </a:rPr>
              <a:t>Modules allow external code (vendor HALs, 3rd-party stacks, crypto libraries, sensor SDKs) to seamlessly integrate into Zephyr's CMake &amp; Kconfig build system.</a:t>
            </a:r>
          </a:p>
          <a:p>
            <a:pPr>
              <a:spcAft>
                <a:spcPts val="1400"/>
              </a:spcAft>
            </a:pPr>
            <a:r>
              <a:rPr sz="1100">
                <a:solidFill>
                  <a:srgbClr val="2563EB"/>
                </a:solidFill>
                <a:latin typeface="Segoe UI"/>
              </a:rPr>
              <a:t>■  </a:t>
            </a:r>
            <a:r>
              <a:rPr sz="1200" b="1">
                <a:solidFill>
                  <a:srgbClr val="0F172A"/>
                </a:solidFill>
                <a:latin typeface="Segoe UI"/>
              </a:rPr>
              <a:t>Declared via zephyr/module.yml: </a:t>
            </a:r>
            <a:r>
              <a:rPr sz="1200" b="0">
                <a:solidFill>
                  <a:srgbClr val="475569"/>
                </a:solidFill>
                <a:latin typeface="Segoe UI"/>
              </a:rPr>
              <a:t>Every module contains a manifest file defining its module name, CMake hooks (cmake:, cmake-ext:), and Kconfig hooks (kconfig:, kconfig-ext:).</a:t>
            </a:r>
          </a:p>
          <a:p>
            <a:pPr>
              <a:spcAft>
                <a:spcPts val="1400"/>
              </a:spcAft>
            </a:pPr>
            <a:r>
              <a:rPr sz="1100">
                <a:solidFill>
                  <a:srgbClr val="2563EB"/>
                </a:solidFill>
                <a:latin typeface="Segoe UI"/>
              </a:rPr>
              <a:t>■  </a:t>
            </a:r>
            <a:r>
              <a:rPr sz="1200" b="1">
                <a:solidFill>
                  <a:srgbClr val="0F172A"/>
                </a:solidFill>
                <a:latin typeface="Segoe UI"/>
              </a:rPr>
              <a:t>West-Managed Modules: </a:t>
            </a:r>
            <a:r>
              <a:rPr sz="1200" b="0">
                <a:solidFill>
                  <a:srgbClr val="475569"/>
                </a:solidFill>
                <a:latin typeface="Segoe UI"/>
              </a:rPr>
              <a:t>Listed directly inside west.yml — automatically cloned, updated, and pinned to specific revisions during west update.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563EB"/>
                </a:solidFill>
                <a:latin typeface="Segoe UI"/>
              </a:rPr>
              <a:t>■  </a:t>
            </a:r>
            <a:r>
              <a:rPr sz="1200" b="1">
                <a:solidFill>
                  <a:srgbClr val="0F172A"/>
                </a:solidFill>
                <a:latin typeface="Segoe UI"/>
              </a:rPr>
              <a:t>Out-of-Tree Modules (ZEPHYR_EXTRA_MODULES): </a:t>
            </a:r>
            <a:r>
              <a:rPr sz="1200" b="0">
                <a:solidFill>
                  <a:srgbClr val="475569"/>
                </a:solidFill>
                <a:latin typeface="Segoe UI"/>
              </a:rPr>
              <a:t>Custom, in-development, or proprietary modules plugged into the build without needing an upstream west.yml entry.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508760"/>
            <a:ext cx="4005072" cy="246888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26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645920"/>
            <a:ext cx="34747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TYPICAL zephyr/module.yml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011680"/>
            <a:ext cx="3474720" cy="182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FFFFFF"/>
                </a:solidFill>
                <a:latin typeface="Consolas"/>
              </a:defRPr>
            </a:pPr>
            <a:r>
              <a:t>name: hal_st</a:t>
            </a:r>
            <a:br/>
            <a:r>
              <a:t>build:</a:t>
            </a:r>
            <a:br/>
            <a:r>
              <a:t>  cmake-ext: True</a:t>
            </a:r>
            <a:br/>
            <a:r>
              <a:t>  kconfig-ext: True</a:t>
            </a:r>
            <a:br/>
            <a:r>
              <a:t>  settings:</a:t>
            </a:r>
            <a:br/>
            <a:r>
              <a:t>    dts_root: 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4160520"/>
            <a:ext cx="4005072" cy="20574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297680"/>
            <a:ext cx="354787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MODULE CATEGORIES IN OUR TREE</a:t>
            </a:r>
          </a:p>
          <a:p>
            <a:pPr>
              <a:lnSpc>
                <a:spcPct val="125000"/>
              </a:lnSpc>
              <a:defRPr sz="1050">
                <a:solidFill>
                  <a:srgbClr val="0F172A"/>
                </a:solidFill>
                <a:latin typeface="Segoe UI"/>
              </a:defRPr>
            </a:pPr>
            <a:r>
              <a:t>• hal/ (st, stm32, cmsis, nordic, nxp, ti)</a:t>
            </a:r>
            <a:br/>
            <a:r>
              <a:t>• lib/ (openthread, zcbor, littlefs, open-amp)</a:t>
            </a:r>
            <a:br/>
            <a:r>
              <a:t>• crypto/ (mbedtls, tf-psa-crypto)</a:t>
            </a:r>
            <a:br/>
            <a:r>
              <a:t>• sensor/ (st_vl53l8cx — our custom driver)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OUR WORKSPACE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Top-Level Workspace Layout: zephyr_dev/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43584"/>
            <a:ext cx="822960" cy="3657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Zephyr Workspace &amp; ST VL53L8CX Driver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46520"/>
            <a:ext cx="194767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07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1091153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109728" cy="10515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18488"/>
            <a:ext cx="10332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0F172A"/>
                </a:solidFill>
                <a:latin typeface="Consolas"/>
              </a:rPr>
              <a:t>zephyr_app/    </a:t>
            </a:r>
            <a:r>
              <a:rPr sz="1000" b="1">
                <a:solidFill>
                  <a:srgbClr val="6366F1"/>
                </a:solidFill>
                <a:latin typeface="Segoe UI"/>
              </a:rPr>
              <a:t>[MANIFEST REPOSITORY (Topdir)]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Owns west.yml. The only repository cloned directly by the engineer. Contains all target application code and board overlays.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79191"/>
            <a:ext cx="1091153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679191"/>
            <a:ext cx="109728" cy="10515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788920"/>
            <a:ext cx="10332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0F172A"/>
                </a:solidFill>
                <a:latin typeface="Consolas"/>
              </a:rPr>
              <a:t>zephyr/    </a:t>
            </a:r>
            <a:r>
              <a:rPr sz="1000" b="1">
                <a:solidFill>
                  <a:srgbClr val="2563EB"/>
                </a:solidFill>
                <a:latin typeface="Segoe UI"/>
              </a:rPr>
              <a:t>[UPSTREAM CORE RTOS KERNEL]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Fetched by West from zephyrproject-rtos/zephyr. Contains scheduler, architecture ports, core subsystem APIs, and built-in drivers.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49624"/>
            <a:ext cx="1091153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3849624"/>
            <a:ext cx="109728" cy="10515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959352"/>
            <a:ext cx="10332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0F172A"/>
                </a:solidFill>
                <a:latin typeface="Consolas"/>
              </a:rPr>
              <a:t>modules/    </a:t>
            </a:r>
            <a:r>
              <a:rPr sz="1000" b="1">
                <a:solidFill>
                  <a:srgbClr val="06B6D4"/>
                </a:solidFill>
                <a:latin typeface="Segoe UI"/>
              </a:rPr>
              <a:t>[VENDOR HALS &amp; THIRD-PARTY LIBS]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Subdivided into hal/ (st, cmsis), lib/ (openthread), crypto/ (mbedtls), fs/. Each folder is an independent upstream git repository.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020056"/>
            <a:ext cx="1091153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5020056"/>
            <a:ext cx="109728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129784"/>
            <a:ext cx="10332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0F172A"/>
                </a:solidFill>
                <a:latin typeface="Consolas"/>
              </a:rPr>
              <a:t>modules/sensor/st_vl53l8cx    </a:t>
            </a:r>
            <a:r>
              <a:rPr sz="1000" b="1">
                <a:solidFill>
                  <a:srgbClr val="F59E0B"/>
                </a:solidFill>
                <a:latin typeface="Segoe UI"/>
              </a:rPr>
              <a:t>[OUR CUSTOM SENSOR DRIVER MODULE]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Our driver under development for ST's 8x8 multizone dToF sensor. Currently an out-of-tree module folder.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OUR WORKSPACE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modules/ is a Folder, Not a Repository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43584"/>
            <a:ext cx="822960" cy="3657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Zephyr Workspace &amp; ST VL53L8CX Driver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46520"/>
            <a:ext cx="194767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08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603504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557784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100">
                <a:solidFill>
                  <a:srgbClr val="2563EB"/>
                </a:solidFill>
                <a:latin typeface="Segoe UI"/>
              </a:rPr>
              <a:t>■  </a:t>
            </a:r>
            <a:r>
              <a:rPr sz="1200" b="1">
                <a:solidFill>
                  <a:srgbClr val="0F172A"/>
                </a:solidFill>
                <a:latin typeface="Segoe UI"/>
              </a:rPr>
              <a:t>Collection of Independent Repos: </a:t>
            </a:r>
            <a:r>
              <a:rPr sz="1200" b="0">
                <a:solidFill>
                  <a:srgbClr val="475569"/>
                </a:solidFill>
                <a:latin typeface="Segoe UI"/>
              </a:rPr>
              <a:t>modules/ itself is just a local filesystem directory. Every subdirectory inside it is an independent git repository cloned from GitHub.</a:t>
            </a:r>
          </a:p>
          <a:p>
            <a:pPr>
              <a:spcAft>
                <a:spcPts val="1400"/>
              </a:spcAft>
            </a:pPr>
            <a:r>
              <a:rPr sz="1100">
                <a:solidFill>
                  <a:srgbClr val="2563EB"/>
                </a:solidFill>
                <a:latin typeface="Segoe UI"/>
              </a:rPr>
              <a:t>■  </a:t>
            </a:r>
            <a:r>
              <a:rPr sz="1200" b="1">
                <a:solidFill>
                  <a:srgbClr val="0F172A"/>
                </a:solidFill>
                <a:latin typeface="Segoe UI"/>
              </a:rPr>
              <a:t>West Management Mechanics: </a:t>
            </a:r>
            <a:r>
              <a:rPr sz="1200" b="0">
                <a:solidFill>
                  <a:srgbClr val="475569"/>
                </a:solidFill>
                <a:latin typeface="Segoe UI"/>
              </a:rPr>
              <a:t>west update inspects west.yml and automatically clones ~50 individual repositories at exact pinned revisions into modules/hal/, modules/lib/, etc.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59E0B"/>
                </a:solidFill>
                <a:latin typeface="Segoe UI"/>
              </a:rPr>
              <a:t>■  </a:t>
            </a:r>
            <a:r>
              <a:rPr sz="1200" b="1">
                <a:solidFill>
                  <a:srgbClr val="0F172A"/>
                </a:solidFill>
                <a:latin typeface="Segoe UI"/>
              </a:rPr>
              <a:t>The Hand-Placed Exception: </a:t>
            </a:r>
            <a:r>
              <a:rPr sz="1200" b="0">
                <a:solidFill>
                  <a:srgbClr val="475569"/>
                </a:solidFill>
                <a:latin typeface="Segoe UI"/>
              </a:rPr>
              <a:t>modules/sensor/st_vl53l8cx is NOT managed by West. It contains no .git folder and was placed manually in the workspace tree.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1508760"/>
            <a:ext cx="4645152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1691640"/>
            <a:ext cx="4114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WORKSPACE AUDIT 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2148840"/>
            <a:ext cx="4096512" cy="53035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2240280"/>
            <a:ext cx="23774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modules/hal/st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2240280"/>
            <a:ext cx="1371600" cy="34747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✓ Git Repo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2788920"/>
            <a:ext cx="4096512" cy="53035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2880360"/>
            <a:ext cx="23774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modules/hal/stm32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2880360"/>
            <a:ext cx="1371600" cy="34747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✓ Git Repo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3429000"/>
            <a:ext cx="4096512" cy="53035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3520440"/>
            <a:ext cx="23774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modules/hal/cmsis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3520440"/>
            <a:ext cx="1371600" cy="34747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✓ Git Repo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78040" y="4069079"/>
            <a:ext cx="4096512" cy="53035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4160519"/>
            <a:ext cx="23774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modules/lib/openthread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80" y="4160519"/>
            <a:ext cx="1371600" cy="34747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✓ Git Repo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78040" y="4709160"/>
            <a:ext cx="4096512" cy="53035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4800600"/>
            <a:ext cx="23774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modules/crypto/mbedtls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4800600"/>
            <a:ext cx="1371600" cy="34747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✓ Git Repo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78040" y="5349240"/>
            <a:ext cx="4096512" cy="53035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0" y="5440679"/>
            <a:ext cx="23774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Consolas"/>
              </a:defRPr>
            </a:pPr>
            <a:r>
              <a:t>modules/sensor/st_vl53l8cx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5440679"/>
            <a:ext cx="1371600" cy="347472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EF4444"/>
                </a:solidFill>
                <a:latin typeface="Segoe UI"/>
              </a:defRPr>
            </a:pPr>
            <a:r>
              <a:t>✗ No .git folder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645920"/>
            <a:ext cx="10545775" cy="393192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26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10545775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80160" y="2194560"/>
            <a:ext cx="1463040" cy="347472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PART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9748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VL53L8CX Driver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1148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Building a clean, production-grade Zephyr sensor driver for STMicroelectronics' 8x8 multizone direct Time-of-Flight (dToF) ranging sensor.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VL53L8CX 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The Sensor &amp; The Ecosystem Gap in Zephyr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43584"/>
            <a:ext cx="822960" cy="3657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Zephyr Workspace &amp; ST VL53L8CX Driver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46520"/>
            <a:ext cx="194767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10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667512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621792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100">
                <a:solidFill>
                  <a:srgbClr val="2563EB"/>
                </a:solidFill>
                <a:latin typeface="Segoe UI"/>
              </a:rPr>
              <a:t>■  </a:t>
            </a:r>
            <a:r>
              <a:rPr sz="1200" b="1">
                <a:solidFill>
                  <a:srgbClr val="0F172A"/>
                </a:solidFill>
                <a:latin typeface="Segoe UI"/>
              </a:rPr>
              <a:t>ST VL53L8CX 8x8 Multizone dToF: </a:t>
            </a:r>
            <a:r>
              <a:rPr sz="1200" b="0">
                <a:solidFill>
                  <a:srgbClr val="475569"/>
                </a:solidFill>
                <a:latin typeface="Segoe UI"/>
              </a:rPr>
              <a:t>Advanced optical time-of-flight sensor delivering up to 64 independent ranging zones across a wide 65° diagonal FOV with up to 4-meter range.</a:t>
            </a:r>
          </a:p>
          <a:p>
            <a:pPr>
              <a:spcAft>
                <a:spcPts val="1400"/>
              </a:spcAft>
            </a:pPr>
            <a:r>
              <a:rPr sz="1100">
                <a:solidFill>
                  <a:srgbClr val="2563EB"/>
                </a:solidFill>
                <a:latin typeface="Segoe UI"/>
              </a:rPr>
              <a:t>■  </a:t>
            </a:r>
            <a:r>
              <a:rPr sz="1200" b="1">
                <a:solidFill>
                  <a:srgbClr val="0F172A"/>
                </a:solidFill>
                <a:latin typeface="Segoe UI"/>
              </a:rPr>
              <a:t>Existing Zephyr Single-Zone Drivers: </a:t>
            </a:r>
            <a:r>
              <a:rPr sz="1200" b="0">
                <a:solidFill>
                  <a:srgbClr val="475569"/>
                </a:solidFill>
                <a:latin typeface="Segoe UI"/>
              </a:rPr>
              <a:t>Zephyr currently contains drivers for older single-zone ST ToF sensors:
• VL53L0X (drivers/sensor/st/vl53l0x — single zone, short range)
• VL53L1X (drivers/sensor/st/vl53l1x — single zone, long range)</a:t>
            </a:r>
          </a:p>
          <a:p>
            <a:pPr>
              <a:spcAft>
                <a:spcPts val="1400"/>
              </a:spcAft>
            </a:pPr>
            <a:r>
              <a:rPr sz="1100">
                <a:solidFill>
                  <a:srgbClr val="EF4444"/>
                </a:solidFill>
                <a:latin typeface="Segoe UI"/>
              </a:rPr>
              <a:t>■  </a:t>
            </a:r>
            <a:r>
              <a:rPr sz="1200" b="1">
                <a:solidFill>
                  <a:srgbClr val="0F172A"/>
                </a:solidFill>
                <a:latin typeface="Segoe UI"/>
              </a:rPr>
              <a:t>Zero Multizone Support in Zephyr: </a:t>
            </a:r>
            <a:r>
              <a:rPr sz="1200" b="0">
                <a:solidFill>
                  <a:srgbClr val="475569"/>
                </a:solidFill>
                <a:latin typeface="Segoe UI"/>
              </a:rPr>
              <a:t>Zephyr has NO existing driver anywhere in git history for the multizone dToF family (VL53L5CX, VL53L7CX, VL53L8CX, VL53L9CX).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563EB"/>
                </a:solidFill>
                <a:latin typeface="Segoe UI"/>
              </a:rPr>
              <a:t>■  </a:t>
            </a:r>
            <a:r>
              <a:rPr sz="1200" b="1">
                <a:solidFill>
                  <a:srgbClr val="0F172A"/>
                </a:solidFill>
                <a:latin typeface="Segoe UI"/>
              </a:rPr>
              <a:t>No Open Upstream Pull Requests: </a:t>
            </a:r>
            <a:r>
              <a:rPr sz="1200" b="0">
                <a:solidFill>
                  <a:srgbClr val="475569"/>
                </a:solidFill>
                <a:latin typeface="Segoe UI"/>
              </a:rPr>
              <a:t>Confirmed: no community or vendor PR currently exists for this family in Zephyr.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508760"/>
            <a:ext cx="4005072" cy="470916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26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63840" y="1828800"/>
            <a:ext cx="2560320" cy="32004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REAL GAP · REAL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377440"/>
            <a:ext cx="3364992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High Upstream Potential</a:t>
            </a:r>
          </a:p>
          <a:p>
            <a:pPr>
              <a:lnSpc>
                <a:spcPct val="125000"/>
              </a:lnSpc>
              <a:defRPr sz="1100">
                <a:solidFill>
                  <a:srgbClr val="94A3B8"/>
                </a:solidFill>
                <a:latin typeface="Segoe UI"/>
              </a:defRPr>
            </a:pPr>
            <a:r>
              <a:t>Building this driver is not duplicating existing community efforts — the 8x8 multizone dToF family genuinely lacks Zephyr support today.</a:t>
            </a:r>
            <a:br/>
            <a:br/>
            <a:r>
              <a:t>A clean, robust, well-architected driver here delivers immediate project capability and holds high potential for upstream acceptance by the Zephyr sensor subsystem maintainers.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VL53L8CX 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Architecture: Glue Driver vs. Vendor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43584"/>
            <a:ext cx="822960" cy="3657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Zephyr Workspace &amp; ST VL53L8CX Driver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46520"/>
            <a:ext cx="194767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11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7132320" cy="8229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91440" cy="8229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81912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Zephyr Application Layer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Calls standard sensor_sample_fetch(dev) and sensor_channel_get(dev, ...)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23160"/>
            <a:ext cx="7132320" cy="822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423160"/>
            <a:ext cx="91440" cy="8229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496312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Zephyr Sensor Subsystem  ·  vl53l8cx.c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Implements sensor_driver_api, Devicetree binding resolution, and Kconfig integration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37560"/>
            <a:ext cx="7132320" cy="8229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3337560"/>
            <a:ext cx="91440" cy="8229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10712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Hardware Glue Layer  ·  platform.c  [OUR CODE]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Translates ST's abstract I/O calls to Zephyr i2c_write_read_dt(), GPIO controls &amp; k_msleep()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51960"/>
            <a:ext cx="7132320" cy="822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4251960"/>
            <a:ext cx="91440" cy="8229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325112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Vendor ULD Library  ·  uld/vl53l8cx_api.c  [PRISTINE ST CODE]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ST's raw ranging algorithms, firmware loader, and register maps — 100% agnostic of Zephyr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166360"/>
            <a:ext cx="7132320" cy="82296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26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5166360"/>
            <a:ext cx="91440" cy="822960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239512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Physical Hardware Layer  ·  I2C / SPI &amp; Interrupts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ST VL53L8CX sensor, I2C/SPI bus lines, LPn power pins, and INT GPIO interrupts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1508760"/>
            <a:ext cx="3504895" cy="448056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26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0" y="1828800"/>
            <a:ext cx="2011680" cy="32004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CORE PRINCIPLE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377440"/>
            <a:ext cx="2956255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Strict Separation of Concerns</a:t>
            </a:r>
          </a:p>
          <a:p>
            <a:pPr>
              <a:lnSpc>
                <a:spcPct val="125000"/>
              </a:lnSpc>
              <a:defRPr sz="1050">
                <a:solidFill>
                  <a:srgbClr val="94A3B8"/>
                </a:solidFill>
                <a:latin typeface="Segoe UI"/>
              </a:defRPr>
            </a:pPr>
            <a:r>
              <a:t>1. Glue Layer (vl53l8cx.c &amp; platform.c)</a:t>
            </a:r>
            <a:br/>
            <a:r>
              <a:t>Ours to write, optimize, and maintain freely under Apache-2.0.</a:t>
            </a:r>
            <a:br/>
            <a:br/>
            <a:r>
              <a:t>2. Vendor ULD (uld/vl53l8cx_api.c)</a:t>
            </a:r>
            <a:br/>
            <a:r>
              <a:t>Must remain 100% pristine ST licensed code (BSD-3-Clause). Zero Zephyr-specific #includes or printk() statements allowed inside vendor source.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VL53L8CX 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The Existing Upstream Precedent: VL53L1X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43584"/>
            <a:ext cx="822960" cy="3657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Zephyr Workspace &amp; ST VL53L8CX Driver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46520"/>
            <a:ext cx="194767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12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Zephyr never mixes vendor SDK code directly into its kernel tree — it cleanly splits drivers across two repositories: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3035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03520" cy="4572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onsolas"/>
              </a:defRPr>
            </a:pPr>
            <a:r>
              <a:t>zephyr/drivers/sensor/st/vl53l1x/  (Zephyr Tree)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2316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475569"/>
                </a:solidFill>
                <a:latin typeface="Segoe UI"/>
              </a:defRPr>
            </a:pPr>
            <a:r>
              <a:t>• vl53l1.c  — Zephyr sensor API glue implementation</a:t>
            </a:r>
            <a:br/>
            <a:r>
              <a:t>• vl53l1_platform.c  — I2C &amp; GPIO bus wrappers</a:t>
            </a:r>
            <a:br/>
            <a:r>
              <a:t>• Kconfig &amp; CMakeLists.txt  — driver configuration</a:t>
            </a:r>
            <a:br/>
            <a:br/>
            <a:r>
              <a:t>License: Apache-2.0 (standard Zephyr permissive)</a:t>
            </a:r>
            <a:br/>
            <a:r>
              <a:t>Owned &amp; Reviewed by: Zephyr sensor subsystem maintainers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095" y="1828800"/>
            <a:ext cx="53035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8095" y="1828800"/>
            <a:ext cx="530352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0975" y="192024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onsolas"/>
              </a:defRPr>
            </a:pPr>
            <a:r>
              <a:t>modules/hal/st/  (hal_st Module Repo)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6695" y="242316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475569"/>
                </a:solidFill>
                <a:latin typeface="Segoe UI"/>
              </a:defRPr>
            </a:pPr>
            <a:r>
              <a:t>• sensor/vl53l1x/api/core/src/vl53l1_api.c</a:t>
            </a:r>
            <a:br/>
            <a:r>
              <a:t>• vl53l1_api_calibration.c, vl53l1_api_core.c, ...</a:t>
            </a:r>
            <a:br/>
            <a:r>
              <a:t>• STMicroelectronics raw sensor algorithms &amp; register maps</a:t>
            </a:r>
            <a:br/>
            <a:br/>
            <a:r>
              <a:t>License: BSD-3-Clause / GPL-2.0+ (ST official license)</a:t>
            </a:r>
            <a:br/>
            <a:r>
              <a:t>Owned &amp; Reviewed by: STMicroelectronics &amp; hal_st maintainers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440680"/>
            <a:ext cx="10911535" cy="77724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26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5440680"/>
            <a:ext cx="91440" cy="7772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53212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Target Blueprint for VL53L8CX: Our vl53l8cx.c and platform.c will serve as the upstream Zephyr sensor glue, while our uld/ folder will be submitted upstream to modules/hal/st.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VL53L8CX 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Driver Audit: Confirmed Findings vs. Current Blockers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43584"/>
            <a:ext cx="822960" cy="3657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Zephyr Workspace &amp; ST VL53L8CX Driver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46520"/>
            <a:ext cx="194767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13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530352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303520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CONFIRMED &amp; READY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148840"/>
            <a:ext cx="36576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103120"/>
            <a:ext cx="4434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Genuine ST ULD Source Code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Vendor uld/*.c source diffed against official stm32duino/VL53L8CX repository — verified genuine and algorithmically identical.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474720"/>
            <a:ext cx="36576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29000"/>
            <a:ext cx="4434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License Compatibility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ST's ULD driver family is BSD-3-Clause licensed — 100% compatible with Zephyr Project licensing requirements.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800600"/>
            <a:ext cx="36576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754880"/>
            <a:ext cx="4434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High-Value Ecosystem Gap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Fills a true void: no VL53L5/7/8/9CX multizone driver exists anywhere in Zephyr today.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8095" y="1508760"/>
            <a:ext cx="530352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48095" y="1508760"/>
            <a:ext cx="5303520" cy="5029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6695" y="160020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F4444"/>
                </a:solidFill>
                <a:latin typeface="Segoe UI"/>
              </a:defRPr>
            </a:pPr>
            <a:r>
              <a:t>CURRENT BLOCKERS &amp; DEFECTS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76695" y="2103120"/>
            <a:ext cx="320040" cy="3200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057400"/>
            <a:ext cx="44622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Empty Build Files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module.yml, Kconfig, and CMakeLists.txt are empty stubs — the module does not currently build in Zephyr.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76695" y="3127248"/>
            <a:ext cx="320040" cy="3200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081528"/>
            <a:ext cx="44622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Polluted Vendor Source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uld/vl53l8cx_api.c contains debug printk() calls and a Zephyr #include hand-spliced into vendor code.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76695" y="4151376"/>
            <a:ext cx="320040" cy="3200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105656"/>
            <a:ext cx="44622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Missing License File &amp; Attribution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No LICENSE file shipped alongside vendor code; header uses placeholder 'Zephyr Community'.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76695" y="5175504"/>
            <a:ext cx="320040" cy="3200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5129784"/>
            <a:ext cx="44622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No Version Control History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Not under git control — no repository, no commit history, and no attribution trail.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VL53L8CX 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Execution Roadmap: Next Steps to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43584"/>
            <a:ext cx="822960" cy="3657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Zephyr Workspace &amp; ST VL53L8CX Driver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46520"/>
            <a:ext cx="194767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14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1091153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655063"/>
            <a:ext cx="54864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00200"/>
            <a:ext cx="98755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Clean the Vendor Source File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Restore uld/vl53l8cx_api.c to a 100% pristine ST release copy. Relocate all debug diagnostics into platform.c and vl53l8cx.c using standard Zephyr LOG_DBG().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41448"/>
            <a:ext cx="1091153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2587752"/>
            <a:ext cx="548640" cy="5486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532888"/>
            <a:ext cx="98755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Make the Driver Module Buildable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Populate zephyr/module.yml, Kconfig, CMakeLists.txt (root + driver levels), and complete the formal devicetree binding YAML (st,vl53l8cx.yaml).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74136"/>
            <a:ext cx="1091153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3520440"/>
            <a:ext cx="548640" cy="5486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65576"/>
            <a:ext cx="98755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Fix Licensing &amp; Copyright Hygiene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Attach ST's official BSD-3-Clause LICENSE file to uld/ and replace placeholder copyright headers with accurate author &amp; license attributions.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06824"/>
            <a:ext cx="1091153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4453128"/>
            <a:ext cx="54864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398264"/>
            <a:ext cx="98755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Validate on Physical Target Hardware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Build, flash, and execute across our hardware test matrix (Nucleo-G474RE, Nucleo-N657X0-Q, STM32MP257F) with automated I2C ranging checks.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239512"/>
            <a:ext cx="1091153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5385816"/>
            <a:ext cx="54864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330952"/>
            <a:ext cx="98755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Decide on Long-Term Upstream Architecture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Maintain as an unified out-of-tree module for rapid internal iteration; split into Zephyr tree glue + hal_st contribution when submitting upstream.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645920"/>
            <a:ext cx="10545775" cy="393192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26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10545775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377440"/>
            <a:ext cx="9601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56616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6B6D4"/>
                </a:solidFill>
                <a:latin typeface="Segoe UI"/>
              </a:defRPr>
            </a:pPr>
            <a:r>
              <a:t>Open for Questions, Technical Discussion &amp; Hardware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4389120"/>
            <a:ext cx="6400800" cy="45720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26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94A3B8"/>
                </a:solidFill>
                <a:latin typeface="Consolas"/>
              </a:defRPr>
            </a:pPr>
            <a:r>
              <a:t>Workspace Location: zephyr_dev/modules/sensor/st_vl53l8cx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